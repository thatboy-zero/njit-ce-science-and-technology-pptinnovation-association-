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1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92878"/>
            <a:ext cx="1676384" cy="365125"/>
          </a:xfrm>
        </p:spPr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6492876"/>
            <a:ext cx="264320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61645B9F-AF82-4684-8735-F7C6942E4D6F}" type="datetimeFigureOut">
              <a:rPr lang="zh-CN" altLang="en-US" smtClean="0"/>
              <a:pPr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5116C5D5-31F3-4A64-B6DE-60DE1C03AB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audio" Target="file:///C:\Users\admin\Desktop\&#38470;&#27781;&#26539;%20-%20&#22823;&#27743;&#20043;&#38452;.mp3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6%96%B0%E7%9F%B3%E5%99%A8%E6%97%B6%E4%BB%A3" TargetMode="External"/><Relationship Id="rId3" Type="http://schemas.openxmlformats.org/officeDocument/2006/relationships/hyperlink" Target="https://baike.baidu.com/item/%E9%99%B6%E5%9F%8E" TargetMode="External"/><Relationship Id="rId7" Type="http://schemas.openxmlformats.org/officeDocument/2006/relationships/hyperlink" Target="https://baike.baidu.com/item/%E7%9F%B3%E9%94%9B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8%89%AF%E6%B8%9A%E6%96%87%E5%8C%96" TargetMode="External"/><Relationship Id="rId5" Type="http://schemas.openxmlformats.org/officeDocument/2006/relationships/hyperlink" Target="https://baike.baidu.com/item/%E5%8C%97%E6%8A%A4%E5%9F%8E%E6%B2%B3" TargetMode="External"/><Relationship Id="rId4" Type="http://schemas.openxmlformats.org/officeDocument/2006/relationships/hyperlink" Target="https://baike.baidu.com/item/%E9%95%BF%E5%B1%B1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86%AF%E5%8E%9A%E6%95%A6" TargetMode="External"/><Relationship Id="rId3" Type="http://schemas.openxmlformats.org/officeDocument/2006/relationships/hyperlink" Target="https://baike.baidu.com/item/%E6%B1%9F%E9%98%B4" TargetMode="External"/><Relationship Id="rId7" Type="http://schemas.openxmlformats.org/officeDocument/2006/relationships/hyperlink" Target="https://baike.baidu.com/item/%E9%99%88%E6%98%8E%E9%81%87" TargetMode="External"/><Relationship Id="rId12" Type="http://schemas.openxmlformats.org/officeDocument/2006/relationships/hyperlink" Target="https://baike.baidu.com/item/%E5%AD%94%E6%9C%89%E5%BE%B7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baike.baidu.com/item/%E9%98%8E%E5%BA%94%E5%85%83" TargetMode="External"/><Relationship Id="rId11" Type="http://schemas.openxmlformats.org/officeDocument/2006/relationships/hyperlink" Target="https://baike.baidu.com/item/%E5%B0%BC%E5%A0%AA" TargetMode="External"/><Relationship Id="rId5" Type="http://schemas.openxmlformats.org/officeDocument/2006/relationships/hyperlink" Target="https://baike.baidu.com/item/%E5%85%B8%E5%8F%B2" TargetMode="External"/><Relationship Id="rId10" Type="http://schemas.openxmlformats.org/officeDocument/2006/relationships/hyperlink" Target="https://baike.baidu.com/item/%E5%8D%9A%E6%B4%9B" TargetMode="External"/><Relationship Id="rId4" Type="http://schemas.openxmlformats.org/officeDocument/2006/relationships/hyperlink" Target="https://baike.baidu.com/item/%E5%89%83%E5%8F%91%E4%BB%A4" TargetMode="External"/><Relationship Id="rId9" Type="http://schemas.openxmlformats.org/officeDocument/2006/relationships/hyperlink" Target="https://baike.baidu.com/item/%E4%BA%B2%E7%8E%8B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9%9D%92%E9%98%B3%E9%95%87/14070" TargetMode="External"/><Relationship Id="rId13" Type="http://schemas.openxmlformats.org/officeDocument/2006/relationships/hyperlink" Target="https://baike.baidu.com/item/%E9%95%BF%E6%B3%BE%E9%95%87" TargetMode="External"/><Relationship Id="rId18" Type="http://schemas.openxmlformats.org/officeDocument/2006/relationships/image" Target="../media/image10.jpeg"/><Relationship Id="rId3" Type="http://schemas.openxmlformats.org/officeDocument/2006/relationships/hyperlink" Target="https://baike.baidu.com/item/%E6%BE%84%E6%B1%9F%E8%A1%97%E9%81%93/36383" TargetMode="External"/><Relationship Id="rId7" Type="http://schemas.openxmlformats.org/officeDocument/2006/relationships/hyperlink" Target="https://baike.baidu.com/item/%E6%9C%88%E5%9F%8E%E9%95%87" TargetMode="External"/><Relationship Id="rId12" Type="http://schemas.openxmlformats.org/officeDocument/2006/relationships/hyperlink" Target="https://baike.baidu.com/item/%E6%96%B0%E6%A1%A5%E9%95%87" TargetMode="External"/><Relationship Id="rId17" Type="http://schemas.openxmlformats.org/officeDocument/2006/relationships/hyperlink" Target="https://baike.baidu.com/item/%E5%9F%8E%E4%B8%9C%E8%A1%97%E9%81%93/10447080" TargetMode="External"/><Relationship Id="rId2" Type="http://schemas.openxmlformats.org/officeDocument/2006/relationships/image" Target="../media/image9.jpeg"/><Relationship Id="rId16" Type="http://schemas.openxmlformats.org/officeDocument/2006/relationships/hyperlink" Target="https://baike.baidu.com/item/%E4%B8%B4%E6%B8%AF%E8%A1%97%E9%81%93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baike.baidu.com/item/%E7%92%9C%E5%9C%9F%E9%95%87" TargetMode="External"/><Relationship Id="rId11" Type="http://schemas.openxmlformats.org/officeDocument/2006/relationships/hyperlink" Target="https://baike.baidu.com/item/%E5%91%A8%E5%BA%84%E9%95%87" TargetMode="External"/><Relationship Id="rId5" Type="http://schemas.openxmlformats.org/officeDocument/2006/relationships/hyperlink" Target="https://baike.baidu.com/item/%E4%BA%91%E4%BA%AD%E8%A1%97%E9%81%93" TargetMode="External"/><Relationship Id="rId15" Type="http://schemas.openxmlformats.org/officeDocument/2006/relationships/hyperlink" Target="https://baike.baidu.com/item/%E7%A5%9D%E5%A1%98%E9%95%87" TargetMode="External"/><Relationship Id="rId10" Type="http://schemas.openxmlformats.org/officeDocument/2006/relationships/hyperlink" Target="https://baike.baidu.com/item/%E5%8D%8E%E5%A3%AB%E9%95%87" TargetMode="External"/><Relationship Id="rId19" Type="http://schemas.openxmlformats.org/officeDocument/2006/relationships/image" Target="../media/image11.jpeg"/><Relationship Id="rId4" Type="http://schemas.openxmlformats.org/officeDocument/2006/relationships/hyperlink" Target="https://baike.baidu.com/item/%E5%8D%97%E9%97%B8%E8%A1%97%E9%81%93" TargetMode="External"/><Relationship Id="rId9" Type="http://schemas.openxmlformats.org/officeDocument/2006/relationships/hyperlink" Target="https://baike.baidu.com/item/%E5%BE%90%E9%9C%9E%E5%AE%A2%E9%95%87" TargetMode="External"/><Relationship Id="rId14" Type="http://schemas.openxmlformats.org/officeDocument/2006/relationships/hyperlink" Target="https://baike.baidu.com/item/%E9%A1%BE%E5%B1%B1%E9%95%87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A4%AA%E4%BB%93" TargetMode="External"/><Relationship Id="rId13" Type="http://schemas.openxmlformats.org/officeDocument/2006/relationships/hyperlink" Target="https://baike.baidu.com/item/%E8%8B%8F%E9%94%A1%E5%B8%B8" TargetMode="External"/><Relationship Id="rId3" Type="http://schemas.openxmlformats.org/officeDocument/2006/relationships/hyperlink" Target="https://baike.baidu.com/item/%E9%9D%96%E6%B1%9F%E5%B8%82" TargetMode="External"/><Relationship Id="rId7" Type="http://schemas.openxmlformats.org/officeDocument/2006/relationships/hyperlink" Target="https://baike.baidu.com/item/%E5%B8%B8%E7%86%9F" TargetMode="External"/><Relationship Id="rId12" Type="http://schemas.openxmlformats.org/officeDocument/2006/relationships/hyperlink" Target="https://baike.baidu.com/item/%E5%8D%97%E4%BA%AC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baike.baidu.com/item/%E5%BC%A0%E5%AE%B6%E6%B8%AF" TargetMode="External"/><Relationship Id="rId11" Type="http://schemas.openxmlformats.org/officeDocument/2006/relationships/hyperlink" Target="https://baike.baidu.com/item/%E9%95%87%E6%B1%9F" TargetMode="External"/><Relationship Id="rId5" Type="http://schemas.openxmlformats.org/officeDocument/2006/relationships/hyperlink" Target="https://baike.baidu.com/item/%E6%B2%BF%E6%B1%9F%E9%AB%98%E9%80%9F" TargetMode="External"/><Relationship Id="rId10" Type="http://schemas.openxmlformats.org/officeDocument/2006/relationships/hyperlink" Target="https://baike.baidu.com/item/%E5%B8%B8%E5%B7%9E" TargetMode="External"/><Relationship Id="rId4" Type="http://schemas.openxmlformats.org/officeDocument/2006/relationships/hyperlink" Target="https://baike.baidu.com/item/%E6%97%A0%E9%94%A1" TargetMode="External"/><Relationship Id="rId9" Type="http://schemas.openxmlformats.org/officeDocument/2006/relationships/hyperlink" Target="https://baike.baidu.com/item/%E4%B8%8A%E6%B5%B7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6%A6%86%E6%A0%91" TargetMode="External"/><Relationship Id="rId3" Type="http://schemas.openxmlformats.org/officeDocument/2006/relationships/hyperlink" Target="https://baike.baidu.com/item/%E5%86%B2%E7%A7%AF" TargetMode="External"/><Relationship Id="rId7" Type="http://schemas.openxmlformats.org/officeDocument/2006/relationships/hyperlink" Target="https://baike.baidu.com/item/%E9%BA%BB%E6%A0%8E" TargetMode="External"/><Relationship Id="rId12" Type="http://schemas.openxmlformats.org/officeDocument/2006/relationships/hyperlink" Target="https://baike.baidu.com/item/%E8%B1%B9%E7%8C%AB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aike.baidu.com/item/%E7%B4%AB%E6%A5%A0" TargetMode="External"/><Relationship Id="rId11" Type="http://schemas.openxmlformats.org/officeDocument/2006/relationships/hyperlink" Target="https://baike.baidu.com/item/%E6%B2%B3%E8%B1%9A" TargetMode="External"/><Relationship Id="rId5" Type="http://schemas.openxmlformats.org/officeDocument/2006/relationships/hyperlink" Target="https://baike.baidu.com/item/%E6%AA%AB%E6%A0%91" TargetMode="External"/><Relationship Id="rId10" Type="http://schemas.openxmlformats.org/officeDocument/2006/relationships/hyperlink" Target="https://baike.baidu.com/item/%E9%B2%A5%E9%B1%BC" TargetMode="External"/><Relationship Id="rId4" Type="http://schemas.openxmlformats.org/officeDocument/2006/relationships/hyperlink" Target="https://baike.baidu.com/item/%E5%B9%B3%E5%8E%9F" TargetMode="External"/><Relationship Id="rId9" Type="http://schemas.openxmlformats.org/officeDocument/2006/relationships/hyperlink" Target="https://baike.baidu.com/item/%E5%88%80%E9%B1%BC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B1%9F%E9%98%B4%E5%A4%A7%E6%A1%A5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baike.baidu.com/item/%E5%A4%AA%E6%B9%96" TargetMode="External"/><Relationship Id="rId4" Type="http://schemas.openxmlformats.org/officeDocument/2006/relationships/hyperlink" Target="https://baike.baidu.com/item/%E9%94%A1%E6%BE%84%E8%BF%90%E6%B2%B3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9%9A%A7%E9%81%93/18126" TargetMode="External"/><Relationship Id="rId13" Type="http://schemas.openxmlformats.org/officeDocument/2006/relationships/image" Target="../media/image17.jpeg"/><Relationship Id="rId3" Type="http://schemas.openxmlformats.org/officeDocument/2006/relationships/hyperlink" Target="https://baike.baidu.com/item/%E6%B1%9F%E8%8B%8F" TargetMode="External"/><Relationship Id="rId7" Type="http://schemas.openxmlformats.org/officeDocument/2006/relationships/hyperlink" Target="https://baike.baidu.com/item/%E8%88%AA%E9%81%93" TargetMode="External"/><Relationship Id="rId12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baike.baidu.com/item/%E9%AB%98%E9%80%9F%E5%85%AC%E8%B7%AF" TargetMode="External"/><Relationship Id="rId11" Type="http://schemas.openxmlformats.org/officeDocument/2006/relationships/hyperlink" Target="https://baike.baidu.com/item/%E4%B9%A1%E9%95%87%E4%BC%81%E4%B8%9A" TargetMode="External"/><Relationship Id="rId5" Type="http://schemas.openxmlformats.org/officeDocument/2006/relationships/hyperlink" Target="https://baike.baidu.com/item/%E5%8D%8E%E5%A3%AB%E9%95%87" TargetMode="External"/><Relationship Id="rId10" Type="http://schemas.openxmlformats.org/officeDocument/2006/relationships/hyperlink" Target="https://baike.baidu.com/item/%E5%8D%8E%E8%A5%BF%E9%9B%86%E5%9B%A2/4042576" TargetMode="External"/><Relationship Id="rId4" Type="http://schemas.openxmlformats.org/officeDocument/2006/relationships/hyperlink" Target="https://baike.baidu.com/item/%E6%B1%9F%E9%98%B4%E5%B8%82" TargetMode="External"/><Relationship Id="rId9" Type="http://schemas.openxmlformats.org/officeDocument/2006/relationships/hyperlink" Target="https://baike.baidu.com/item/%E7%9B%B4%E5%8D%87%E6%9C%BA%E5%9C%BA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9C%B0%E5%AE%AB/10928376" TargetMode="External"/><Relationship Id="rId13" Type="http://schemas.openxmlformats.org/officeDocument/2006/relationships/image" Target="../media/image19.jpeg"/><Relationship Id="rId3" Type="http://schemas.openxmlformats.org/officeDocument/2006/relationships/hyperlink" Target="https://baike.baidu.com/item/%E5%8F%A4%E6%82%9F%E7%A9%BA%E5%AF%BA" TargetMode="External"/><Relationship Id="rId7" Type="http://schemas.openxmlformats.org/officeDocument/2006/relationships/hyperlink" Target="https://baike.baidu.com/item/%E4%B8%80%E8%AF%9A%E5%A4%A7%E5%92%8C%E5%B0%9A/7441350" TargetMode="External"/><Relationship Id="rId12" Type="http://schemas.openxmlformats.org/officeDocument/2006/relationships/hyperlink" Target="https://baike.baidu.com/item/%E6%97%AC%E9%82%91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aike.baidu.com/item/%E6%B1%9F%E9%98%B4" TargetMode="External"/><Relationship Id="rId11" Type="http://schemas.openxmlformats.org/officeDocument/2006/relationships/hyperlink" Target="https://baike.baidu.com/item/%E6%B6%9E%E6%B0%B4" TargetMode="External"/><Relationship Id="rId5" Type="http://schemas.openxmlformats.org/officeDocument/2006/relationships/hyperlink" Target="https://baike.baidu.com/item/%E8%88%8D%E5%88%A9%E5%AD%90" TargetMode="External"/><Relationship Id="rId10" Type="http://schemas.openxmlformats.org/officeDocument/2006/relationships/hyperlink" Target="https://baike.baidu.com/item/%E9%AB%98%E9%82%AE/2248316" TargetMode="External"/><Relationship Id="rId4" Type="http://schemas.openxmlformats.org/officeDocument/2006/relationships/hyperlink" Target="https://baike.baidu.com/item/%E6%B3%97%E5%B7%9E%E5%A4%A7%E5%9C%A3/2198131" TargetMode="External"/><Relationship Id="rId9" Type="http://schemas.openxmlformats.org/officeDocument/2006/relationships/hyperlink" Target="https://baike.baidu.com/item/%E5%83%A7%E4%BC%BD/2241768" TargetMode="External"/><Relationship Id="rId1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B2%A9%E6%BA%B6/3809379" TargetMode="External"/><Relationship Id="rId3" Type="http://schemas.openxmlformats.org/officeDocument/2006/relationships/hyperlink" Target="https://baike.baidu.com/item/%E6%B1%9F%E9%98%B4/216035" TargetMode="External"/><Relationship Id="rId7" Type="http://schemas.openxmlformats.org/officeDocument/2006/relationships/hyperlink" Target="https://baike.baidu.com/item/%E5%8C%BE%E9%A2%9D/1814427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aike.baidu.com/item/%E9%99%86%E5%AE%9A%E4%B8%80" TargetMode="External"/><Relationship Id="rId11" Type="http://schemas.openxmlformats.org/officeDocument/2006/relationships/image" Target="../media/image22.jpeg"/><Relationship Id="rId5" Type="http://schemas.openxmlformats.org/officeDocument/2006/relationships/hyperlink" Target="https://baike.baidu.com/item/%E5%BE%90%E9%9C%9E%E5%AE%A2%E9%95%87" TargetMode="External"/><Relationship Id="rId10" Type="http://schemas.openxmlformats.org/officeDocument/2006/relationships/image" Target="../media/image21.jpeg"/><Relationship Id="rId4" Type="http://schemas.openxmlformats.org/officeDocument/2006/relationships/hyperlink" Target="https://baike.baidu.com/item/%E9%A9%AC%E9%95%87" TargetMode="External"/><Relationship Id="rId9" Type="http://schemas.openxmlformats.org/officeDocument/2006/relationships/hyperlink" Target="https://baike.baidu.com/item/%E7%BD%97%E6%B1%89%E6%9D%BE/843310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altLang="en-US" sz="6600" b="1" dirty="0" smtClean="0">
                <a:solidFill>
                  <a:schemeClr val="bg2">
                    <a:lumMod val="50000"/>
                    <a:lumOff val="50000"/>
                  </a:schemeClr>
                </a:solidFill>
              </a:rPr>
              <a:t>我的家乡在江阴</a:t>
            </a:r>
            <a:endParaRPr lang="zh-CN" altLang="en-US" sz="6600" b="1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l"/>
            </a:pPr>
            <a:r>
              <a:rPr altLang="en-US" sz="4000" dirty="0" smtClean="0">
                <a:solidFill>
                  <a:srgbClr val="FFC000"/>
                </a:solidFill>
              </a:rPr>
              <a:t>历史沿革</a:t>
            </a:r>
            <a:endParaRPr lang="en-US" altLang="en-US" sz="4000" dirty="0" smtClean="0">
              <a:solidFill>
                <a:srgbClr val="FFC000"/>
              </a:solidFill>
            </a:endParaRPr>
          </a:p>
          <a:p>
            <a:pPr>
              <a:buFont typeface="Wingdings" pitchFamily="2" charset="2"/>
              <a:buChar char="l"/>
            </a:pPr>
            <a:r>
              <a:rPr altLang="en-US" sz="4000" dirty="0" smtClean="0">
                <a:solidFill>
                  <a:srgbClr val="FFC000"/>
                </a:solidFill>
              </a:rPr>
              <a:t>行政区划</a:t>
            </a:r>
            <a:endParaRPr lang="en-US" altLang="en-US" sz="4000" dirty="0" smtClean="0">
              <a:solidFill>
                <a:srgbClr val="FFC000"/>
              </a:solidFill>
            </a:endParaRPr>
          </a:p>
          <a:p>
            <a:pPr>
              <a:buFont typeface="Wingdings" pitchFamily="2" charset="2"/>
              <a:buChar char="l"/>
            </a:pPr>
            <a:r>
              <a:rPr sz="4000" dirty="0" smtClean="0">
                <a:solidFill>
                  <a:srgbClr val="FFC000"/>
                </a:solidFill>
              </a:rPr>
              <a:t>地理环境</a:t>
            </a:r>
            <a:endParaRPr lang="en-US" sz="4000" dirty="0" smtClean="0">
              <a:solidFill>
                <a:srgbClr val="FFC000"/>
              </a:solidFill>
            </a:endParaRPr>
          </a:p>
          <a:p>
            <a:pPr>
              <a:buFont typeface="Wingdings" pitchFamily="2" charset="2"/>
              <a:buChar char="l"/>
            </a:pPr>
            <a:r>
              <a:rPr sz="4000" dirty="0" smtClean="0">
                <a:solidFill>
                  <a:srgbClr val="FFC000"/>
                </a:solidFill>
              </a:rPr>
              <a:t>交通概况</a:t>
            </a:r>
            <a:endParaRPr lang="en-US" sz="4000" dirty="0" smtClean="0">
              <a:solidFill>
                <a:srgbClr val="FFC000"/>
              </a:solidFill>
            </a:endParaRPr>
          </a:p>
          <a:p>
            <a:pPr>
              <a:buFont typeface="Wingdings" pitchFamily="2" charset="2"/>
              <a:buChar char="l"/>
            </a:pPr>
            <a:r>
              <a:rPr sz="4000" dirty="0" smtClean="0">
                <a:solidFill>
                  <a:srgbClr val="FFC000"/>
                </a:solidFill>
              </a:rPr>
              <a:t>景区风光</a:t>
            </a:r>
            <a:endParaRPr lang="en-US" altLang="zh-CN" sz="4000" dirty="0" smtClean="0">
              <a:solidFill>
                <a:srgbClr val="FFC000"/>
              </a:solidFill>
            </a:endParaRPr>
          </a:p>
        </p:txBody>
      </p:sp>
      <p:pic>
        <p:nvPicPr>
          <p:cNvPr id="5" name="陆沅枫 - 大江之阴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/>
          <a:stretch>
            <a:fillRect/>
          </a:stretch>
        </p:blipFill>
        <p:spPr>
          <a:xfrm>
            <a:off x="357158" y="6357958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15140" y="5715016"/>
            <a:ext cx="2428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FF00"/>
                </a:solidFill>
              </a:rPr>
              <a:t>南京工程学院   周文炜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999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altLang="en-US" sz="5400" dirty="0" smtClean="0"/>
              <a:t>历史沿革</a:t>
            </a:r>
            <a:endParaRPr lang="zh-CN" altLang="en-US" sz="5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dirty="0" smtClean="0"/>
              <a:t>史前文明</a:t>
            </a:r>
            <a:r>
              <a:rPr lang="en-US" altLang="zh-CN" dirty="0" smtClean="0"/>
              <a:t>            </a:t>
            </a:r>
          </a:p>
          <a:p>
            <a:pPr>
              <a:buNone/>
            </a:pPr>
            <a:r>
              <a:rPr lang="zh-CN" altLang="en-US" dirty="0" smtClean="0"/>
              <a:t>            从周庄</a:t>
            </a:r>
            <a:r>
              <a:rPr lang="zh-CN" altLang="en-US" dirty="0" smtClean="0">
                <a:hlinkClick r:id="rId3"/>
              </a:rPr>
              <a:t>陶城</a:t>
            </a:r>
            <a:r>
              <a:rPr lang="zh-CN" altLang="en-US" dirty="0" smtClean="0"/>
              <a:t>、青阳南楼、</a:t>
            </a:r>
            <a:r>
              <a:rPr lang="zh-CN" altLang="en-US" dirty="0" smtClean="0">
                <a:hlinkClick r:id="rId4"/>
              </a:rPr>
              <a:t>长山</a:t>
            </a:r>
            <a:r>
              <a:rPr lang="zh-CN" altLang="en-US" dirty="0" smtClean="0"/>
              <a:t>烟墩、石庄高城墩、江阴城建、山观望海墩、顾山西坡、西郊璜塘河及市区</a:t>
            </a:r>
            <a:r>
              <a:rPr lang="zh-CN" altLang="en-US" dirty="0" smtClean="0">
                <a:hlinkClick r:id="rId5"/>
              </a:rPr>
              <a:t>北护城河</a:t>
            </a:r>
            <a:r>
              <a:rPr lang="zh-CN" altLang="en-US" dirty="0" smtClean="0"/>
              <a:t>畔等文化遗址中，相继出土属青莲岗文化、</a:t>
            </a:r>
            <a:r>
              <a:rPr lang="zh-CN" altLang="en-US" dirty="0" smtClean="0">
                <a:hlinkClick r:id="rId6"/>
              </a:rPr>
              <a:t>良渚文化</a:t>
            </a:r>
            <a:r>
              <a:rPr lang="zh-CN" altLang="en-US" dirty="0" smtClean="0"/>
              <a:t>的</a:t>
            </a:r>
            <a:r>
              <a:rPr lang="zh-CN" altLang="en-US" dirty="0" smtClean="0">
                <a:hlinkClick r:id="rId7"/>
              </a:rPr>
              <a:t>石锛</a:t>
            </a:r>
            <a:r>
              <a:rPr lang="zh-CN" altLang="en-US" dirty="0" smtClean="0"/>
              <a:t>、石斧、夹砂灰陶、红陶、黑陶、鹿角镐、玉器琮壁和炭化稻谷，说明</a:t>
            </a:r>
            <a:r>
              <a:rPr lang="en-US" altLang="zh-CN" dirty="0" smtClean="0"/>
              <a:t>5000</a:t>
            </a:r>
            <a:r>
              <a:rPr lang="zh-CN" altLang="en-US" dirty="0" smtClean="0"/>
              <a:t>多年前的</a:t>
            </a:r>
            <a:r>
              <a:rPr lang="zh-CN" altLang="en-US" dirty="0" smtClean="0">
                <a:solidFill>
                  <a:srgbClr val="FF0000"/>
                </a:solidFill>
                <a:hlinkClick r:id="rId8"/>
              </a:rPr>
              <a:t>新石器时代</a:t>
            </a:r>
            <a:r>
              <a:rPr lang="zh-CN" altLang="en-US" dirty="0" smtClean="0"/>
              <a:t>，先民们已在境内聚成村落，繁衍澄江夜景、生息，从事渔猎和农耕，开始种植水稻，并掌握了制陶、织麻、琢玉等手工业技术。</a:t>
            </a:r>
            <a:endParaRPr lang="zh-CN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altLang="en-US" sz="6600" dirty="0" smtClean="0"/>
              <a:t>忠义之邦</a:t>
            </a:r>
            <a:endParaRPr lang="zh-CN" altLang="en-US" sz="66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1714488"/>
            <a:ext cx="91440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zh-CN" altLang="en-US" sz="3600" b="1" dirty="0" smtClean="0">
                <a:solidFill>
                  <a:srgbClr val="FF0000"/>
                </a:solidFill>
              </a:rPr>
              <a:t>江阴八十一日</a:t>
            </a:r>
            <a:endParaRPr lang="en-US" altLang="zh-CN" sz="3600" b="1" dirty="0" smtClean="0">
              <a:solidFill>
                <a:srgbClr val="FF0000"/>
              </a:solidFill>
            </a:endParaRPr>
          </a:p>
          <a:p>
            <a:r>
              <a:rPr lang="zh-CN" altLang="en-US" sz="2800" b="1" dirty="0" smtClean="0">
                <a:solidFill>
                  <a:srgbClr val="FF0000"/>
                </a:solidFill>
              </a:rPr>
              <a:t>         江阴</a:t>
            </a:r>
            <a:r>
              <a:rPr lang="zh-CN" altLang="en-US" sz="2800" b="1" dirty="0">
                <a:solidFill>
                  <a:srgbClr val="FF0000"/>
                </a:solidFill>
              </a:rPr>
              <a:t>八十一日</a:t>
            </a:r>
            <a:r>
              <a:rPr lang="zh-CN" altLang="en-US" sz="2800" dirty="0">
                <a:solidFill>
                  <a:srgbClr val="FF0000"/>
                </a:solidFill>
              </a:rPr>
              <a:t>是指</a:t>
            </a:r>
            <a:r>
              <a:rPr lang="en-US" altLang="zh-CN" sz="2800" dirty="0">
                <a:solidFill>
                  <a:srgbClr val="FF0000"/>
                </a:solidFill>
              </a:rPr>
              <a:t>1645</a:t>
            </a:r>
            <a:r>
              <a:rPr lang="zh-CN" altLang="en-US" sz="2800" dirty="0">
                <a:solidFill>
                  <a:srgbClr val="FF0000"/>
                </a:solidFill>
              </a:rPr>
              <a:t>年夏</a:t>
            </a:r>
            <a:r>
              <a:rPr lang="zh-CN" altLang="en-US" sz="2800" dirty="0">
                <a:solidFill>
                  <a:srgbClr val="FF0000"/>
                </a:solidFill>
                <a:hlinkClick r:id="rId3"/>
              </a:rPr>
              <a:t>江阴</a:t>
            </a:r>
            <a:r>
              <a:rPr lang="zh-CN" altLang="en-US" sz="2800" dirty="0">
                <a:solidFill>
                  <a:srgbClr val="FF0000"/>
                </a:solidFill>
              </a:rPr>
              <a:t>人民为抵制</a:t>
            </a:r>
            <a:r>
              <a:rPr lang="zh-CN" altLang="en-US" sz="2800" dirty="0">
                <a:solidFill>
                  <a:srgbClr val="FF0000"/>
                </a:solidFill>
                <a:hlinkClick r:id="rId4"/>
              </a:rPr>
              <a:t>剃发令</a:t>
            </a:r>
            <a:r>
              <a:rPr lang="zh-CN" altLang="en-US" sz="2800" dirty="0">
                <a:solidFill>
                  <a:srgbClr val="FF0000"/>
                </a:solidFill>
              </a:rPr>
              <a:t>，在江阴</a:t>
            </a:r>
            <a:r>
              <a:rPr lang="zh-CN" altLang="en-US" sz="2800" dirty="0">
                <a:solidFill>
                  <a:srgbClr val="FF0000"/>
                </a:solidFill>
                <a:hlinkClick r:id="rId5"/>
              </a:rPr>
              <a:t>典史</a:t>
            </a:r>
            <a:r>
              <a:rPr lang="zh-CN" altLang="en-US" sz="2800" dirty="0">
                <a:solidFill>
                  <a:srgbClr val="FF0000"/>
                </a:solidFill>
                <a:hlinkClick r:id="rId6"/>
              </a:rPr>
              <a:t>阎应元</a:t>
            </a:r>
            <a:r>
              <a:rPr lang="zh-CN" altLang="en-US" sz="2800" dirty="0">
                <a:solidFill>
                  <a:srgbClr val="FF0000"/>
                </a:solidFill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hlinkClick r:id="rId7"/>
              </a:rPr>
              <a:t>陈明遇</a:t>
            </a:r>
            <a:r>
              <a:rPr lang="zh-CN" altLang="en-US" sz="2800" dirty="0">
                <a:solidFill>
                  <a:srgbClr val="FF0000"/>
                </a:solidFill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hlinkClick r:id="rId8"/>
              </a:rPr>
              <a:t>冯厚敦</a:t>
            </a:r>
            <a:r>
              <a:rPr lang="zh-CN" altLang="en-US" sz="2800" dirty="0">
                <a:solidFill>
                  <a:srgbClr val="FF0000"/>
                </a:solidFill>
              </a:rPr>
              <a:t>等人领导下进行的反清斗争。因为前后长达</a:t>
            </a:r>
            <a:r>
              <a:rPr lang="en-US" altLang="zh-CN" sz="2800" dirty="0">
                <a:solidFill>
                  <a:srgbClr val="FF0000"/>
                </a:solidFill>
              </a:rPr>
              <a:t>81</a:t>
            </a:r>
            <a:r>
              <a:rPr lang="zh-CN" altLang="en-US" sz="2800" dirty="0">
                <a:solidFill>
                  <a:srgbClr val="FF0000"/>
                </a:solidFill>
              </a:rPr>
              <a:t>天之久，故被称为“江阴八十一日”。后全城殉国，无一人投降。清军折损三个王爷，大将十八名；参加攻城的还有后来晋封为</a:t>
            </a:r>
            <a:r>
              <a:rPr lang="zh-CN" altLang="en-US" sz="2800" dirty="0">
                <a:solidFill>
                  <a:srgbClr val="FF0000"/>
                </a:solidFill>
                <a:hlinkClick r:id="rId9"/>
              </a:rPr>
              <a:t>亲王</a:t>
            </a:r>
            <a:r>
              <a:rPr lang="zh-CN" altLang="en-US" sz="2800" dirty="0">
                <a:solidFill>
                  <a:srgbClr val="FF0000"/>
                </a:solidFill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hlinkClick r:id="rId10"/>
              </a:rPr>
              <a:t>博洛</a:t>
            </a:r>
            <a:r>
              <a:rPr lang="zh-CN" altLang="en-US" sz="2800" dirty="0">
                <a:solidFill>
                  <a:srgbClr val="FF0000"/>
                </a:solidFill>
              </a:rPr>
              <a:t>（清端重亲王）和</a:t>
            </a:r>
            <a:r>
              <a:rPr lang="zh-CN" altLang="en-US" sz="2800" dirty="0">
                <a:solidFill>
                  <a:srgbClr val="FF0000"/>
                </a:solidFill>
                <a:hlinkClick r:id="rId11"/>
              </a:rPr>
              <a:t>尼堪</a:t>
            </a:r>
            <a:r>
              <a:rPr lang="zh-CN" altLang="en-US" sz="2800" dirty="0">
                <a:solidFill>
                  <a:srgbClr val="FF0000"/>
                </a:solidFill>
              </a:rPr>
              <a:t>（清敬谨亲王）、清恭顺王</a:t>
            </a:r>
            <a:r>
              <a:rPr lang="zh-CN" altLang="en-US" sz="2800" dirty="0">
                <a:solidFill>
                  <a:srgbClr val="FF0000"/>
                </a:solidFill>
                <a:hlinkClick r:id="rId12"/>
              </a:rPr>
              <a:t>孔有德</a:t>
            </a:r>
            <a:r>
              <a:rPr lang="zh-CN" altLang="en-US" sz="2800" dirty="0">
                <a:solidFill>
                  <a:srgbClr val="FF0000"/>
                </a:solidFill>
              </a:rPr>
              <a:t>；清兵二十四万大军携二百多门大炮围城，一共损失的士兵有七万五千余人。江阴方面，守城八十一日，城内死者九万七千余人，城外死者七万五千余人，江阴遗民仅五十三人躲在寺观塔上保全了</a:t>
            </a:r>
            <a:r>
              <a:rPr lang="zh-CN" altLang="en-US" sz="2800" dirty="0" smtClean="0">
                <a:solidFill>
                  <a:srgbClr val="FF0000"/>
                </a:solidFill>
              </a:rPr>
              <a:t>性命</a:t>
            </a:r>
            <a:r>
              <a:rPr lang="zh-CN" altLang="en-US" sz="2800" dirty="0">
                <a:solidFill>
                  <a:srgbClr val="FF0000"/>
                </a:solidFill>
              </a:rPr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altLang="en-US" sz="5400" dirty="0" smtClean="0"/>
              <a:t>行政区划</a:t>
            </a:r>
            <a:endParaRPr lang="zh-CN" altLang="en-US"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428596" y="1785926"/>
            <a:ext cx="8215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dirty="0" smtClean="0"/>
              <a:t>江阴市辖</a:t>
            </a:r>
            <a:r>
              <a:rPr lang="zh-CN" altLang="en-US" dirty="0">
                <a:hlinkClick r:id="rId3"/>
              </a:rPr>
              <a:t>澄江街道</a:t>
            </a:r>
            <a:r>
              <a:rPr lang="zh-CN" altLang="en-US" dirty="0"/>
              <a:t>、</a:t>
            </a:r>
            <a:r>
              <a:rPr lang="zh-CN" altLang="en-US" dirty="0">
                <a:hlinkClick r:id="rId4"/>
              </a:rPr>
              <a:t>南闸街道</a:t>
            </a:r>
            <a:r>
              <a:rPr lang="zh-CN" altLang="en-US" dirty="0"/>
              <a:t>、</a:t>
            </a:r>
            <a:r>
              <a:rPr lang="zh-CN" altLang="en-US" dirty="0">
                <a:hlinkClick r:id="rId5"/>
              </a:rPr>
              <a:t>云亭街道</a:t>
            </a:r>
            <a:r>
              <a:rPr lang="en-US" altLang="zh-CN" dirty="0"/>
              <a:t>3</a:t>
            </a:r>
            <a:r>
              <a:rPr lang="zh-CN" altLang="en-US" dirty="0"/>
              <a:t>个街道；</a:t>
            </a:r>
            <a:r>
              <a:rPr lang="zh-CN" altLang="en-US" dirty="0">
                <a:hlinkClick r:id="rId6"/>
              </a:rPr>
              <a:t>璜土镇</a:t>
            </a:r>
            <a:r>
              <a:rPr lang="zh-CN" altLang="en-US" dirty="0"/>
              <a:t>、</a:t>
            </a:r>
            <a:r>
              <a:rPr lang="zh-CN" altLang="en-US" dirty="0">
                <a:hlinkClick r:id="rId7"/>
              </a:rPr>
              <a:t>月城镇</a:t>
            </a:r>
            <a:r>
              <a:rPr lang="zh-CN" altLang="en-US" dirty="0"/>
              <a:t>、</a:t>
            </a:r>
            <a:r>
              <a:rPr lang="zh-CN" altLang="en-US" dirty="0">
                <a:hlinkClick r:id="rId8"/>
              </a:rPr>
              <a:t>青阳镇</a:t>
            </a:r>
            <a:r>
              <a:rPr lang="zh-CN" altLang="en-US" dirty="0"/>
              <a:t>、</a:t>
            </a:r>
            <a:r>
              <a:rPr lang="zh-CN" altLang="en-US" dirty="0">
                <a:hlinkClick r:id="rId9"/>
              </a:rPr>
              <a:t>徐霞客镇</a:t>
            </a:r>
            <a:r>
              <a:rPr lang="zh-CN" altLang="en-US" dirty="0"/>
              <a:t>、</a:t>
            </a:r>
            <a:r>
              <a:rPr lang="zh-CN" altLang="en-US" dirty="0">
                <a:hlinkClick r:id="rId10"/>
              </a:rPr>
              <a:t>华士镇</a:t>
            </a:r>
            <a:r>
              <a:rPr lang="zh-CN" altLang="en-US" dirty="0"/>
              <a:t>、</a:t>
            </a:r>
            <a:r>
              <a:rPr lang="zh-CN" altLang="en-US" dirty="0">
                <a:hlinkClick r:id="rId11"/>
              </a:rPr>
              <a:t>周庄镇</a:t>
            </a:r>
            <a:r>
              <a:rPr lang="zh-CN" altLang="en-US" dirty="0"/>
              <a:t>、</a:t>
            </a:r>
            <a:r>
              <a:rPr lang="zh-CN" altLang="en-US" dirty="0">
                <a:hlinkClick r:id="rId12"/>
              </a:rPr>
              <a:t>新桥镇</a:t>
            </a:r>
            <a:r>
              <a:rPr lang="zh-CN" altLang="en-US" dirty="0"/>
              <a:t>、</a:t>
            </a:r>
            <a:r>
              <a:rPr lang="zh-CN" altLang="en-US" dirty="0">
                <a:hlinkClick r:id="rId13"/>
              </a:rPr>
              <a:t>长泾镇</a:t>
            </a:r>
            <a:r>
              <a:rPr lang="zh-CN" altLang="en-US" dirty="0"/>
              <a:t>、</a:t>
            </a:r>
            <a:r>
              <a:rPr lang="zh-CN" altLang="en-US" dirty="0">
                <a:hlinkClick r:id="rId14"/>
              </a:rPr>
              <a:t>顾山镇</a:t>
            </a:r>
            <a:r>
              <a:rPr lang="zh-CN" altLang="en-US" dirty="0"/>
              <a:t>、</a:t>
            </a:r>
            <a:r>
              <a:rPr lang="zh-CN" altLang="en-US" dirty="0">
                <a:hlinkClick r:id="rId15"/>
              </a:rPr>
              <a:t>祝塘镇</a:t>
            </a:r>
            <a:r>
              <a:rPr lang="en-US" altLang="zh-CN" dirty="0"/>
              <a:t>10</a:t>
            </a:r>
            <a:r>
              <a:rPr lang="zh-CN" altLang="en-US" dirty="0"/>
              <a:t>个镇；临港新区（</a:t>
            </a:r>
            <a:r>
              <a:rPr lang="zh-CN" altLang="en-US" dirty="0">
                <a:hlinkClick r:id="rId16"/>
              </a:rPr>
              <a:t>临港街道</a:t>
            </a:r>
            <a:r>
              <a:rPr lang="zh-CN" altLang="en-US" dirty="0"/>
              <a:t>）、澄靖园区</a:t>
            </a:r>
            <a:r>
              <a:rPr lang="en-US" altLang="zh-CN" dirty="0"/>
              <a:t>2</a:t>
            </a:r>
            <a:r>
              <a:rPr lang="zh-CN" altLang="en-US" dirty="0"/>
              <a:t>个经济开发区；</a:t>
            </a:r>
            <a:r>
              <a:rPr lang="en-US" altLang="zh-CN" dirty="0"/>
              <a:t>1</a:t>
            </a:r>
            <a:r>
              <a:rPr lang="zh-CN" altLang="en-US" dirty="0"/>
              <a:t>个国家高新区（</a:t>
            </a:r>
            <a:r>
              <a:rPr lang="zh-CN" altLang="en-US" dirty="0">
                <a:hlinkClick r:id="rId17"/>
              </a:rPr>
              <a:t>城东街道</a:t>
            </a:r>
            <a:r>
              <a:rPr lang="zh-CN" altLang="en-US" dirty="0"/>
              <a:t>）。</a:t>
            </a:r>
          </a:p>
        </p:txBody>
      </p:sp>
      <p:pic>
        <p:nvPicPr>
          <p:cNvPr id="7" name="图片 6" descr="江阴国家高新区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4348" y="3143248"/>
            <a:ext cx="2714644" cy="3428999"/>
          </a:xfrm>
          <a:prstGeom prst="rect">
            <a:avLst/>
          </a:prstGeom>
        </p:spPr>
      </p:pic>
      <p:pic>
        <p:nvPicPr>
          <p:cNvPr id="8" name="图片 7" descr="江阴临港新城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14744" y="3143248"/>
            <a:ext cx="4842417" cy="3526894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altLang="en-US" dirty="0" smtClean="0"/>
              <a:t>地理环境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285860"/>
            <a:ext cx="91440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4000" dirty="0" smtClean="0">
                <a:solidFill>
                  <a:srgbClr val="00FF00"/>
                </a:solidFill>
              </a:rPr>
              <a:t>区位境域</a:t>
            </a:r>
            <a:endParaRPr lang="en-US" altLang="zh-CN" sz="4000" dirty="0" smtClean="0">
              <a:solidFill>
                <a:srgbClr val="00FF00"/>
              </a:solidFill>
            </a:endParaRPr>
          </a:p>
          <a:p>
            <a:r>
              <a:rPr lang="zh-CN" altLang="en-US" sz="3600" dirty="0" smtClean="0"/>
              <a:t>        江阴</a:t>
            </a:r>
            <a:r>
              <a:rPr lang="zh-CN" altLang="en-US" sz="3600" dirty="0"/>
              <a:t>北枕长江，有江阴大桥（</a:t>
            </a:r>
            <a:r>
              <a:rPr lang="en-US" altLang="zh-CN" sz="3600" dirty="0"/>
              <a:t>G2</a:t>
            </a:r>
            <a:r>
              <a:rPr lang="zh-CN" altLang="en-US" sz="3600" dirty="0"/>
              <a:t>京沪线）与</a:t>
            </a:r>
            <a:r>
              <a:rPr lang="zh-CN" altLang="en-US" sz="3600" dirty="0">
                <a:hlinkClick r:id="rId3"/>
              </a:rPr>
              <a:t>靖江市</a:t>
            </a:r>
            <a:r>
              <a:rPr lang="zh-CN" altLang="en-US" sz="3600" dirty="0"/>
              <a:t>相连，南近太湖，有同三高速公路与</a:t>
            </a:r>
            <a:r>
              <a:rPr lang="zh-CN" altLang="en-US" sz="3600" dirty="0">
                <a:hlinkClick r:id="rId4"/>
              </a:rPr>
              <a:t>无锡</a:t>
            </a:r>
            <a:r>
              <a:rPr lang="zh-CN" altLang="en-US" sz="3600" dirty="0"/>
              <a:t>相接，</a:t>
            </a:r>
            <a:r>
              <a:rPr lang="zh-CN" altLang="en-US" sz="3600" dirty="0">
                <a:hlinkClick r:id="rId5"/>
              </a:rPr>
              <a:t>沿江高速</a:t>
            </a:r>
            <a:r>
              <a:rPr lang="zh-CN" altLang="en-US" sz="3600" dirty="0"/>
              <a:t>东接</a:t>
            </a:r>
            <a:r>
              <a:rPr lang="zh-CN" altLang="en-US" sz="3600" dirty="0">
                <a:hlinkClick r:id="rId6"/>
              </a:rPr>
              <a:t>张家港</a:t>
            </a:r>
            <a:r>
              <a:rPr lang="zh-CN" altLang="en-US" sz="3600" dirty="0"/>
              <a:t>、</a:t>
            </a:r>
            <a:r>
              <a:rPr lang="zh-CN" altLang="en-US" sz="3600" dirty="0">
                <a:hlinkClick r:id="rId7"/>
              </a:rPr>
              <a:t>常熟</a:t>
            </a:r>
            <a:r>
              <a:rPr lang="zh-CN" altLang="en-US" sz="3600" dirty="0"/>
              <a:t>、</a:t>
            </a:r>
            <a:r>
              <a:rPr lang="zh-CN" altLang="en-US" sz="3600" dirty="0">
                <a:hlinkClick r:id="rId8"/>
              </a:rPr>
              <a:t>太仓</a:t>
            </a:r>
            <a:r>
              <a:rPr lang="zh-CN" altLang="en-US" sz="3600" dirty="0"/>
              <a:t>至</a:t>
            </a:r>
            <a:r>
              <a:rPr lang="zh-CN" altLang="en-US" sz="3600" dirty="0">
                <a:hlinkClick r:id="rId9"/>
              </a:rPr>
              <a:t>上海</a:t>
            </a:r>
            <a:r>
              <a:rPr lang="zh-CN" altLang="en-US" sz="3600" dirty="0"/>
              <a:t>，西连</a:t>
            </a:r>
            <a:r>
              <a:rPr lang="zh-CN" altLang="en-US" sz="3600" dirty="0">
                <a:hlinkClick r:id="rId10"/>
              </a:rPr>
              <a:t>常州</a:t>
            </a:r>
            <a:r>
              <a:rPr lang="zh-CN" altLang="en-US" sz="3600" dirty="0"/>
              <a:t>、</a:t>
            </a:r>
            <a:r>
              <a:rPr lang="zh-CN" altLang="en-US" sz="3600" dirty="0">
                <a:hlinkClick r:id="rId11"/>
              </a:rPr>
              <a:t>镇江</a:t>
            </a:r>
            <a:r>
              <a:rPr lang="zh-CN" altLang="en-US" sz="3600" dirty="0"/>
              <a:t>至</a:t>
            </a:r>
            <a:r>
              <a:rPr lang="zh-CN" altLang="en-US" sz="3600" dirty="0">
                <a:hlinkClick r:id="rId12"/>
              </a:rPr>
              <a:t>南京</a:t>
            </a:r>
            <a:r>
              <a:rPr lang="zh-CN" altLang="en-US" sz="3600" dirty="0"/>
              <a:t>。</a:t>
            </a:r>
          </a:p>
          <a:p>
            <a:r>
              <a:rPr lang="zh-CN" altLang="en-US" sz="3600" dirty="0"/>
              <a:t>江阴为</a:t>
            </a:r>
            <a:r>
              <a:rPr lang="zh-CN" altLang="en-US" sz="3600" dirty="0">
                <a:hlinkClick r:id="rId13"/>
              </a:rPr>
              <a:t>苏锡常</a:t>
            </a:r>
            <a:r>
              <a:rPr lang="zh-CN" altLang="en-US" sz="3600" dirty="0"/>
              <a:t>“金三角”几何中心，从江阴到</a:t>
            </a:r>
            <a:r>
              <a:rPr lang="zh-CN" altLang="en-US" sz="3600" dirty="0">
                <a:hlinkClick r:id="rId9"/>
              </a:rPr>
              <a:t>上海</a:t>
            </a:r>
            <a:r>
              <a:rPr lang="zh-CN" altLang="en-US" sz="3600" dirty="0"/>
              <a:t>、</a:t>
            </a:r>
            <a:r>
              <a:rPr lang="zh-CN" altLang="en-US" sz="3600" dirty="0">
                <a:hlinkClick r:id="rId12"/>
              </a:rPr>
              <a:t>南京</a:t>
            </a:r>
            <a:r>
              <a:rPr lang="zh-CN" altLang="en-US" sz="3600" dirty="0"/>
              <a:t>各</a:t>
            </a:r>
            <a:r>
              <a:rPr lang="en-US" altLang="zh-CN" sz="3600" dirty="0"/>
              <a:t>148</a:t>
            </a:r>
            <a:r>
              <a:rPr lang="zh-CN" altLang="en-US" sz="3600" dirty="0"/>
              <a:t>公里，到无锡、常州各</a:t>
            </a:r>
            <a:r>
              <a:rPr lang="en-US" altLang="zh-CN" sz="3600" dirty="0"/>
              <a:t>38</a:t>
            </a:r>
            <a:r>
              <a:rPr lang="zh-CN" altLang="en-US" sz="3600" dirty="0"/>
              <a:t>公里。江阴和市区的山丘总体上呈北东走向，其高度由西南往东北逐级下降。</a:t>
            </a: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14290"/>
            <a:ext cx="91440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4000" dirty="0" smtClean="0">
                <a:solidFill>
                  <a:srgbClr val="FFFF00"/>
                </a:solidFill>
              </a:rPr>
              <a:t>自然环境</a:t>
            </a:r>
            <a:endParaRPr lang="en-US" altLang="zh-CN" sz="4000" dirty="0" smtClean="0">
              <a:solidFill>
                <a:srgbClr val="FFFF00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江阴地处太湖水网平原北端，长江南部</a:t>
            </a:r>
            <a:r>
              <a:rPr lang="zh-CN" altLang="en-US" sz="2800" dirty="0">
                <a:solidFill>
                  <a:schemeClr val="bg1"/>
                </a:solidFill>
                <a:hlinkClick r:id="rId3"/>
              </a:rPr>
              <a:t>冲积</a:t>
            </a:r>
            <a:r>
              <a:rPr lang="zh-CN" altLang="en-US" sz="2800" dirty="0">
                <a:solidFill>
                  <a:schemeClr val="bg1"/>
                </a:solidFill>
                <a:hlinkClick r:id="rId4"/>
              </a:rPr>
              <a:t>平原</a:t>
            </a:r>
            <a:r>
              <a:rPr lang="zh-CN" altLang="en-US" sz="2800" dirty="0">
                <a:solidFill>
                  <a:schemeClr val="bg1"/>
                </a:solidFill>
              </a:rPr>
              <a:t>，全境地势平缓，平均海拔</a:t>
            </a:r>
            <a:r>
              <a:rPr lang="en-US" altLang="zh-CN" sz="2800" dirty="0">
                <a:solidFill>
                  <a:schemeClr val="bg1"/>
                </a:solidFill>
              </a:rPr>
              <a:t>6</a:t>
            </a:r>
            <a:r>
              <a:rPr lang="zh-CN" altLang="en-US" sz="2800" dirty="0">
                <a:solidFill>
                  <a:schemeClr val="bg1"/>
                </a:solidFill>
              </a:rPr>
              <a:t>米左右，西南边缘地势偏低，中部、东北部</a:t>
            </a:r>
            <a:r>
              <a:rPr lang="zh-CN" altLang="en-US" sz="2800" dirty="0" smtClean="0">
                <a:solidFill>
                  <a:schemeClr val="bg1"/>
                </a:solidFill>
              </a:rPr>
              <a:t>有零星低丘散布其间，地势较高亢。中部山丘多在海拔</a:t>
            </a:r>
            <a:r>
              <a:rPr lang="en-US" altLang="zh-CN" sz="2800" dirty="0" smtClean="0">
                <a:solidFill>
                  <a:schemeClr val="bg1"/>
                </a:solidFill>
              </a:rPr>
              <a:t>200</a:t>
            </a:r>
            <a:r>
              <a:rPr lang="zh-CN" altLang="en-US" sz="2800" dirty="0" smtClean="0">
                <a:solidFill>
                  <a:schemeClr val="bg1"/>
                </a:solidFill>
              </a:rPr>
              <a:t>米左右，以定山</a:t>
            </a:r>
            <a:r>
              <a:rPr lang="en-US" altLang="zh-CN" sz="2800" dirty="0" smtClean="0">
                <a:solidFill>
                  <a:schemeClr val="bg1"/>
                </a:solidFill>
              </a:rPr>
              <a:t>273.8</a:t>
            </a:r>
            <a:r>
              <a:rPr lang="zh-CN" altLang="en-US" sz="2800" dirty="0" smtClean="0">
                <a:solidFill>
                  <a:schemeClr val="bg1"/>
                </a:solidFill>
              </a:rPr>
              <a:t>米为最高，东北部黄山海拔</a:t>
            </a:r>
            <a:r>
              <a:rPr lang="en-US" altLang="zh-CN" sz="2800" dirty="0" smtClean="0">
                <a:solidFill>
                  <a:schemeClr val="bg1"/>
                </a:solidFill>
              </a:rPr>
              <a:t>91.7</a:t>
            </a:r>
            <a:r>
              <a:rPr lang="zh-CN" altLang="en-US" sz="2800" dirty="0" smtClean="0">
                <a:solidFill>
                  <a:schemeClr val="bg1"/>
                </a:solidFill>
              </a:rPr>
              <a:t>米。滨临长江，全境有干、支河流</a:t>
            </a:r>
            <a:r>
              <a:rPr lang="en-US" altLang="zh-CN" sz="2800" dirty="0" smtClean="0">
                <a:solidFill>
                  <a:schemeClr val="bg1"/>
                </a:solidFill>
              </a:rPr>
              <a:t>550</a:t>
            </a:r>
            <a:r>
              <a:rPr lang="zh-CN" altLang="en-US" sz="2800" dirty="0" smtClean="0">
                <a:solidFill>
                  <a:schemeClr val="bg1"/>
                </a:solidFill>
              </a:rPr>
              <a:t>余条。</a:t>
            </a:r>
            <a:endParaRPr lang="en-US" altLang="zh-CN" sz="2800" dirty="0" smtClean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江阴属北亚热带季风性湿润气候，年平均气温</a:t>
            </a:r>
            <a:r>
              <a:rPr lang="en-US" altLang="zh-CN" sz="2800" dirty="0">
                <a:solidFill>
                  <a:schemeClr val="bg1"/>
                </a:solidFill>
              </a:rPr>
              <a:t>16.7℃</a:t>
            </a:r>
            <a:r>
              <a:rPr lang="zh-CN" altLang="en-US" sz="2800" dirty="0">
                <a:solidFill>
                  <a:schemeClr val="bg1"/>
                </a:solidFill>
              </a:rPr>
              <a:t>，年降雨量</a:t>
            </a:r>
            <a:r>
              <a:rPr lang="en-US" altLang="zh-CN" sz="2800" dirty="0">
                <a:solidFill>
                  <a:schemeClr val="bg1"/>
                </a:solidFill>
              </a:rPr>
              <a:t>1040.7</a:t>
            </a:r>
            <a:r>
              <a:rPr lang="zh-CN" altLang="en-US" sz="2800" dirty="0">
                <a:solidFill>
                  <a:schemeClr val="bg1"/>
                </a:solidFill>
              </a:rPr>
              <a:t>毫米。四季分明，冬季阴冷潮湿，夏季较炎热，春秋季节气候宜人，是长江下游小麦、水稻等梁作物的重要产地之一。江阴境内主要用材林有竹、松、杉，优良用材的树种有杉木、</a:t>
            </a:r>
            <a:r>
              <a:rPr lang="zh-CN" altLang="en-US" sz="2800" dirty="0">
                <a:solidFill>
                  <a:schemeClr val="bg1"/>
                </a:solidFill>
                <a:hlinkClick r:id="rId5"/>
              </a:rPr>
              <a:t>檫树</a:t>
            </a:r>
            <a:r>
              <a:rPr lang="zh-CN" altLang="en-US" sz="2800" dirty="0">
                <a:solidFill>
                  <a:schemeClr val="bg1"/>
                </a:solidFill>
              </a:rPr>
              <a:t>、樟树、</a:t>
            </a:r>
            <a:r>
              <a:rPr lang="zh-CN" altLang="en-US" sz="2800" dirty="0">
                <a:solidFill>
                  <a:schemeClr val="bg1"/>
                </a:solidFill>
                <a:hlinkClick r:id="rId6"/>
              </a:rPr>
              <a:t>紫楠</a:t>
            </a:r>
            <a:r>
              <a:rPr lang="zh-CN" altLang="en-US" sz="2800" dirty="0">
                <a:solidFill>
                  <a:schemeClr val="bg1"/>
                </a:solidFill>
              </a:rPr>
              <a:t>、红楠、</a:t>
            </a:r>
            <a:r>
              <a:rPr lang="zh-CN" altLang="en-US" sz="2800" dirty="0">
                <a:solidFill>
                  <a:schemeClr val="bg1"/>
                </a:solidFill>
                <a:hlinkClick r:id="rId7"/>
              </a:rPr>
              <a:t>麻栎</a:t>
            </a:r>
            <a:r>
              <a:rPr lang="zh-CN" altLang="en-US" sz="2800" dirty="0">
                <a:solidFill>
                  <a:schemeClr val="bg1"/>
                </a:solidFill>
              </a:rPr>
              <a:t>、锥栗、</a:t>
            </a:r>
            <a:r>
              <a:rPr lang="zh-CN" altLang="en-US" sz="2800" dirty="0">
                <a:solidFill>
                  <a:schemeClr val="bg1"/>
                </a:solidFill>
                <a:hlinkClick r:id="rId8"/>
              </a:rPr>
              <a:t>榆树</a:t>
            </a:r>
            <a:r>
              <a:rPr lang="zh-CN" altLang="en-US" sz="2800" dirty="0">
                <a:solidFill>
                  <a:schemeClr val="bg1"/>
                </a:solidFill>
              </a:rPr>
              <a:t>等。药用植物</a:t>
            </a:r>
            <a:r>
              <a:rPr lang="en-US" altLang="zh-CN" sz="2800" dirty="0">
                <a:solidFill>
                  <a:schemeClr val="bg1"/>
                </a:solidFill>
              </a:rPr>
              <a:t>400</a:t>
            </a:r>
            <a:r>
              <a:rPr lang="zh-CN" altLang="en-US" sz="2800" dirty="0">
                <a:solidFill>
                  <a:schemeClr val="bg1"/>
                </a:solidFill>
              </a:rPr>
              <a:t>多种。鸟类有</a:t>
            </a:r>
            <a:r>
              <a:rPr lang="en-US" altLang="zh-CN" sz="2800" dirty="0">
                <a:solidFill>
                  <a:schemeClr val="bg1"/>
                </a:solidFill>
              </a:rPr>
              <a:t>170</a:t>
            </a:r>
            <a:r>
              <a:rPr lang="zh-CN" altLang="en-US" sz="2800" dirty="0">
                <a:solidFill>
                  <a:schemeClr val="bg1"/>
                </a:solidFill>
              </a:rPr>
              <a:t>多种；鱼类为</a:t>
            </a:r>
            <a:r>
              <a:rPr lang="en-US" altLang="zh-CN" sz="2800" dirty="0">
                <a:solidFill>
                  <a:schemeClr val="bg1"/>
                </a:solidFill>
              </a:rPr>
              <a:t>90</a:t>
            </a:r>
            <a:r>
              <a:rPr lang="zh-CN" altLang="en-US" sz="2800" dirty="0">
                <a:solidFill>
                  <a:schemeClr val="bg1"/>
                </a:solidFill>
              </a:rPr>
              <a:t>多种，太湖中的银鱼，长江中的</a:t>
            </a:r>
            <a:r>
              <a:rPr lang="zh-CN" altLang="en-US" sz="2800" dirty="0">
                <a:solidFill>
                  <a:schemeClr val="bg1"/>
                </a:solidFill>
                <a:hlinkClick r:id="rId9"/>
              </a:rPr>
              <a:t>刀鱼</a:t>
            </a:r>
            <a:r>
              <a:rPr lang="zh-CN" altLang="en-US" sz="2800" dirty="0">
                <a:solidFill>
                  <a:schemeClr val="bg1"/>
                </a:solidFill>
              </a:rPr>
              <a:t>、</a:t>
            </a:r>
            <a:r>
              <a:rPr lang="zh-CN" altLang="en-US" sz="2800" dirty="0">
                <a:solidFill>
                  <a:schemeClr val="bg1"/>
                </a:solidFill>
                <a:hlinkClick r:id="rId10"/>
              </a:rPr>
              <a:t>鲥鱼</a:t>
            </a:r>
            <a:r>
              <a:rPr lang="zh-CN" altLang="en-US" sz="2800" dirty="0">
                <a:solidFill>
                  <a:schemeClr val="bg1"/>
                </a:solidFill>
              </a:rPr>
              <a:t>、</a:t>
            </a:r>
            <a:r>
              <a:rPr lang="zh-CN" altLang="en-US" sz="2800" dirty="0">
                <a:solidFill>
                  <a:schemeClr val="bg1"/>
                </a:solidFill>
                <a:hlinkClick r:id="rId11"/>
              </a:rPr>
              <a:t>河豚</a:t>
            </a:r>
            <a:r>
              <a:rPr lang="zh-CN" altLang="en-US" sz="2800" dirty="0">
                <a:solidFill>
                  <a:schemeClr val="bg1"/>
                </a:solidFill>
              </a:rPr>
              <a:t>是名贵鱼类；兽类有</a:t>
            </a:r>
            <a:r>
              <a:rPr lang="en-US" altLang="zh-CN" sz="2800" dirty="0">
                <a:solidFill>
                  <a:schemeClr val="bg1"/>
                </a:solidFill>
              </a:rPr>
              <a:t>30</a:t>
            </a:r>
            <a:r>
              <a:rPr lang="zh-CN" altLang="en-US" sz="2800" dirty="0">
                <a:solidFill>
                  <a:schemeClr val="bg1"/>
                </a:solidFill>
              </a:rPr>
              <a:t>多种，主要有华南兔、穿山甲、</a:t>
            </a:r>
            <a:r>
              <a:rPr lang="zh-CN" altLang="en-US" sz="2800" dirty="0">
                <a:solidFill>
                  <a:schemeClr val="bg1"/>
                </a:solidFill>
                <a:hlinkClick r:id="rId12"/>
              </a:rPr>
              <a:t>豹猫</a:t>
            </a:r>
            <a:r>
              <a:rPr lang="zh-CN" altLang="en-US" sz="2800" dirty="0">
                <a:solidFill>
                  <a:schemeClr val="bg1"/>
                </a:solidFill>
              </a:rPr>
              <a:t>、黄鼬等。长江江阴断段水质处于</a:t>
            </a:r>
            <a:r>
              <a:rPr lang="en-US" altLang="zh-CN" sz="2800" dirty="0">
                <a:solidFill>
                  <a:schemeClr val="bg1"/>
                </a:solidFill>
              </a:rPr>
              <a:t>Ⅱ</a:t>
            </a:r>
            <a:r>
              <a:rPr lang="zh-CN" altLang="en-US" sz="2800" dirty="0">
                <a:solidFill>
                  <a:schemeClr val="bg1"/>
                </a:solidFill>
              </a:rPr>
              <a:t>～</a:t>
            </a:r>
            <a:r>
              <a:rPr lang="en-US" altLang="zh-CN" sz="2800" dirty="0">
                <a:solidFill>
                  <a:schemeClr val="bg1"/>
                </a:solidFill>
              </a:rPr>
              <a:t>Ⅲ</a:t>
            </a:r>
            <a:r>
              <a:rPr lang="zh-CN" altLang="en-US" sz="2800" dirty="0">
                <a:solidFill>
                  <a:schemeClr val="bg1"/>
                </a:solidFill>
              </a:rPr>
              <a:t>类水。</a:t>
            </a:r>
            <a:endParaRPr lang="en-US" altLang="zh-CN" sz="2800" dirty="0" smtClean="0">
              <a:solidFill>
                <a:schemeClr val="bg1"/>
              </a:solidFill>
            </a:endParaRPr>
          </a:p>
          <a:p>
            <a:r>
              <a:rPr lang="en-US" altLang="zh-CN" sz="2800" dirty="0">
                <a:solidFill>
                  <a:srgbClr val="FFFF00"/>
                </a:solidFill>
              </a:rPr>
              <a:t> </a:t>
            </a:r>
            <a:r>
              <a:rPr lang="en-US" altLang="zh-CN" sz="2800" dirty="0" smtClean="0">
                <a:solidFill>
                  <a:srgbClr val="FFFF00"/>
                </a:solidFill>
              </a:rPr>
              <a:t>  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776000" cy="1143000"/>
          </a:xfrm>
        </p:spPr>
        <p:txBody>
          <a:bodyPr>
            <a:normAutofit/>
          </a:bodyPr>
          <a:lstStyle/>
          <a:p>
            <a:pPr algn="ctr"/>
            <a:r>
              <a:rPr altLang="en-US" sz="5400" b="1" dirty="0" smtClean="0"/>
              <a:t>交通概况</a:t>
            </a:r>
            <a:endParaRPr lang="zh-CN" altLang="en-US" sz="5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28596" y="2071678"/>
            <a:ext cx="82868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        江阴是长江下游集公路、铁路、水运于一体的重要交通枢纽城市。中国第一、世界第四</a:t>
            </a:r>
            <a:r>
              <a:rPr lang="zh-CN" altLang="en-US" sz="3200" dirty="0"/>
              <a:t>的特大跨径钢悬索桥</a:t>
            </a:r>
            <a:r>
              <a:rPr lang="zh-CN" altLang="en-US" sz="3200" dirty="0">
                <a:hlinkClick r:id="rId3"/>
              </a:rPr>
              <a:t>江阴大桥</a:t>
            </a:r>
            <a:r>
              <a:rPr lang="zh-CN" altLang="en-US" sz="3200" dirty="0"/>
              <a:t>沟通同三（黑龙江同江一海南三亚）和京沪两大国道主干线过江。连接沪宁高速公路、宁通一级公路的锡澄高速公路穿越江阴境内。新长（新沂一长兴）铁路取道江阴，连结陇海、渐赣两大铁路大动脉。有</a:t>
            </a:r>
            <a:r>
              <a:rPr lang="zh-CN" altLang="en-US" sz="3200" dirty="0">
                <a:hlinkClick r:id="rId4"/>
              </a:rPr>
              <a:t>锡澄运河</a:t>
            </a:r>
            <a:r>
              <a:rPr lang="zh-CN" altLang="en-US" sz="3200" dirty="0"/>
              <a:t>沟通长江、</a:t>
            </a:r>
            <a:r>
              <a:rPr lang="zh-CN" altLang="en-US" sz="3200" dirty="0">
                <a:hlinkClick r:id="rId5"/>
              </a:rPr>
              <a:t>太湖</a:t>
            </a:r>
            <a:r>
              <a:rPr lang="zh-CN" altLang="en-US" sz="3200" dirty="0"/>
              <a:t>。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14480" y="274638"/>
            <a:ext cx="5000660" cy="939784"/>
          </a:xfrm>
        </p:spPr>
        <p:txBody>
          <a:bodyPr>
            <a:normAutofit/>
          </a:bodyPr>
          <a:lstStyle/>
          <a:p>
            <a:pPr algn="ctr"/>
            <a:r>
              <a:rPr altLang="en-US" sz="5400" b="1" dirty="0" smtClean="0"/>
              <a:t>景区风光</a:t>
            </a:r>
            <a:endParaRPr lang="zh-CN" altLang="en-US" sz="5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85720" y="1500174"/>
            <a:ext cx="857256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800" dirty="0" smtClean="0"/>
              <a:t> </a:t>
            </a:r>
            <a:r>
              <a:rPr lang="zh-CN" altLang="en-US" sz="2800" dirty="0" smtClean="0">
                <a:solidFill>
                  <a:srgbClr val="FFFF00"/>
                </a:solidFill>
              </a:rPr>
              <a:t>华西村        </a:t>
            </a:r>
            <a:endParaRPr lang="en-US" altLang="zh-CN" sz="2800" dirty="0" smtClean="0">
              <a:solidFill>
                <a:srgbClr val="FFFF00"/>
              </a:solidFill>
            </a:endParaRPr>
          </a:p>
          <a:p>
            <a:r>
              <a:rPr lang="zh-CN" altLang="en-US" sz="2000" dirty="0" smtClean="0"/>
              <a:t>         </a:t>
            </a:r>
            <a:r>
              <a:rPr lang="zh-CN" altLang="en-US" sz="2000" u="sng" dirty="0" smtClean="0">
                <a:solidFill>
                  <a:srgbClr val="FFC000"/>
                </a:solidFill>
              </a:rPr>
              <a:t>华西村</a:t>
            </a:r>
            <a:r>
              <a:rPr lang="zh-CN" altLang="en-US" sz="2000" dirty="0" smtClean="0"/>
              <a:t>隶属于</a:t>
            </a:r>
            <a:r>
              <a:rPr lang="zh-CN" altLang="en-US" sz="2000" dirty="0" smtClean="0">
                <a:hlinkClick r:id="rId3"/>
              </a:rPr>
              <a:t>江苏</a:t>
            </a:r>
            <a:r>
              <a:rPr lang="zh-CN" altLang="en-US" sz="2000" dirty="0" smtClean="0"/>
              <a:t>省</a:t>
            </a:r>
            <a:r>
              <a:rPr lang="zh-CN" altLang="en-US" sz="2000" dirty="0" smtClean="0">
                <a:hlinkClick r:id="rId4"/>
              </a:rPr>
              <a:t>江阴市</a:t>
            </a:r>
            <a:r>
              <a:rPr lang="zh-CN" altLang="en-US" sz="2000" dirty="0" smtClean="0">
                <a:hlinkClick r:id="rId5"/>
              </a:rPr>
              <a:t>华士镇</a:t>
            </a:r>
            <a:r>
              <a:rPr lang="zh-CN" altLang="en-US" sz="2000" dirty="0" smtClean="0"/>
              <a:t>，位于</a:t>
            </a:r>
            <a:r>
              <a:rPr lang="zh-CN" altLang="en-US" sz="2000" dirty="0" smtClean="0">
                <a:hlinkClick r:id="rId4"/>
              </a:rPr>
              <a:t>江阴市</a:t>
            </a:r>
            <a:r>
              <a:rPr lang="zh-CN" altLang="en-US" sz="2000" dirty="0" smtClean="0"/>
              <a:t>区东，华士镇西。从</a:t>
            </a:r>
            <a:r>
              <a:rPr lang="en-US" altLang="zh-CN" sz="2000" dirty="0" smtClean="0"/>
              <a:t>2001</a:t>
            </a:r>
            <a:r>
              <a:rPr lang="zh-CN" altLang="en-US" sz="2000" dirty="0" smtClean="0"/>
              <a:t>年开始，华西通过“一分五统”的方式，帮带周边</a:t>
            </a:r>
            <a:r>
              <a:rPr lang="en-US" altLang="zh-CN" sz="2000" dirty="0" smtClean="0"/>
              <a:t>20</a:t>
            </a:r>
            <a:r>
              <a:rPr lang="zh-CN" altLang="en-US" sz="2000" dirty="0" smtClean="0"/>
              <a:t>个村共同发展，建成了一个面积</a:t>
            </a:r>
            <a:r>
              <a:rPr lang="en-US" altLang="zh-CN" sz="2000" dirty="0" smtClean="0"/>
              <a:t>35</a:t>
            </a:r>
            <a:r>
              <a:rPr lang="zh-CN" altLang="en-US" sz="2000" dirty="0" smtClean="0"/>
              <a:t>平方公里、人口达</a:t>
            </a:r>
            <a:r>
              <a:rPr lang="en-US" altLang="zh-CN" sz="2000" dirty="0" smtClean="0"/>
              <a:t>30340</a:t>
            </a:r>
            <a:r>
              <a:rPr lang="zh-CN" altLang="en-US" sz="2000" dirty="0" smtClean="0"/>
              <a:t>人的大华西，组成了一个“有青山、有湖面、有</a:t>
            </a:r>
            <a:r>
              <a:rPr lang="zh-CN" altLang="en-US" sz="2000" dirty="0" smtClean="0">
                <a:hlinkClick r:id="rId6"/>
              </a:rPr>
              <a:t>高速公路</a:t>
            </a:r>
            <a:r>
              <a:rPr lang="zh-CN" altLang="en-US" sz="2000" dirty="0" smtClean="0"/>
              <a:t>，有</a:t>
            </a:r>
            <a:r>
              <a:rPr lang="zh-CN" altLang="en-US" sz="2000" dirty="0" smtClean="0">
                <a:hlinkClick r:id="rId7"/>
              </a:rPr>
              <a:t>航道</a:t>
            </a:r>
            <a:r>
              <a:rPr lang="zh-CN" altLang="en-US" sz="2000" dirty="0" smtClean="0"/>
              <a:t>、有</a:t>
            </a:r>
            <a:r>
              <a:rPr lang="zh-CN" altLang="en-US" sz="2000" dirty="0" smtClean="0">
                <a:hlinkClick r:id="rId8"/>
              </a:rPr>
              <a:t>隧道</a:t>
            </a:r>
            <a:r>
              <a:rPr lang="zh-CN" altLang="en-US" sz="2000" dirty="0" smtClean="0"/>
              <a:t>、有</a:t>
            </a:r>
            <a:r>
              <a:rPr lang="zh-CN" altLang="en-US" sz="2000" dirty="0" smtClean="0">
                <a:hlinkClick r:id="rId9"/>
              </a:rPr>
              <a:t>直升机场</a:t>
            </a:r>
            <a:r>
              <a:rPr lang="zh-CN" altLang="en-US" sz="2000" dirty="0" smtClean="0"/>
              <a:t>”的乡村。</a:t>
            </a:r>
          </a:p>
          <a:p>
            <a:r>
              <a:rPr lang="zh-CN" altLang="en-US" sz="2000" dirty="0" smtClean="0"/>
              <a:t>华西村有名的景点有</a:t>
            </a:r>
            <a:r>
              <a:rPr lang="en-US" altLang="zh-CN" sz="2000" dirty="0" smtClean="0"/>
              <a:t>80</a:t>
            </a:r>
            <a:r>
              <a:rPr lang="zh-CN" altLang="en-US" sz="2000" dirty="0" smtClean="0"/>
              <a:t>多处，华西金塔是它的标志性建筑，七级十七层，高</a:t>
            </a:r>
            <a:r>
              <a:rPr lang="en-US" altLang="zh-CN" sz="2000" dirty="0" smtClean="0"/>
              <a:t>98</a:t>
            </a:r>
            <a:r>
              <a:rPr lang="zh-CN" altLang="en-US" sz="2000" dirty="0" smtClean="0"/>
              <a:t>米。</a:t>
            </a:r>
            <a:r>
              <a:rPr lang="en-US" altLang="zh-CN" sz="2000" baseline="30000" dirty="0" smtClean="0"/>
              <a:t>[1]</a:t>
            </a:r>
            <a:r>
              <a:rPr lang="zh-CN" altLang="en-US" sz="2000" dirty="0" smtClean="0"/>
              <a:t>  </a:t>
            </a:r>
            <a:r>
              <a:rPr lang="en-US" altLang="zh-CN" sz="2000" dirty="0" smtClean="0"/>
              <a:t>2012</a:t>
            </a:r>
            <a:r>
              <a:rPr lang="zh-CN" altLang="en-US" sz="2000" dirty="0" smtClean="0"/>
              <a:t>年，华西村总收入</a:t>
            </a:r>
            <a:r>
              <a:rPr lang="en-US" altLang="zh-CN" sz="2000" dirty="0" smtClean="0"/>
              <a:t>524.5</a:t>
            </a:r>
            <a:r>
              <a:rPr lang="zh-CN" altLang="en-US" sz="2000" dirty="0" smtClean="0"/>
              <a:t>亿，华西村旗下</a:t>
            </a:r>
            <a:r>
              <a:rPr lang="zh-CN" altLang="en-US" sz="2000" dirty="0" smtClean="0">
                <a:hlinkClick r:id="rId10"/>
              </a:rPr>
              <a:t>华西集团</a:t>
            </a:r>
            <a:r>
              <a:rPr lang="en-US" altLang="zh-CN" sz="2000" dirty="0" smtClean="0"/>
              <a:t>1996</a:t>
            </a:r>
            <a:r>
              <a:rPr lang="zh-CN" altLang="en-US" sz="2000" dirty="0" smtClean="0"/>
              <a:t>年被农业部评定为全国大型一档</a:t>
            </a:r>
            <a:r>
              <a:rPr lang="zh-CN" altLang="en-US" sz="2000" dirty="0" smtClean="0">
                <a:hlinkClick r:id="rId11"/>
              </a:rPr>
              <a:t>乡镇企业</a:t>
            </a:r>
            <a:r>
              <a:rPr lang="zh-CN" altLang="en-US" sz="2000" dirty="0" smtClean="0"/>
              <a:t>，华西获得了“全国文明村镇”、“全国文化典范村示范点”、“全国乡镇企业思想政治工作先进单位”、“全国乡镇企业先进企业”等荣誉称号，并誉为“</a:t>
            </a:r>
            <a:r>
              <a:rPr lang="zh-CN" altLang="en-US" sz="2000" u="sng" dirty="0" smtClean="0">
                <a:solidFill>
                  <a:srgbClr val="FFC000"/>
                </a:solidFill>
              </a:rPr>
              <a:t>天下第一村</a:t>
            </a:r>
            <a:r>
              <a:rPr lang="zh-CN" altLang="en-US" sz="2000" dirty="0" smtClean="0"/>
              <a:t>”。</a:t>
            </a:r>
            <a:endParaRPr lang="zh-CN" altLang="en-US" sz="2000" dirty="0"/>
          </a:p>
        </p:txBody>
      </p:sp>
      <p:pic>
        <p:nvPicPr>
          <p:cNvPr id="4" name="图片 3" descr="5366d0160924ab18e01a8a993ffae6cd7b890b0b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596" y="4758598"/>
            <a:ext cx="3143240" cy="2099402"/>
          </a:xfrm>
          <a:prstGeom prst="rect">
            <a:avLst/>
          </a:prstGeom>
        </p:spPr>
      </p:pic>
      <p:pic>
        <p:nvPicPr>
          <p:cNvPr id="5" name="图片 4" descr="华西村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57620" y="4786322"/>
            <a:ext cx="4810142" cy="2071678"/>
          </a:xfrm>
          <a:prstGeom prst="rect">
            <a:avLst/>
          </a:prstGeom>
        </p:spPr>
      </p:pic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357166"/>
            <a:ext cx="871543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FFFF00"/>
                </a:solidFill>
              </a:rPr>
              <a:t>悟空寺</a:t>
            </a:r>
            <a:endParaRPr lang="en-US" altLang="zh-CN" sz="3600" dirty="0" smtClean="0">
              <a:solidFill>
                <a:srgbClr val="FFFF00"/>
              </a:solidFill>
            </a:endParaRPr>
          </a:p>
          <a:p>
            <a:r>
              <a:rPr lang="en-US" altLang="zh-CN" sz="2400" dirty="0" smtClean="0"/>
              <a:t>        </a:t>
            </a:r>
            <a:r>
              <a:rPr lang="zh-CN" altLang="en-US" sz="2400" dirty="0" smtClean="0"/>
              <a:t>轰动一时的</a:t>
            </a:r>
            <a:r>
              <a:rPr lang="zh-CN" altLang="en-US" sz="2400" dirty="0" smtClean="0">
                <a:hlinkClick r:id="rId3"/>
              </a:rPr>
              <a:t>古悟空寺</a:t>
            </a:r>
            <a:r>
              <a:rPr lang="zh-CN" altLang="en-US" sz="2400" dirty="0" smtClean="0"/>
              <a:t>观音化身“</a:t>
            </a:r>
            <a:r>
              <a:rPr lang="zh-CN" altLang="en-US" sz="2400" dirty="0" smtClean="0">
                <a:hlinkClick r:id="rId4"/>
              </a:rPr>
              <a:t>泗州大圣</a:t>
            </a:r>
            <a:r>
              <a:rPr lang="zh-CN" altLang="en-US" sz="2400" dirty="0" smtClean="0"/>
              <a:t>”</a:t>
            </a:r>
            <a:r>
              <a:rPr lang="zh-CN" altLang="en-US" sz="2400" dirty="0" smtClean="0">
                <a:hlinkClick r:id="rId5"/>
              </a:rPr>
              <a:t>舍利子</a:t>
            </a:r>
            <a:r>
              <a:rPr lang="zh-CN" altLang="en-US" sz="2400" dirty="0" smtClean="0"/>
              <a:t>首次在</a:t>
            </a:r>
            <a:r>
              <a:rPr lang="zh-CN" altLang="en-US" sz="2400" dirty="0" smtClean="0">
                <a:hlinkClick r:id="rId6"/>
              </a:rPr>
              <a:t>江阴</a:t>
            </a:r>
            <a:r>
              <a:rPr lang="zh-CN" altLang="en-US" sz="2400" dirty="0" smtClean="0"/>
              <a:t>现世，中国佛教协会会长</a:t>
            </a:r>
            <a:r>
              <a:rPr lang="zh-CN" altLang="en-US" sz="2400" dirty="0" smtClean="0">
                <a:hlinkClick r:id="rId7"/>
              </a:rPr>
              <a:t>一诚大和尚</a:t>
            </a:r>
            <a:r>
              <a:rPr lang="zh-CN" altLang="en-US" sz="2400" dirty="0" smtClean="0"/>
              <a:t>盛赞此事为“国泰民安的吉兆”。“泗州大圣”舍利是此前在江阴青阳千年古塔的</a:t>
            </a:r>
            <a:r>
              <a:rPr lang="zh-CN" altLang="en-US" sz="2400" dirty="0" smtClean="0">
                <a:hlinkClick r:id="rId8"/>
              </a:rPr>
              <a:t>地宫</a:t>
            </a:r>
            <a:r>
              <a:rPr lang="zh-CN" altLang="en-US" sz="2400" dirty="0" smtClean="0"/>
              <a:t>内发掘出土的，舍利属于“泗州大圣”</a:t>
            </a:r>
            <a:r>
              <a:rPr lang="zh-CN" altLang="en-US" sz="2400" dirty="0" smtClean="0">
                <a:hlinkClick r:id="rId9"/>
              </a:rPr>
              <a:t>僧伽</a:t>
            </a:r>
            <a:r>
              <a:rPr lang="zh-CN" altLang="en-US" sz="2400" dirty="0" smtClean="0"/>
              <a:t>大师。大师为唐朝初年西域人，在佛教界被奉为观音菩萨化身，享有极高声誉。</a:t>
            </a:r>
          </a:p>
          <a:p>
            <a:r>
              <a:rPr lang="zh-CN" altLang="en-US" sz="2400" dirty="0" smtClean="0"/>
              <a:t>         现存在中国大地有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处：江苏</a:t>
            </a:r>
            <a:r>
              <a:rPr lang="zh-CN" altLang="en-US" sz="2400" dirty="0" smtClean="0">
                <a:hlinkClick r:id="rId10"/>
              </a:rPr>
              <a:t>高邮</a:t>
            </a:r>
            <a:r>
              <a:rPr lang="zh-CN" altLang="en-US" sz="2400" dirty="0" smtClean="0"/>
              <a:t>、、江苏</a:t>
            </a:r>
            <a:r>
              <a:rPr lang="zh-CN" altLang="en-US" sz="2400" u="sng" dirty="0" smtClean="0">
                <a:solidFill>
                  <a:srgbClr val="FFC000"/>
                </a:solidFill>
              </a:rPr>
              <a:t>江阴</a:t>
            </a:r>
            <a:r>
              <a:rPr lang="zh-CN" altLang="en-US" sz="2400" dirty="0" smtClean="0"/>
              <a:t>、河北</a:t>
            </a:r>
            <a:r>
              <a:rPr lang="zh-CN" altLang="en-US" sz="2400" dirty="0" smtClean="0">
                <a:hlinkClick r:id="rId11"/>
              </a:rPr>
              <a:t>涞水</a:t>
            </a:r>
            <a:r>
              <a:rPr lang="zh-CN" altLang="en-US" sz="2400" dirty="0" smtClean="0"/>
              <a:t>、陕西</a:t>
            </a:r>
            <a:r>
              <a:rPr lang="zh-CN" altLang="en-US" sz="2400" dirty="0" smtClean="0">
                <a:hlinkClick r:id="rId12"/>
              </a:rPr>
              <a:t>旬邑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pic>
        <p:nvPicPr>
          <p:cNvPr id="4" name="图片 3" descr="2b38e7f666074e3c9fc4d2073ee31ca8_C_1600_1200_Mtg_7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158" y="3929066"/>
            <a:ext cx="3429023" cy="2687762"/>
          </a:xfrm>
          <a:prstGeom prst="rect">
            <a:avLst/>
          </a:prstGeom>
        </p:spPr>
      </p:pic>
      <p:pic>
        <p:nvPicPr>
          <p:cNvPr id="5" name="图片 4" descr="CggYHVaPYpeABgUKABPenPzN_9U208_R_1600_10000_Mtg_7.jp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286248" y="3571876"/>
            <a:ext cx="4429124" cy="3071834"/>
          </a:xfrm>
          <a:prstGeom prst="rect">
            <a:avLst/>
          </a:prstGeom>
        </p:spPr>
      </p:pic>
    </p:spTree>
  </p:cSld>
  <p:clrMapOvr>
    <a:masterClrMapping/>
  </p:clrMapOvr>
  <p:transition>
    <p:wheel spokes="2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4290"/>
            <a:ext cx="91440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FF00"/>
                </a:solidFill>
              </a:rPr>
              <a:t>   徐霞客故居</a:t>
            </a:r>
            <a:endParaRPr lang="en-US" altLang="zh-CN" sz="3200" dirty="0" smtClean="0">
              <a:solidFill>
                <a:srgbClr val="FFFF00"/>
              </a:solidFill>
            </a:endParaRPr>
          </a:p>
          <a:p>
            <a:r>
              <a:rPr lang="zh-CN" altLang="en-US" sz="2800" dirty="0" smtClean="0"/>
              <a:t>         徐霞客故居在</a:t>
            </a:r>
            <a:r>
              <a:rPr lang="zh-CN" altLang="en-US" sz="2800" dirty="0" smtClean="0">
                <a:hlinkClick r:id="rId3"/>
              </a:rPr>
              <a:t>江阴</a:t>
            </a:r>
            <a:r>
              <a:rPr lang="zh-CN" altLang="en-US" sz="2800" dirty="0" smtClean="0">
                <a:hlinkClick r:id="rId4"/>
              </a:rPr>
              <a:t>马镇</a:t>
            </a:r>
            <a:r>
              <a:rPr lang="zh-CN" altLang="en-US" sz="2800" dirty="0" smtClean="0"/>
              <a:t>南岐村（为纪念伟人，马镇已改名为“</a:t>
            </a:r>
            <a:r>
              <a:rPr lang="zh-CN" altLang="en-US" sz="2800" dirty="0" smtClean="0">
                <a:hlinkClick r:id="rId5"/>
              </a:rPr>
              <a:t>徐霞客镇</a:t>
            </a:r>
            <a:r>
              <a:rPr lang="zh-CN" altLang="en-US" sz="2800" dirty="0" smtClean="0"/>
              <a:t>”）。明末遭兵燹，清顺治年间徐之侄孙徐君铨重建。</a:t>
            </a:r>
          </a:p>
          <a:p>
            <a:r>
              <a:rPr lang="zh-CN" altLang="en-US" sz="2800" dirty="0" smtClean="0"/>
              <a:t>        至</a:t>
            </a:r>
            <a:r>
              <a:rPr lang="en-US" altLang="zh-CN" sz="2800" dirty="0" smtClean="0"/>
              <a:t>1984</a:t>
            </a:r>
            <a:r>
              <a:rPr lang="zh-CN" altLang="en-US" sz="2800" dirty="0" smtClean="0"/>
              <a:t>年，仅存面阔七间二进瓦房，</a:t>
            </a:r>
            <a:r>
              <a:rPr lang="en-US" altLang="zh-CN" sz="2800" dirty="0" smtClean="0"/>
              <a:t>1985</a:t>
            </a:r>
            <a:r>
              <a:rPr lang="zh-CN" altLang="en-US" sz="2800" dirty="0" smtClean="0"/>
              <a:t>年，政府拨款大修。故居为明式建筑，门庭挂有</a:t>
            </a:r>
            <a:r>
              <a:rPr lang="zh-CN" altLang="en-US" sz="2800" dirty="0" smtClean="0">
                <a:hlinkClick r:id="rId6"/>
              </a:rPr>
              <a:t>陆定一</a:t>
            </a:r>
            <a:r>
              <a:rPr lang="zh-CN" altLang="en-US" sz="2800" dirty="0" smtClean="0"/>
              <a:t>同志题写的“徐霞客故居”</a:t>
            </a:r>
            <a:r>
              <a:rPr lang="zh-CN" altLang="en-US" sz="2800" dirty="0" smtClean="0">
                <a:hlinkClick r:id="rId7"/>
              </a:rPr>
              <a:t>匾额</a:t>
            </a:r>
            <a:r>
              <a:rPr lang="zh-CN" altLang="en-US" sz="2800" dirty="0" smtClean="0"/>
              <a:t>，展厅内展出有徐霞客传略，旅行路线图和他科学探索经过地区的图片资料，</a:t>
            </a:r>
            <a:r>
              <a:rPr lang="zh-CN" altLang="en-US" sz="2800" dirty="0" smtClean="0">
                <a:hlinkClick r:id="rId8"/>
              </a:rPr>
              <a:t>岩溶</a:t>
            </a:r>
            <a:r>
              <a:rPr lang="zh-CN" altLang="en-US" sz="2800" dirty="0" smtClean="0"/>
              <a:t>标本等，在天井右侧还有徐霞客亲手移栽的</a:t>
            </a:r>
            <a:r>
              <a:rPr lang="zh-CN" altLang="en-US" sz="2800" dirty="0" smtClean="0">
                <a:hlinkClick r:id="rId9"/>
              </a:rPr>
              <a:t>罗汉松</a:t>
            </a:r>
            <a:r>
              <a:rPr lang="zh-CN" altLang="en-US" sz="2800" dirty="0" smtClean="0"/>
              <a:t>、距今已有</a:t>
            </a:r>
            <a:r>
              <a:rPr lang="en-US" altLang="zh-CN" sz="2800" dirty="0" smtClean="0"/>
              <a:t>400</a:t>
            </a:r>
            <a:r>
              <a:rPr lang="zh-CN" altLang="en-US" sz="2800" dirty="0" smtClean="0"/>
              <a:t>多年历史。</a:t>
            </a:r>
            <a:endParaRPr lang="zh-CN" altLang="en-US" sz="2800" dirty="0"/>
          </a:p>
        </p:txBody>
      </p:sp>
      <p:pic>
        <p:nvPicPr>
          <p:cNvPr id="3" name="图片 2" descr="CggYtFc3PfSAMmDAAAGp_JnYthA917_C_1600_1200_Mtg_7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90" y="4214818"/>
            <a:ext cx="3357554" cy="2643182"/>
          </a:xfrm>
          <a:prstGeom prst="rect">
            <a:avLst/>
          </a:prstGeom>
        </p:spPr>
      </p:pic>
      <p:pic>
        <p:nvPicPr>
          <p:cNvPr id="4" name="图片 3" descr="CggYs1c3PhGADMKuAAF3q9jVvag818_R_10000_1200_Mtg_7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571604" y="4214818"/>
            <a:ext cx="2357454" cy="2643182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6050" y="2428868"/>
            <a:ext cx="4000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/>
              <a:t>谢谢！</a:t>
            </a:r>
            <a:endParaRPr lang="zh-CN" altLang="en-US" sz="9600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Words>1145</Words>
  <Application>Microsoft Office PowerPoint</Application>
  <PresentationFormat>全屏显示(4:3)</PresentationFormat>
  <Paragraphs>36</Paragraphs>
  <Slides>11</Slides>
  <Notes>0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凤舞九天</vt:lpstr>
      <vt:lpstr>我的家乡在江阴</vt:lpstr>
      <vt:lpstr>历史沿革</vt:lpstr>
      <vt:lpstr>忠义之邦</vt:lpstr>
      <vt:lpstr>行政区划</vt:lpstr>
      <vt:lpstr>地理环境</vt:lpstr>
      <vt:lpstr>幻灯片 6</vt:lpstr>
      <vt:lpstr>交通概况</vt:lpstr>
      <vt:lpstr>景区风光</vt:lpstr>
      <vt:lpstr>幻灯片 9</vt:lpstr>
      <vt:lpstr>幻灯片 10</vt:lpstr>
      <vt:lpstr>幻灯片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我的家乡在江阴</dc:title>
  <dc:creator>admin</dc:creator>
  <cp:lastModifiedBy>admin</cp:lastModifiedBy>
  <cp:revision>33</cp:revision>
  <dcterms:created xsi:type="dcterms:W3CDTF">2017-10-04T05:19:03Z</dcterms:created>
  <dcterms:modified xsi:type="dcterms:W3CDTF">2017-10-05T04:26:25Z</dcterms:modified>
</cp:coreProperties>
</file>
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9" r:id="rId4"/>
    <p:sldId id="258" r:id="rId6"/>
    <p:sldId id="265" r:id="rId7"/>
    <p:sldId id="262" r:id="rId8"/>
    <p:sldId id="260" r:id="rId9"/>
    <p:sldId id="273" r:id="rId10"/>
    <p:sldId id="261" r:id="rId11"/>
    <p:sldId id="275" r:id="rId12"/>
    <p:sldId id="276" r:id="rId13"/>
    <p:sldId id="278" r:id="rId14"/>
    <p:sldId id="279" r:id="rId15"/>
    <p:sldId id="271" r:id="rId16"/>
    <p:sldId id="27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3275FF"/>
    <a:srgbClr val="0F75FF"/>
    <a:srgbClr val="0F75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3F0F0-FCD2-4027-A3F5-BF306A6AB3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3F0F0-FCD2-4027-A3F5-BF306A6AB3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3F0F0-FCD2-4027-A3F5-BF306A6AB3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3F0F0-FCD2-4027-A3F5-BF306A6AB3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3F0F0-FCD2-4027-A3F5-BF306A6AB3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3F0F0-FCD2-4027-A3F5-BF306A6AB3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3F0F0-FCD2-4027-A3F5-BF306A6AB3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3F0F0-FCD2-4027-A3F5-BF306A6AB3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3F0F0-FCD2-4027-A3F5-BF306A6AB3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3F0F0-FCD2-4027-A3F5-BF306A6AB3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3F0F0-FCD2-4027-A3F5-BF306A6AB3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3F0F0-FCD2-4027-A3F5-BF306A6AB3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33F0F0-FCD2-4027-A3F5-BF306A6AB3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05075"/>
            <a:ext cx="9144000" cy="1714499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91038"/>
            <a:ext cx="9144000" cy="550862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90CC3-C36C-410B-83C7-418396C800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73D9-2CB8-4D79-9A41-8B972051E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90CC3-C36C-410B-83C7-418396C800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73D9-2CB8-4D79-9A41-8B972051E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4" y="2809876"/>
            <a:ext cx="7867651" cy="1257300"/>
          </a:xfrm>
        </p:spPr>
        <p:txBody>
          <a:bodyPr wrap="square" anchor="ctr">
            <a:normAutofit/>
          </a:bodyPr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4" y="4141788"/>
            <a:ext cx="7854952" cy="1500187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fld id="{D2690CC3-C36C-410B-83C7-418396C800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E6AA73D9-2CB8-4D79-9A41-8B972051E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346200"/>
            <a:ext cx="5181600" cy="48307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346200"/>
            <a:ext cx="5181600" cy="48307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90CC3-C36C-410B-83C7-418396C800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73D9-2CB8-4D79-9A41-8B972051E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351979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175890"/>
            <a:ext cx="5157787" cy="396887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351979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175890"/>
            <a:ext cx="5183188" cy="396887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90CC3-C36C-410B-83C7-418396C800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73D9-2CB8-4D79-9A41-8B972051E09F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0F75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350357" y="3422312"/>
            <a:ext cx="1300767" cy="2310273"/>
            <a:chOff x="9394535" y="3422312"/>
            <a:chExt cx="1300767" cy="2310273"/>
          </a:xfrm>
        </p:grpSpPr>
        <p:sp>
          <p:nvSpPr>
            <p:cNvPr id="7" name="弧形 6"/>
            <p:cNvSpPr/>
            <p:nvPr/>
          </p:nvSpPr>
          <p:spPr>
            <a:xfrm>
              <a:off x="9394535" y="3422312"/>
              <a:ext cx="1300767" cy="1300767"/>
            </a:xfrm>
            <a:prstGeom prst="arc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10695302" y="4072695"/>
              <a:ext cx="0" cy="165989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 flipV="1">
            <a:off x="1509126" y="3429000"/>
            <a:ext cx="1300767" cy="2303585"/>
            <a:chOff x="1509577" y="1125415"/>
            <a:chExt cx="1300767" cy="2303585"/>
          </a:xfrm>
        </p:grpSpPr>
        <p:sp>
          <p:nvSpPr>
            <p:cNvPr id="10" name="弧形 9"/>
            <p:cNvSpPr/>
            <p:nvPr/>
          </p:nvSpPr>
          <p:spPr>
            <a:xfrm rot="10800000">
              <a:off x="1509577" y="2128233"/>
              <a:ext cx="1300767" cy="1300767"/>
            </a:xfrm>
            <a:prstGeom prst="arc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/>
            <p:cNvCxnSpPr>
              <a:endCxn id="10" idx="2"/>
            </p:cNvCxnSpPr>
            <p:nvPr/>
          </p:nvCxnSpPr>
          <p:spPr>
            <a:xfrm>
              <a:off x="1509577" y="1125415"/>
              <a:ext cx="0" cy="1653201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圆角矩形 11"/>
          <p:cNvSpPr/>
          <p:nvPr/>
        </p:nvSpPr>
        <p:spPr>
          <a:xfrm>
            <a:off x="2199291" y="2785304"/>
            <a:ext cx="7761668" cy="1287392"/>
          </a:xfrm>
          <a:prstGeom prst="roundRect">
            <a:avLst>
              <a:gd name="adj" fmla="val 34667"/>
            </a:avLst>
          </a:prstGeom>
          <a:solidFill>
            <a:schemeClr val="accent2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7200" b="1" dirty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5732585"/>
            <a:ext cx="12192000" cy="1125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99290" y="2805235"/>
            <a:ext cx="7761669" cy="1274149"/>
          </a:xfrm>
        </p:spPr>
        <p:txBody>
          <a:bodyPr>
            <a:normAutofit/>
          </a:bodyPr>
          <a:lstStyle>
            <a:lvl1pPr algn="ctr">
              <a:defRPr sz="72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D2690CC3-C36C-410B-83C7-418396C800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6AA73D9-2CB8-4D79-9A41-8B972051E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0F75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90CC3-C36C-410B-83C7-418396C800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73D9-2CB8-4D79-9A41-8B972051E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54600" y="233679"/>
            <a:ext cx="9057982" cy="957811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24209" y="1330960"/>
            <a:ext cx="8143582" cy="40734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554600" y="5556136"/>
            <a:ext cx="9082800" cy="5976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rgbClr val="0F75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65672" y="365125"/>
            <a:ext cx="1988127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8222673" cy="5811838"/>
          </a:xfrm>
        </p:spPr>
        <p:txBody>
          <a:bodyPr vert="eaVert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90CC3-C36C-410B-83C7-418396C800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73D9-2CB8-4D79-9A41-8B972051E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0F75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29067"/>
            <a:ext cx="10515600" cy="557509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8200" y="1329267"/>
            <a:ext cx="10515600" cy="484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D2690CC3-C36C-410B-83C7-418396C800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6AA73D9-2CB8-4D79-9A41-8B972051E09F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1044302" y="4613"/>
            <a:ext cx="10309498" cy="1126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000">
        <p:fade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60045" indent="-360045" algn="just" defTabSz="914400" rtl="0" eaLnBrk="1" latinLnBrk="0" hangingPunct="1">
        <a:lnSpc>
          <a:spcPct val="130000"/>
        </a:lnSpc>
        <a:spcBef>
          <a:spcPts val="1200"/>
        </a:spcBef>
        <a:buSzPct val="80000"/>
        <a:buFont typeface="Wingdings" panose="05000000000000000000" pitchFamily="2" charset="2"/>
        <a:buChar char="m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02945" indent="-342900" algn="just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Relationship Id="rId3" Type="http://schemas.openxmlformats.org/officeDocument/2006/relationships/image" Target="../media/image4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slide" Target="slide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slide" Target="slide6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Relationship Id="rId3" Type="http://schemas.openxmlformats.org/officeDocument/2006/relationships/image" Target="../media/image5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40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9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711450" y="2538730"/>
            <a:ext cx="5400675" cy="1348105"/>
          </a:xfrm>
        </p:spPr>
        <p:txBody>
          <a:bodyPr/>
          <a:p>
            <a:r>
              <a:rPr lang="en-US" altLang="zh-CN" dirty="0"/>
              <a:t>WINDOWS XP</a:t>
            </a:r>
            <a:endParaRPr lang="en-US" altLang="zh-CN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74825" y="3629660"/>
            <a:ext cx="6663055" cy="990600"/>
          </a:xfrm>
          <a:noFill/>
          <a:ln w="28575" cmpd="dbl">
            <a:noFill/>
            <a:prstDash val="sysDot"/>
          </a:ln>
        </p:spPr>
        <p:txBody>
          <a:bodyPr>
            <a:noAutofit/>
          </a:bodyPr>
          <a:p>
            <a:r>
              <a:rPr lang="en-US" altLang="zh-CN" sz="3200" dirty="0">
                <a:solidFill>
                  <a:schemeClr val="accent1"/>
                </a:solidFill>
                <a:effectLst>
                  <a:glow rad="127000">
                    <a:srgbClr val="FFFF00"/>
                  </a:glow>
                </a:effectLst>
              </a:rPr>
              <a:t> </a:t>
            </a:r>
            <a:r>
              <a:rPr lang="en-US" altLang="zh-CN" sz="3200" dirty="0">
                <a:solidFill>
                  <a:schemeClr val="accent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 		   DREAM</a:t>
            </a:r>
            <a:endParaRPr lang="en-US" altLang="zh-CN" sz="3200" dirty="0">
              <a:solidFill>
                <a:schemeClr val="accent1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165" y="3804285"/>
            <a:ext cx="1397635" cy="4502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74380" y="2538730"/>
            <a:ext cx="3199130" cy="208216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algn="l"/>
            <a:r>
              <a:rPr lang="en-US" altLang="zh-CN" sz="1400"/>
              <a:t>Microsoft Windows XP </a:t>
            </a:r>
            <a:endParaRPr lang="en-US" altLang="zh-CN" sz="1400"/>
          </a:p>
          <a:p>
            <a:pPr algn="l"/>
            <a:endParaRPr lang="en-US" altLang="zh-CN" sz="1400"/>
          </a:p>
          <a:p>
            <a:pPr algn="l"/>
            <a:r>
              <a:rPr lang="en-US" altLang="zh-CN" sz="1400"/>
              <a:t>C:\&gt;MADE BY THAT BOY</a:t>
            </a:r>
            <a:endParaRPr lang="en-US" altLang="zh-CN" sz="1400"/>
          </a:p>
          <a:p>
            <a:pPr algn="l"/>
            <a:r>
              <a:rPr lang="en-US" altLang="zh-CN" sz="1400"/>
              <a:t>“MADE BY THAT BOY” is not </a:t>
            </a:r>
            <a:endParaRPr lang="en-US" altLang="zh-CN" sz="1400"/>
          </a:p>
          <a:p>
            <a:pPr algn="l"/>
            <a:r>
              <a:rPr lang="en-US" altLang="zh-CN" sz="1400"/>
              <a:t>recognized  as an internal or  </a:t>
            </a:r>
            <a:endParaRPr lang="en-US" altLang="zh-CN" sz="1400"/>
          </a:p>
          <a:p>
            <a:pPr algn="l"/>
            <a:r>
              <a:rPr lang="en-US" altLang="zh-CN" sz="1400"/>
              <a:t>external  </a:t>
            </a:r>
            <a:r>
              <a:rPr lang="en-US" altLang="zh-CN" sz="1400">
                <a:sym typeface="+mn-ea"/>
              </a:rPr>
              <a:t>command</a:t>
            </a:r>
            <a:r>
              <a:rPr lang="en-US" altLang="zh-CN" sz="1400"/>
              <a:t>,operable </a:t>
            </a:r>
            <a:endParaRPr lang="en-US" altLang="zh-CN" sz="1400"/>
          </a:p>
          <a:p>
            <a:pPr algn="l"/>
            <a:r>
              <a:rPr lang="en-US" altLang="zh-CN" sz="1400"/>
              <a:t>program or batch file</a:t>
            </a:r>
            <a:endParaRPr lang="en-US" altLang="zh-CN" sz="1400"/>
          </a:p>
          <a:p>
            <a:pPr algn="l"/>
            <a:endParaRPr lang="en-US" altLang="zh-CN" sz="1400"/>
          </a:p>
        </p:txBody>
      </p:sp>
      <p:sp>
        <p:nvSpPr>
          <p:cNvPr id="8" name="文本框 7"/>
          <p:cNvSpPr txBox="1"/>
          <p:nvPr/>
        </p:nvSpPr>
        <p:spPr>
          <a:xfrm>
            <a:off x="3828415" y="3737610"/>
            <a:ext cx="1559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chemeClr val="accent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D</a:t>
            </a:r>
            <a:r>
              <a:rPr lang="en-US" altLang="zh-CN" sz="3200" dirty="0">
                <a:solidFill>
                  <a:schemeClr val="accent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sym typeface="+mn-ea"/>
              </a:rPr>
              <a:t>YI</a:t>
            </a:r>
            <a:r>
              <a:rPr lang="en-US" altLang="zh-CN" sz="3200" dirty="0">
                <a:solidFill>
                  <a:schemeClr val="accent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NG</a:t>
            </a:r>
            <a:endParaRPr lang="en-US" altLang="zh-CN" sz="3200" dirty="0">
              <a:solidFill>
                <a:schemeClr val="accent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7640" y="605028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>
                <a:solidFill>
                  <a:srgbClr val="3275FF"/>
                </a:solidFill>
                <a:latin typeface="楷体_GB2312" panose="02010609030101010101" charset="-122"/>
                <a:ea typeface="楷体_GB2312" panose="02010609030101010101" charset="-122"/>
                <a:sym typeface="+mn-ea"/>
              </a:rPr>
              <a:t>这是一个正经的</a:t>
            </a:r>
            <a:r>
              <a:rPr lang="en-US" altLang="zh-CN" sz="2400" b="1">
                <a:solidFill>
                  <a:srgbClr val="3275FF"/>
                </a:solidFill>
                <a:latin typeface="楷体_GB2312" panose="02010609030101010101" charset="-122"/>
                <a:ea typeface="楷体_GB2312" panose="02010609030101010101" charset="-122"/>
                <a:sym typeface="+mn-ea"/>
              </a:rPr>
              <a:t>PPT</a:t>
            </a:r>
            <a:endParaRPr lang="en-US" altLang="zh-CN" sz="2400" b="1">
              <a:solidFill>
                <a:srgbClr val="3275FF"/>
              </a:solidFill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27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xit" presetSubtype="0" fill="hold" grpId="4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2000" evtFilter="0,0; .5, 0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/>
      <p:bldP spid="8" grpId="2"/>
      <p:bldP spid="8" grpId="3"/>
      <p:bldP spid="8" grpId="4"/>
      <p:bldP spid="8" grpId="5"/>
      <p:bldP spid="8" grpId="6"/>
      <p:bldP spid="8" grpId="7"/>
      <p:bldP spid="8" grpId="8"/>
      <p:bldP spid="8" grpId="9"/>
      <p:bldP spid="8" grpId="10"/>
      <p:bldP spid="8" grpId="11"/>
      <p:bldP spid="8" grpId="12"/>
      <p:bldP spid="8" grpId="13"/>
      <p:bldP spid="8" grpId="14"/>
      <p:bldP spid="8" grpId="15"/>
      <p:bldP spid="8" grpId="16"/>
      <p:bldP spid="8" grpId="17"/>
      <p:bldP spid="8" grpId="18"/>
      <p:bldP spid="8" grpId="19"/>
      <p:bldP spid="8" grpId="20"/>
      <p:bldP spid="8" grpId="21"/>
      <p:bldP spid="8" grpId="22"/>
      <p:bldP spid="8" grpId="23"/>
      <p:bldP spid="8" grpId="24"/>
      <p:bldP spid="8" grpId="25"/>
      <p:bldP spid="8" grpId="26"/>
      <p:bldP spid="8" grpId="27"/>
      <p:bldP spid="8" grpId="28"/>
      <p:bldP spid="8" grpId="29"/>
      <p:bldP spid="8" grpId="30"/>
      <p:bldP spid="8" grpId="31"/>
      <p:bldP spid="8" grpId="32"/>
      <p:bldP spid="8" grpId="33"/>
      <p:bldP spid="8" grpId="34"/>
      <p:bldP spid="8" grpId="35"/>
      <p:bldP spid="8" grpId="36"/>
      <p:bldP spid="8" grpId="37"/>
      <p:bldP spid="8" grpId="38"/>
      <p:bldP spid="8" grpId="39"/>
      <p:bldP spid="8" grpId="40"/>
      <p:bldP spid="8" grpId="41"/>
      <p:bldP spid="8" grpId="42"/>
      <p:bldP spid="4" grpId="0"/>
      <p:bldP spid="4" grpId="1"/>
      <p:bldP spid="4" grpId="2"/>
      <p:bldP spid="4" grpId="3"/>
      <p:bldP spid="4" grpId="4"/>
      <p:bldP spid="4" grpId="5"/>
      <p:bldP spid="4" grpId="6"/>
      <p:bldP spid="4" grpId="7"/>
      <p:bldP spid="4" grpId="8"/>
      <p:bldP spid="4" grpId="9"/>
      <p:bldP spid="4" grpId="10"/>
      <p:bldP spid="4" grpId="11"/>
      <p:bldP spid="4" grpId="12"/>
      <p:bldP spid="4" grpId="13"/>
      <p:bldP spid="4" grpId="14"/>
      <p:bldP spid="4" grpId="15"/>
      <p:bldP spid="4" grpId="16"/>
      <p:bldP spid="4" grpId="17"/>
      <p:bldP spid="4" grpId="18"/>
      <p:bldP spid="4" grpId="19"/>
      <p:bldP spid="4" grpId="20"/>
      <p:bldP spid="4" grpId="21"/>
      <p:bldP spid="4" grpId="22"/>
      <p:bldP spid="4" grpId="23"/>
      <p:bldP spid="4" grpId="24"/>
      <p:bldP spid="4" grpId="25"/>
      <p:bldP spid="4" grpId="26"/>
      <p:bldP spid="7" grpId="0"/>
      <p:bldP spid="7" grpId="1"/>
      <p:bldP spid="7" grpId="2"/>
      <p:bldP spid="7" grpId="3"/>
      <p:bldP spid="7" grpId="4"/>
      <p:bldP spid="7" grpId="5"/>
      <p:bldP spid="4" grpId="27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弧形 4"/>
          <p:cNvSpPr/>
          <p:nvPr>
            <p:custDataLst>
              <p:tags r:id="rId1"/>
            </p:custDataLst>
          </p:nvPr>
        </p:nvSpPr>
        <p:spPr>
          <a:xfrm rot="16200000">
            <a:off x="1509578" y="1003988"/>
            <a:ext cx="1300767" cy="1300767"/>
          </a:xfrm>
          <a:prstGeom prst="arc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>
            <p:custDataLst>
              <p:tags r:id="rId2"/>
            </p:custDataLst>
          </p:nvPr>
        </p:nvCxnSpPr>
        <p:spPr>
          <a:xfrm>
            <a:off x="1509578" y="1637861"/>
            <a:ext cx="0" cy="5203629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3"/>
            </p:custDataLst>
          </p:nvPr>
        </p:nvCxnSpPr>
        <p:spPr>
          <a:xfrm>
            <a:off x="2147081" y="1003987"/>
            <a:ext cx="7897839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 rot="5400000">
            <a:off x="9394535" y="-296780"/>
            <a:ext cx="1300767" cy="1300767"/>
          </a:xfrm>
          <a:prstGeom prst="arc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10695302" y="0"/>
            <a:ext cx="0" cy="360608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>
            <p:custDataLst>
              <p:tags r:id="rId6"/>
            </p:custDataLst>
          </p:nvPr>
        </p:nvSpPr>
        <p:spPr>
          <a:xfrm>
            <a:off x="3417194" y="559666"/>
            <a:ext cx="5357612" cy="888642"/>
          </a:xfrm>
          <a:prstGeom prst="roundRect">
            <a:avLst>
              <a:gd name="adj" fmla="val 34667"/>
            </a:avLst>
          </a:prstGeom>
          <a:solidFill>
            <a:schemeClr val="accent2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/>
            <a:r>
              <a:rPr lang="en-US" altLang="zh-CN" sz="4400" b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Windows XP</a:t>
            </a:r>
            <a:endParaRPr lang="en-US" altLang="zh-CN" sz="4400" b="1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" name="组合 3"/>
          <p:cNvGrpSpPr/>
          <p:nvPr>
            <p:custDataLst>
              <p:tags r:id="rId7"/>
            </p:custDataLst>
          </p:nvPr>
        </p:nvGrpSpPr>
        <p:grpSpPr>
          <a:xfrm rot="0">
            <a:off x="1310005" y="3151505"/>
            <a:ext cx="8327241" cy="621207"/>
            <a:chOff x="1309955" y="2995861"/>
            <a:chExt cx="7924969" cy="591344"/>
          </a:xfrm>
        </p:grpSpPr>
        <p:sp>
          <p:nvSpPr>
            <p:cNvPr id="8" name="圆角矩形 7">
              <a:hlinkClick r:id="rId8" action="ppaction://hlinksldjump"/>
            </p:cNvPr>
            <p:cNvSpPr/>
            <p:nvPr>
              <p:custDataLst>
                <p:tags r:id="rId9"/>
              </p:custDataLst>
            </p:nvPr>
          </p:nvSpPr>
          <p:spPr>
            <a:xfrm>
              <a:off x="2957076" y="2995861"/>
              <a:ext cx="6277848" cy="59134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p>
              <a:pPr algn="ctr"/>
              <a:r>
                <a:rPr lang="zh-CN" altLang="da-DK" sz="4400" dirty="0" smtClean="0">
                  <a:solidFill>
                    <a:srgbClr val="00B0F0"/>
                  </a:solidFill>
                  <a:latin typeface="华文行楷" panose="02010800040101010101" charset="-122"/>
                  <a:ea typeface="华文行楷" panose="02010800040101010101" charset="-122"/>
                </a:rPr>
                <a:t>生之时</a:t>
              </a:r>
              <a:endParaRPr lang="zh-CN" altLang="da-DK" sz="4400" dirty="0" smtClean="0">
                <a:solidFill>
                  <a:srgbClr val="00B0F0"/>
                </a:solidFill>
                <a:latin typeface="华文行楷" panose="02010800040101010101" charset="-122"/>
                <a:ea typeface="华文行楷" panose="02010800040101010101" charset="-122"/>
              </a:endParaRPr>
            </a:p>
          </p:txBody>
        </p:sp>
        <p:cxnSp>
          <p:nvCxnSpPr>
            <p:cNvPr id="12" name="直接连接符 11"/>
            <p:cNvCxnSpPr/>
            <p:nvPr>
              <p:custDataLst>
                <p:tags r:id="rId10"/>
              </p:custDataLst>
            </p:nvPr>
          </p:nvCxnSpPr>
          <p:spPr>
            <a:xfrm flipV="1">
              <a:off x="1709200" y="3291533"/>
              <a:ext cx="1247876" cy="1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>
              <p:custDataLst>
                <p:tags r:id="rId11"/>
              </p:custDataLst>
            </p:nvPr>
          </p:nvSpPr>
          <p:spPr>
            <a:xfrm>
              <a:off x="1309955" y="3091911"/>
              <a:ext cx="399245" cy="399245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p>
              <a:pPr algn="ctr"/>
              <a:r>
                <a:rPr lang="en-US" altLang="zh-CN" b="1" dirty="0" smtClean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 rot="0">
            <a:off x="1310005" y="4619448"/>
            <a:ext cx="8327241" cy="621207"/>
            <a:chOff x="1309955" y="4392861"/>
            <a:chExt cx="7924969" cy="591344"/>
          </a:xfrm>
        </p:grpSpPr>
        <p:sp>
          <p:nvSpPr>
            <p:cNvPr id="25" name="圆角矩形 24">
              <a:hlinkClick r:id="rId13" action="ppaction://hlinksldjump"/>
            </p:cNvPr>
            <p:cNvSpPr/>
            <p:nvPr>
              <p:custDataLst>
                <p:tags r:id="rId14"/>
              </p:custDataLst>
            </p:nvPr>
          </p:nvSpPr>
          <p:spPr>
            <a:xfrm>
              <a:off x="2957076" y="4392861"/>
              <a:ext cx="6277848" cy="59134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 fontScale="90000" lnSpcReduction="20000"/>
            </a:bodyPr>
            <a:p>
              <a:pPr algn="ctr"/>
              <a:r>
                <a:rPr lang="zh-CN" altLang="da-DK" sz="4400" dirty="0" smtClean="0">
                  <a:solidFill>
                    <a:srgbClr val="00B0F0"/>
                  </a:solidFill>
                  <a:latin typeface="华文行楷" panose="02010800040101010101" charset="-122"/>
                  <a:ea typeface="华文行楷" panose="02010800040101010101" charset="-122"/>
                </a:rPr>
                <a:t>死之钟</a:t>
              </a:r>
              <a:endParaRPr lang="zh-CN" altLang="da-DK" sz="4400" dirty="0" smtClean="0">
                <a:solidFill>
                  <a:schemeClr val="tx1"/>
                </a:solidFill>
                <a:latin typeface="华文行楷" panose="02010800040101010101" charset="-122"/>
                <a:ea typeface="华文行楷" panose="02010800040101010101" charset="-122"/>
              </a:endParaRPr>
            </a:p>
          </p:txBody>
        </p:sp>
        <p:cxnSp>
          <p:nvCxnSpPr>
            <p:cNvPr id="26" name="直接连接符 25"/>
            <p:cNvCxnSpPr/>
            <p:nvPr>
              <p:custDataLst>
                <p:tags r:id="rId15"/>
              </p:custDataLst>
            </p:nvPr>
          </p:nvCxnSpPr>
          <p:spPr>
            <a:xfrm flipV="1">
              <a:off x="1709200" y="4688533"/>
              <a:ext cx="1247876" cy="1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>
              <p:custDataLst>
                <p:tags r:id="rId16"/>
              </p:custDataLst>
            </p:nvPr>
          </p:nvSpPr>
          <p:spPr>
            <a:xfrm>
              <a:off x="1309955" y="4488911"/>
              <a:ext cx="399245" cy="399245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p>
              <a:pPr algn="ctr"/>
              <a:r>
                <a:rPr lang="en-US" altLang="zh-CN" b="1" dirty="0" smtClean="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隶书" panose="02010509060101010101" charset="-122"/>
                <a:ea typeface="隶书" panose="02010509060101010101" charset="-122"/>
              </a:rPr>
              <a:t>生之时</a:t>
            </a:r>
            <a:endParaRPr lang="zh-CN" altLang="en-US" dirty="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68630" y="1312545"/>
            <a:ext cx="8131175" cy="4864100"/>
          </a:xfrm>
        </p:spPr>
        <p:txBody>
          <a:bodyPr>
            <a:normAutofit lnSpcReduction="10000"/>
          </a:bodyPr>
          <a:lstStyle/>
          <a:p>
            <a:pPr algn="l">
              <a:buFont typeface="Wingdings" panose="05000000000000000000" charset="0"/>
              <a:buChar char=""/>
            </a:pPr>
            <a:r>
              <a:rPr lang="zh-CN" altLang="en-US" sz="2800" dirty="0" smtClean="0">
                <a:latin typeface="方正姚体" panose="02010601030101010101" charset="-122"/>
                <a:ea typeface="方正姚体" panose="02010601030101010101" charset="-122"/>
              </a:rPr>
              <a:t>Windows XP诞生于21世纪初，尽管距今已有16个春秋，但是XP的巨大影响力却超越了几乎所有的系统。</a:t>
            </a:r>
            <a:endParaRPr lang="zh-CN" altLang="en-US" sz="2800" dirty="0" smtClean="0">
              <a:latin typeface="方正姚体" panose="02010601030101010101" charset="-122"/>
              <a:ea typeface="方正姚体" panose="02010601030101010101" charset="-122"/>
            </a:endParaRPr>
          </a:p>
          <a:p>
            <a:pPr algn="l">
              <a:buFont typeface="Wingdings" panose="05000000000000000000" charset="0"/>
              <a:buChar char=""/>
            </a:pPr>
            <a:r>
              <a:rPr lang="zh-CN" altLang="en-US" sz="2800" dirty="0" smtClean="0">
                <a:latin typeface="方正姚体" panose="02010601030101010101" charset="-122"/>
                <a:ea typeface="方正姚体" panose="02010601030101010101" charset="-122"/>
              </a:rPr>
              <a:t>XP是人类历史上服务时间最长的操作系统，长达12年半（官方数据）。</a:t>
            </a:r>
            <a:endParaRPr lang="zh-CN" altLang="en-US" sz="2800" dirty="0" smtClean="0">
              <a:latin typeface="方正姚体" panose="02010601030101010101" charset="-122"/>
              <a:ea typeface="方正姚体" panose="02010601030101010101" charset="-122"/>
            </a:endParaRPr>
          </a:p>
          <a:p>
            <a:pPr algn="l">
              <a:buFont typeface="Wingdings" panose="05000000000000000000" charset="0"/>
              <a:buChar char=""/>
            </a:pPr>
            <a:r>
              <a:rPr lang="zh-CN" altLang="en-US" sz="2800" dirty="0" smtClean="0">
                <a:latin typeface="方正姚体" panose="02010601030101010101" charset="-122"/>
                <a:ea typeface="方正姚体" panose="02010601030101010101" charset="-122"/>
              </a:rPr>
              <a:t>XP将Windows 2000出现的大量问题留在了20世纪，是中国第一批接触计算机的国民使用最广泛的系统。</a:t>
            </a:r>
            <a:endParaRPr lang="zh-CN" altLang="en-US" dirty="0" smtClean="0">
              <a:latin typeface="华文宋体" panose="02010600040101010101" charset="-122"/>
              <a:ea typeface="华文宋体" panose="02010600040101010101" charset="-122"/>
            </a:endParaRPr>
          </a:p>
          <a:p>
            <a:pPr marL="0" indent="0" algn="l">
              <a:buNone/>
            </a:pPr>
            <a:endParaRPr lang="en-US" altLang="zh-CN" dirty="0" smtClean="0"/>
          </a:p>
        </p:txBody>
      </p:sp>
      <p:grpSp>
        <p:nvGrpSpPr>
          <p:cNvPr id="5" name="组合 4"/>
          <p:cNvGrpSpPr/>
          <p:nvPr/>
        </p:nvGrpSpPr>
        <p:grpSpPr>
          <a:xfrm>
            <a:off x="8599805" y="1460500"/>
            <a:ext cx="3561080" cy="2787650"/>
            <a:chOff x="13153" y="2301"/>
            <a:chExt cx="5608" cy="439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43" y="2527"/>
              <a:ext cx="4029" cy="2660"/>
            </a:xfrm>
            <a:prstGeom prst="rect">
              <a:avLst/>
            </a:prstGeom>
          </p:spPr>
        </p:pic>
        <p:sp>
          <p:nvSpPr>
            <p:cNvPr id="2050" name="电脑"/>
            <p:cNvSpPr/>
            <p:nvPr/>
          </p:nvSpPr>
          <p:spPr bwMode="auto">
            <a:xfrm>
              <a:off x="13153" y="2301"/>
              <a:ext cx="5608" cy="4391"/>
            </a:xfrm>
            <a:custGeom>
              <a:avLst/>
              <a:gdLst>
                <a:gd name="T0" fmla="*/ 151004 w 5185"/>
                <a:gd name="T1" fmla="*/ 1065477 h 3880"/>
                <a:gd name="T2" fmla="*/ 1873403 w 5185"/>
                <a:gd name="T3" fmla="*/ 1297678 h 3880"/>
                <a:gd name="T4" fmla="*/ 751713 w 5185"/>
                <a:gd name="T5" fmla="*/ 1241832 h 3880"/>
                <a:gd name="T6" fmla="*/ 1108464 w 5185"/>
                <a:gd name="T7" fmla="*/ 1148144 h 3880"/>
                <a:gd name="T8" fmla="*/ 751713 w 5185"/>
                <a:gd name="T9" fmla="*/ 1241832 h 3880"/>
                <a:gd name="T10" fmla="*/ 1726808 w 5185"/>
                <a:gd name="T11" fmla="*/ 1012203 h 3880"/>
                <a:gd name="T12" fmla="*/ 1726073 w 5185"/>
                <a:gd name="T13" fmla="*/ 1007794 h 3880"/>
                <a:gd name="T14" fmla="*/ 1726808 w 5185"/>
                <a:gd name="T15" fmla="*/ 44089 h 3880"/>
                <a:gd name="T16" fmla="*/ 1726441 w 5185"/>
                <a:gd name="T17" fmla="*/ 39680 h 3880"/>
                <a:gd name="T18" fmla="*/ 1724604 w 5185"/>
                <a:gd name="T19" fmla="*/ 30862 h 3880"/>
                <a:gd name="T20" fmla="*/ 1721297 w 5185"/>
                <a:gd name="T21" fmla="*/ 23147 h 3880"/>
                <a:gd name="T22" fmla="*/ 1716888 w 5185"/>
                <a:gd name="T23" fmla="*/ 15798 h 3880"/>
                <a:gd name="T24" fmla="*/ 1711010 w 5185"/>
                <a:gd name="T25" fmla="*/ 9920 h 3880"/>
                <a:gd name="T26" fmla="*/ 1703662 w 5185"/>
                <a:gd name="T27" fmla="*/ 5144 h 3880"/>
                <a:gd name="T28" fmla="*/ 1695946 w 5185"/>
                <a:gd name="T29" fmla="*/ 1837 h 3880"/>
                <a:gd name="T30" fmla="*/ 1687128 w 5185"/>
                <a:gd name="T31" fmla="*/ 367 h 3880"/>
                <a:gd name="T32" fmla="*/ 222281 w 5185"/>
                <a:gd name="T33" fmla="*/ 0 h 3880"/>
                <a:gd name="T34" fmla="*/ 217872 w 5185"/>
                <a:gd name="T35" fmla="*/ 367 h 3880"/>
                <a:gd name="T36" fmla="*/ 209054 w 5185"/>
                <a:gd name="T37" fmla="*/ 1837 h 3880"/>
                <a:gd name="T38" fmla="*/ 201338 w 5185"/>
                <a:gd name="T39" fmla="*/ 5144 h 3880"/>
                <a:gd name="T40" fmla="*/ 194358 w 5185"/>
                <a:gd name="T41" fmla="*/ 9920 h 3880"/>
                <a:gd name="T42" fmla="*/ 188112 w 5185"/>
                <a:gd name="T43" fmla="*/ 15798 h 3880"/>
                <a:gd name="T44" fmla="*/ 183336 w 5185"/>
                <a:gd name="T45" fmla="*/ 23147 h 3880"/>
                <a:gd name="T46" fmla="*/ 180029 w 5185"/>
                <a:gd name="T47" fmla="*/ 30862 h 3880"/>
                <a:gd name="T48" fmla="*/ 178559 w 5185"/>
                <a:gd name="T49" fmla="*/ 39680 h 3880"/>
                <a:gd name="T50" fmla="*/ 178192 w 5185"/>
                <a:gd name="T51" fmla="*/ 1003386 h 3880"/>
                <a:gd name="T52" fmla="*/ 178559 w 5185"/>
                <a:gd name="T53" fmla="*/ 1007794 h 3880"/>
                <a:gd name="T54" fmla="*/ 178192 w 5185"/>
                <a:gd name="T55" fmla="*/ 1012203 h 3880"/>
                <a:gd name="T56" fmla="*/ 1727176 w 5185"/>
                <a:gd name="T57" fmla="*/ 1012571 h 3880"/>
                <a:gd name="T58" fmla="*/ 1616954 w 5185"/>
                <a:gd name="T59" fmla="*/ 937620 h 3880"/>
                <a:gd name="T60" fmla="*/ 288046 w 5185"/>
                <a:gd name="T61" fmla="*/ 109854 h 3880"/>
                <a:gd name="T62" fmla="*/ 1616954 w 5185"/>
                <a:gd name="T63" fmla="*/ 937620 h 3880"/>
                <a:gd name="T64" fmla="*/ 4409 w 5185"/>
                <a:gd name="T65" fmla="*/ 1350584 h 3880"/>
                <a:gd name="T66" fmla="*/ 0 w 5185"/>
                <a:gd name="T67" fmla="*/ 1359402 h 3880"/>
                <a:gd name="T68" fmla="*/ 735 w 5185"/>
                <a:gd name="T69" fmla="*/ 1369322 h 3880"/>
                <a:gd name="T70" fmla="*/ 3307 w 5185"/>
                <a:gd name="T71" fmla="*/ 1379977 h 3880"/>
                <a:gd name="T72" fmla="*/ 7348 w 5185"/>
                <a:gd name="T73" fmla="*/ 1390999 h 3880"/>
                <a:gd name="T74" fmla="*/ 13227 w 5185"/>
                <a:gd name="T75" fmla="*/ 1401654 h 3880"/>
                <a:gd name="T76" fmla="*/ 19473 w 5185"/>
                <a:gd name="T77" fmla="*/ 1411206 h 3880"/>
                <a:gd name="T78" fmla="*/ 26821 w 5185"/>
                <a:gd name="T79" fmla="*/ 1418554 h 3880"/>
                <a:gd name="T80" fmla="*/ 35271 w 5185"/>
                <a:gd name="T81" fmla="*/ 1423698 h 3880"/>
                <a:gd name="T82" fmla="*/ 41884 w 5185"/>
                <a:gd name="T83" fmla="*/ 1425168 h 3880"/>
                <a:gd name="T84" fmla="*/ 1860911 w 5185"/>
                <a:gd name="T85" fmla="*/ 1425535 h 3880"/>
                <a:gd name="T86" fmla="*/ 1863116 w 5185"/>
                <a:gd name="T87" fmla="*/ 1425168 h 3880"/>
                <a:gd name="T88" fmla="*/ 1869729 w 5185"/>
                <a:gd name="T89" fmla="*/ 1423698 h 3880"/>
                <a:gd name="T90" fmla="*/ 1878179 w 5185"/>
                <a:gd name="T91" fmla="*/ 1418554 h 3880"/>
                <a:gd name="T92" fmla="*/ 1885527 w 5185"/>
                <a:gd name="T93" fmla="*/ 1411206 h 3880"/>
                <a:gd name="T94" fmla="*/ 1892141 w 5185"/>
                <a:gd name="T95" fmla="*/ 1401654 h 3880"/>
                <a:gd name="T96" fmla="*/ 1897652 w 5185"/>
                <a:gd name="T97" fmla="*/ 1390999 h 3880"/>
                <a:gd name="T98" fmla="*/ 1901693 w 5185"/>
                <a:gd name="T99" fmla="*/ 1379977 h 3880"/>
                <a:gd name="T100" fmla="*/ 1903898 w 5185"/>
                <a:gd name="T101" fmla="*/ 1369322 h 3880"/>
                <a:gd name="T102" fmla="*/ 1905000 w 5185"/>
                <a:gd name="T103" fmla="*/ 1359402 h 388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185" h="3880">
                  <a:moveTo>
                    <a:pt x="4775" y="2900"/>
                  </a:moveTo>
                  <a:lnTo>
                    <a:pt x="411" y="2900"/>
                  </a:lnTo>
                  <a:lnTo>
                    <a:pt x="87" y="3532"/>
                  </a:lnTo>
                  <a:lnTo>
                    <a:pt x="5099" y="3532"/>
                  </a:lnTo>
                  <a:lnTo>
                    <a:pt x="4775" y="2900"/>
                  </a:lnTo>
                  <a:close/>
                  <a:moveTo>
                    <a:pt x="2046" y="3380"/>
                  </a:moveTo>
                  <a:lnTo>
                    <a:pt x="2181" y="3125"/>
                  </a:lnTo>
                  <a:lnTo>
                    <a:pt x="3017" y="3125"/>
                  </a:lnTo>
                  <a:lnTo>
                    <a:pt x="3139" y="3380"/>
                  </a:lnTo>
                  <a:lnTo>
                    <a:pt x="2046" y="3380"/>
                  </a:lnTo>
                  <a:close/>
                  <a:moveTo>
                    <a:pt x="4700" y="2755"/>
                  </a:moveTo>
                  <a:lnTo>
                    <a:pt x="4700" y="2755"/>
                  </a:lnTo>
                  <a:lnTo>
                    <a:pt x="4698" y="2743"/>
                  </a:lnTo>
                  <a:lnTo>
                    <a:pt x="4700" y="2731"/>
                  </a:lnTo>
                  <a:lnTo>
                    <a:pt x="4700" y="120"/>
                  </a:lnTo>
                  <a:lnTo>
                    <a:pt x="4699" y="108"/>
                  </a:lnTo>
                  <a:lnTo>
                    <a:pt x="4697" y="95"/>
                  </a:lnTo>
                  <a:lnTo>
                    <a:pt x="4694" y="84"/>
                  </a:lnTo>
                  <a:lnTo>
                    <a:pt x="4690" y="73"/>
                  </a:lnTo>
                  <a:lnTo>
                    <a:pt x="4685" y="63"/>
                  </a:lnTo>
                  <a:lnTo>
                    <a:pt x="4680" y="53"/>
                  </a:lnTo>
                  <a:lnTo>
                    <a:pt x="4673" y="43"/>
                  </a:lnTo>
                  <a:lnTo>
                    <a:pt x="4665" y="34"/>
                  </a:lnTo>
                  <a:lnTo>
                    <a:pt x="4657" y="27"/>
                  </a:lnTo>
                  <a:lnTo>
                    <a:pt x="4647" y="20"/>
                  </a:lnTo>
                  <a:lnTo>
                    <a:pt x="4637" y="14"/>
                  </a:lnTo>
                  <a:lnTo>
                    <a:pt x="4627" y="9"/>
                  </a:lnTo>
                  <a:lnTo>
                    <a:pt x="4616" y="5"/>
                  </a:lnTo>
                  <a:lnTo>
                    <a:pt x="4605" y="2"/>
                  </a:lnTo>
                  <a:lnTo>
                    <a:pt x="4592" y="1"/>
                  </a:lnTo>
                  <a:lnTo>
                    <a:pt x="4580" y="0"/>
                  </a:lnTo>
                  <a:lnTo>
                    <a:pt x="605" y="0"/>
                  </a:lnTo>
                  <a:lnTo>
                    <a:pt x="593" y="1"/>
                  </a:lnTo>
                  <a:lnTo>
                    <a:pt x="581" y="2"/>
                  </a:lnTo>
                  <a:lnTo>
                    <a:pt x="569" y="5"/>
                  </a:lnTo>
                  <a:lnTo>
                    <a:pt x="558" y="9"/>
                  </a:lnTo>
                  <a:lnTo>
                    <a:pt x="548" y="14"/>
                  </a:lnTo>
                  <a:lnTo>
                    <a:pt x="538" y="20"/>
                  </a:lnTo>
                  <a:lnTo>
                    <a:pt x="529" y="27"/>
                  </a:lnTo>
                  <a:lnTo>
                    <a:pt x="521" y="34"/>
                  </a:lnTo>
                  <a:lnTo>
                    <a:pt x="512" y="43"/>
                  </a:lnTo>
                  <a:lnTo>
                    <a:pt x="505" y="53"/>
                  </a:lnTo>
                  <a:lnTo>
                    <a:pt x="499" y="63"/>
                  </a:lnTo>
                  <a:lnTo>
                    <a:pt x="494" y="73"/>
                  </a:lnTo>
                  <a:lnTo>
                    <a:pt x="490" y="84"/>
                  </a:lnTo>
                  <a:lnTo>
                    <a:pt x="488" y="95"/>
                  </a:lnTo>
                  <a:lnTo>
                    <a:pt x="486" y="108"/>
                  </a:lnTo>
                  <a:lnTo>
                    <a:pt x="485" y="120"/>
                  </a:lnTo>
                  <a:lnTo>
                    <a:pt x="485" y="2731"/>
                  </a:lnTo>
                  <a:lnTo>
                    <a:pt x="486" y="2743"/>
                  </a:lnTo>
                  <a:lnTo>
                    <a:pt x="485" y="2755"/>
                  </a:lnTo>
                  <a:lnTo>
                    <a:pt x="484" y="2756"/>
                  </a:lnTo>
                  <a:lnTo>
                    <a:pt x="4701" y="2756"/>
                  </a:lnTo>
                  <a:lnTo>
                    <a:pt x="4700" y="2755"/>
                  </a:lnTo>
                  <a:close/>
                  <a:moveTo>
                    <a:pt x="4401" y="2552"/>
                  </a:moveTo>
                  <a:lnTo>
                    <a:pt x="784" y="2552"/>
                  </a:lnTo>
                  <a:lnTo>
                    <a:pt x="784" y="299"/>
                  </a:lnTo>
                  <a:lnTo>
                    <a:pt x="4401" y="299"/>
                  </a:lnTo>
                  <a:lnTo>
                    <a:pt x="4401" y="2552"/>
                  </a:lnTo>
                  <a:close/>
                  <a:moveTo>
                    <a:pt x="5172" y="3676"/>
                  </a:moveTo>
                  <a:lnTo>
                    <a:pt x="12" y="3676"/>
                  </a:lnTo>
                  <a:lnTo>
                    <a:pt x="0" y="3700"/>
                  </a:lnTo>
                  <a:lnTo>
                    <a:pt x="1" y="3713"/>
                  </a:lnTo>
                  <a:lnTo>
                    <a:pt x="2" y="3727"/>
                  </a:lnTo>
                  <a:lnTo>
                    <a:pt x="5" y="3741"/>
                  </a:lnTo>
                  <a:lnTo>
                    <a:pt x="9" y="3756"/>
                  </a:lnTo>
                  <a:lnTo>
                    <a:pt x="14" y="3771"/>
                  </a:lnTo>
                  <a:lnTo>
                    <a:pt x="20" y="3786"/>
                  </a:lnTo>
                  <a:lnTo>
                    <a:pt x="28" y="3801"/>
                  </a:lnTo>
                  <a:lnTo>
                    <a:pt x="36" y="3815"/>
                  </a:lnTo>
                  <a:lnTo>
                    <a:pt x="44" y="3828"/>
                  </a:lnTo>
                  <a:lnTo>
                    <a:pt x="53" y="3841"/>
                  </a:lnTo>
                  <a:lnTo>
                    <a:pt x="63" y="3852"/>
                  </a:lnTo>
                  <a:lnTo>
                    <a:pt x="73" y="3861"/>
                  </a:lnTo>
                  <a:lnTo>
                    <a:pt x="85" y="3869"/>
                  </a:lnTo>
                  <a:lnTo>
                    <a:pt x="96" y="3875"/>
                  </a:lnTo>
                  <a:lnTo>
                    <a:pt x="108" y="3878"/>
                  </a:lnTo>
                  <a:lnTo>
                    <a:pt x="114" y="3879"/>
                  </a:lnTo>
                  <a:lnTo>
                    <a:pt x="120" y="3880"/>
                  </a:lnTo>
                  <a:lnTo>
                    <a:pt x="5065" y="3880"/>
                  </a:lnTo>
                  <a:lnTo>
                    <a:pt x="5071" y="3879"/>
                  </a:lnTo>
                  <a:lnTo>
                    <a:pt x="5077" y="3878"/>
                  </a:lnTo>
                  <a:lnTo>
                    <a:pt x="5089" y="3875"/>
                  </a:lnTo>
                  <a:lnTo>
                    <a:pt x="5101" y="3869"/>
                  </a:lnTo>
                  <a:lnTo>
                    <a:pt x="5112" y="3861"/>
                  </a:lnTo>
                  <a:lnTo>
                    <a:pt x="5122" y="3852"/>
                  </a:lnTo>
                  <a:lnTo>
                    <a:pt x="5132" y="3841"/>
                  </a:lnTo>
                  <a:lnTo>
                    <a:pt x="5141" y="3828"/>
                  </a:lnTo>
                  <a:lnTo>
                    <a:pt x="5150" y="3815"/>
                  </a:lnTo>
                  <a:lnTo>
                    <a:pt x="5158" y="3801"/>
                  </a:lnTo>
                  <a:lnTo>
                    <a:pt x="5165" y="3786"/>
                  </a:lnTo>
                  <a:lnTo>
                    <a:pt x="5171" y="3771"/>
                  </a:lnTo>
                  <a:lnTo>
                    <a:pt x="5176" y="3756"/>
                  </a:lnTo>
                  <a:lnTo>
                    <a:pt x="5180" y="3741"/>
                  </a:lnTo>
                  <a:lnTo>
                    <a:pt x="5182" y="3727"/>
                  </a:lnTo>
                  <a:lnTo>
                    <a:pt x="5184" y="3713"/>
                  </a:lnTo>
                  <a:lnTo>
                    <a:pt x="5185" y="3700"/>
                  </a:lnTo>
                  <a:lnTo>
                    <a:pt x="5172" y="36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bIns="360000"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1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1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>
            <p:custDataLst>
              <p:tags r:id="rId1"/>
            </p:custDataLst>
          </p:nvPr>
        </p:nvSpPr>
        <p:spPr>
          <a:xfrm>
            <a:off x="320675" y="3115310"/>
            <a:ext cx="2118995" cy="1333500"/>
          </a:xfrm>
          <a:custGeom>
            <a:avLst/>
            <a:gdLst>
              <a:gd name="connsiteX0" fmla="*/ 0 w 2119085"/>
              <a:gd name="connsiteY0" fmla="*/ 0 h 1333742"/>
              <a:gd name="connsiteX1" fmla="*/ 1611876 w 2119085"/>
              <a:gd name="connsiteY1" fmla="*/ 0 h 1333742"/>
              <a:gd name="connsiteX2" fmla="*/ 2119085 w 2119085"/>
              <a:gd name="connsiteY2" fmla="*/ 666871 h 1333742"/>
              <a:gd name="connsiteX3" fmla="*/ 1611876 w 2119085"/>
              <a:gd name="connsiteY3" fmla="*/ 1333742 h 1333742"/>
              <a:gd name="connsiteX4" fmla="*/ 23917 w 2119085"/>
              <a:gd name="connsiteY4" fmla="*/ 1333742 h 1333742"/>
              <a:gd name="connsiteX5" fmla="*/ 508233 w 2119085"/>
              <a:gd name="connsiteY5" fmla="*/ 682941 h 1333742"/>
              <a:gd name="connsiteX6" fmla="*/ 0 w 2119085"/>
              <a:gd name="connsiteY6" fmla="*/ 0 h 13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9085" h="1333742">
                <a:moveTo>
                  <a:pt x="0" y="0"/>
                </a:moveTo>
                <a:lnTo>
                  <a:pt x="1611876" y="0"/>
                </a:lnTo>
                <a:lnTo>
                  <a:pt x="2119085" y="666871"/>
                </a:lnTo>
                <a:lnTo>
                  <a:pt x="1611876" y="1333742"/>
                </a:lnTo>
                <a:lnTo>
                  <a:pt x="23917" y="1333742"/>
                </a:lnTo>
                <a:lnTo>
                  <a:pt x="508233" y="6829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4000" rIns="504000" rtlCol="0" anchor="ctr">
            <a:normAutofit/>
          </a:bodyPr>
          <a:lstStyle/>
          <a:p>
            <a:pPr algn="ctr"/>
            <a:r>
              <a:rPr lang="zh-CN" altLang="en-US" dirty="0">
                <a:latin typeface="Tahoma" panose="020B0604030504040204" charset="0"/>
                <a:ea typeface="华文楷体" panose="02010600040101010101" charset="-122"/>
                <a:sym typeface="+mn-ea"/>
              </a:rPr>
              <a:t>Windows Whistler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Tahoma" panose="020B0604030504040204" charset="0"/>
              <a:ea typeface="华文楷体" panose="02010600040101010101" charset="-122"/>
              <a:cs typeface="+mj-cs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044302" y="4613"/>
            <a:ext cx="10309498" cy="1126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隶书" panose="02010509060101010101" charset="-122"/>
                <a:ea typeface="隶书" panose="02010509060101010101" charset="-122"/>
              </a:rPr>
              <a:t>生之时</a:t>
            </a:r>
            <a:endParaRPr lang="en-US" altLang="zh-CN" dirty="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320675" y="3141980"/>
            <a:ext cx="2118995" cy="1333500"/>
          </a:xfrm>
          <a:custGeom>
            <a:avLst/>
            <a:gdLst>
              <a:gd name="connsiteX0" fmla="*/ 0 w 2119085"/>
              <a:gd name="connsiteY0" fmla="*/ 0 h 1333742"/>
              <a:gd name="connsiteX1" fmla="*/ 1611876 w 2119085"/>
              <a:gd name="connsiteY1" fmla="*/ 0 h 1333742"/>
              <a:gd name="connsiteX2" fmla="*/ 2119085 w 2119085"/>
              <a:gd name="connsiteY2" fmla="*/ 666871 h 1333742"/>
              <a:gd name="connsiteX3" fmla="*/ 1611876 w 2119085"/>
              <a:gd name="connsiteY3" fmla="*/ 1333742 h 1333742"/>
              <a:gd name="connsiteX4" fmla="*/ 23917 w 2119085"/>
              <a:gd name="connsiteY4" fmla="*/ 1333742 h 1333742"/>
              <a:gd name="connsiteX5" fmla="*/ 508233 w 2119085"/>
              <a:gd name="connsiteY5" fmla="*/ 682941 h 1333742"/>
              <a:gd name="connsiteX6" fmla="*/ 0 w 2119085"/>
              <a:gd name="connsiteY6" fmla="*/ 0 h 13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9085" h="1333742">
                <a:moveTo>
                  <a:pt x="0" y="0"/>
                </a:moveTo>
                <a:lnTo>
                  <a:pt x="1611876" y="0"/>
                </a:lnTo>
                <a:lnTo>
                  <a:pt x="2119085" y="666871"/>
                </a:lnTo>
                <a:lnTo>
                  <a:pt x="1611876" y="1333742"/>
                </a:lnTo>
                <a:lnTo>
                  <a:pt x="23917" y="1333742"/>
                </a:lnTo>
                <a:lnTo>
                  <a:pt x="508233" y="6829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4000" rIns="504000" rtlCol="0" anchor="ctr">
            <a:normAutofit/>
          </a:bodyPr>
          <a:lstStyle/>
          <a:p>
            <a:pPr algn="ctr"/>
            <a:r>
              <a:rPr lang="zh-CN" altLang="en-US" dirty="0">
                <a:latin typeface="Tahoma" panose="020B0604030504040204" charset="0"/>
                <a:ea typeface="华文楷体" panose="02010600040101010101" charset="-122"/>
                <a:sym typeface="+mn-ea"/>
              </a:rPr>
              <a:t>Service Pack 3</a:t>
            </a:r>
            <a:endParaRPr lang="zh-CN" altLang="en-US" dirty="0">
              <a:latin typeface="Tahoma" panose="020B0604030504040204" charset="0"/>
              <a:ea typeface="华文楷体" panose="02010600040101010101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4"/>
            </p:custDataLst>
          </p:nvPr>
        </p:nvSpPr>
        <p:spPr>
          <a:xfrm>
            <a:off x="320675" y="3141980"/>
            <a:ext cx="2118995" cy="1333500"/>
          </a:xfrm>
          <a:custGeom>
            <a:avLst/>
            <a:gdLst>
              <a:gd name="connsiteX0" fmla="*/ 0 w 2119085"/>
              <a:gd name="connsiteY0" fmla="*/ 0 h 1333742"/>
              <a:gd name="connsiteX1" fmla="*/ 1611876 w 2119085"/>
              <a:gd name="connsiteY1" fmla="*/ 0 h 1333742"/>
              <a:gd name="connsiteX2" fmla="*/ 2119085 w 2119085"/>
              <a:gd name="connsiteY2" fmla="*/ 666871 h 1333742"/>
              <a:gd name="connsiteX3" fmla="*/ 1611876 w 2119085"/>
              <a:gd name="connsiteY3" fmla="*/ 1333742 h 1333742"/>
              <a:gd name="connsiteX4" fmla="*/ 23917 w 2119085"/>
              <a:gd name="connsiteY4" fmla="*/ 1333742 h 1333742"/>
              <a:gd name="connsiteX5" fmla="*/ 508233 w 2119085"/>
              <a:gd name="connsiteY5" fmla="*/ 682941 h 1333742"/>
              <a:gd name="connsiteX6" fmla="*/ 0 w 2119085"/>
              <a:gd name="connsiteY6" fmla="*/ 0 h 13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9085" h="1333742">
                <a:moveTo>
                  <a:pt x="0" y="0"/>
                </a:moveTo>
                <a:lnTo>
                  <a:pt x="1611876" y="0"/>
                </a:lnTo>
                <a:lnTo>
                  <a:pt x="2119085" y="666871"/>
                </a:lnTo>
                <a:lnTo>
                  <a:pt x="1611876" y="1333742"/>
                </a:lnTo>
                <a:lnTo>
                  <a:pt x="23917" y="1333742"/>
                </a:lnTo>
                <a:lnTo>
                  <a:pt x="508233" y="6829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4000" rIns="504000" rtlCol="0" anchor="ctr">
            <a:normAutofit/>
          </a:bodyPr>
          <a:lstStyle/>
          <a:p>
            <a:pPr algn="ctr"/>
            <a:r>
              <a:rPr lang="zh-CN" altLang="en-US" dirty="0">
                <a:latin typeface="Tahoma" panose="020B0604030504040204" charset="0"/>
                <a:ea typeface="华文楷体" panose="02010600040101010101" charset="-122"/>
                <a:sym typeface="+mn-ea"/>
              </a:rPr>
              <a:t>Windows XP</a:t>
            </a:r>
            <a:endParaRPr lang="zh-CN" altLang="en-US" dirty="0">
              <a:latin typeface="Tahoma" panose="020B0604030504040204" charset="0"/>
              <a:ea typeface="华文楷体" panose="02010600040101010101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5"/>
            </p:custDataLst>
          </p:nvPr>
        </p:nvSpPr>
        <p:spPr>
          <a:xfrm>
            <a:off x="320675" y="3141980"/>
            <a:ext cx="2118995" cy="1333500"/>
          </a:xfrm>
          <a:custGeom>
            <a:avLst/>
            <a:gdLst>
              <a:gd name="connsiteX0" fmla="*/ 0 w 2119085"/>
              <a:gd name="connsiteY0" fmla="*/ 0 h 1333742"/>
              <a:gd name="connsiteX1" fmla="*/ 1611876 w 2119085"/>
              <a:gd name="connsiteY1" fmla="*/ 0 h 1333742"/>
              <a:gd name="connsiteX2" fmla="*/ 2119085 w 2119085"/>
              <a:gd name="connsiteY2" fmla="*/ 666871 h 1333742"/>
              <a:gd name="connsiteX3" fmla="*/ 1611876 w 2119085"/>
              <a:gd name="connsiteY3" fmla="*/ 1333742 h 1333742"/>
              <a:gd name="connsiteX4" fmla="*/ 23917 w 2119085"/>
              <a:gd name="connsiteY4" fmla="*/ 1333742 h 1333742"/>
              <a:gd name="connsiteX5" fmla="*/ 508233 w 2119085"/>
              <a:gd name="connsiteY5" fmla="*/ 682941 h 1333742"/>
              <a:gd name="connsiteX6" fmla="*/ 0 w 2119085"/>
              <a:gd name="connsiteY6" fmla="*/ 0 h 13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9085" h="1333742">
                <a:moveTo>
                  <a:pt x="0" y="0"/>
                </a:moveTo>
                <a:lnTo>
                  <a:pt x="1611876" y="0"/>
                </a:lnTo>
                <a:lnTo>
                  <a:pt x="2119085" y="666871"/>
                </a:lnTo>
                <a:lnTo>
                  <a:pt x="1611876" y="1333742"/>
                </a:lnTo>
                <a:lnTo>
                  <a:pt x="23917" y="1333742"/>
                </a:lnTo>
                <a:lnTo>
                  <a:pt x="508233" y="6829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4000" rIns="504000" rtlCol="0" anchor="ctr">
            <a:normAutofit/>
          </a:bodyPr>
          <a:lstStyle/>
          <a:p>
            <a:pPr algn="ctr"/>
            <a:r>
              <a:rPr lang="zh-CN" altLang="en-US" dirty="0">
                <a:latin typeface="Tahoma" panose="020B0604030504040204" charset="0"/>
                <a:ea typeface="华文楷体" panose="02010600040101010101" charset="-122"/>
              </a:rPr>
              <a:t>Service Pack 1</a:t>
            </a:r>
            <a:endParaRPr lang="zh-CN" altLang="en-US" dirty="0">
              <a:latin typeface="Tahoma" panose="020B0604030504040204" charset="0"/>
              <a:ea typeface="华文楷体" panose="02010600040101010101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320675" y="3141980"/>
            <a:ext cx="2118995" cy="1333500"/>
          </a:xfrm>
          <a:custGeom>
            <a:avLst/>
            <a:gdLst>
              <a:gd name="connsiteX0" fmla="*/ 0 w 2119085"/>
              <a:gd name="connsiteY0" fmla="*/ 0 h 1333742"/>
              <a:gd name="connsiteX1" fmla="*/ 1611876 w 2119085"/>
              <a:gd name="connsiteY1" fmla="*/ 0 h 1333742"/>
              <a:gd name="connsiteX2" fmla="*/ 2119085 w 2119085"/>
              <a:gd name="connsiteY2" fmla="*/ 666871 h 1333742"/>
              <a:gd name="connsiteX3" fmla="*/ 1611876 w 2119085"/>
              <a:gd name="connsiteY3" fmla="*/ 1333742 h 1333742"/>
              <a:gd name="connsiteX4" fmla="*/ 23917 w 2119085"/>
              <a:gd name="connsiteY4" fmla="*/ 1333742 h 1333742"/>
              <a:gd name="connsiteX5" fmla="*/ 508233 w 2119085"/>
              <a:gd name="connsiteY5" fmla="*/ 682941 h 1333742"/>
              <a:gd name="connsiteX6" fmla="*/ 0 w 2119085"/>
              <a:gd name="connsiteY6" fmla="*/ 0 h 13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9085" h="1333742">
                <a:moveTo>
                  <a:pt x="0" y="0"/>
                </a:moveTo>
                <a:lnTo>
                  <a:pt x="1611876" y="0"/>
                </a:lnTo>
                <a:lnTo>
                  <a:pt x="2119085" y="666871"/>
                </a:lnTo>
                <a:lnTo>
                  <a:pt x="1611876" y="1333742"/>
                </a:lnTo>
                <a:lnTo>
                  <a:pt x="23917" y="1333742"/>
                </a:lnTo>
                <a:lnTo>
                  <a:pt x="508233" y="6829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4000" rIns="504000" rtlCol="0" anchor="ctr">
            <a:normAutofit/>
          </a:bodyPr>
          <a:lstStyle/>
          <a:p>
            <a:pPr algn="ctr"/>
            <a:r>
              <a:rPr lang="zh-CN" altLang="en-US" dirty="0">
                <a:latin typeface="Tahoma" panose="020B0604030504040204" charset="0"/>
                <a:ea typeface="华文楷体" panose="02010600040101010101" charset="-122"/>
                <a:sym typeface="+mn-ea"/>
              </a:rPr>
              <a:t>Service Pack 2</a:t>
            </a:r>
            <a:endParaRPr lang="zh-CN" altLang="en-US" dirty="0">
              <a:latin typeface="Tahoma" panose="020B0604030504040204" charset="0"/>
              <a:ea typeface="华文楷体" panose="02010600040101010101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320675" y="3108960"/>
            <a:ext cx="2118995" cy="1333500"/>
          </a:xfrm>
          <a:custGeom>
            <a:avLst/>
            <a:gdLst>
              <a:gd name="connsiteX0" fmla="*/ 0 w 2119085"/>
              <a:gd name="connsiteY0" fmla="*/ 0 h 1333742"/>
              <a:gd name="connsiteX1" fmla="*/ 1611876 w 2119085"/>
              <a:gd name="connsiteY1" fmla="*/ 0 h 1333742"/>
              <a:gd name="connsiteX2" fmla="*/ 2119085 w 2119085"/>
              <a:gd name="connsiteY2" fmla="*/ 666871 h 1333742"/>
              <a:gd name="connsiteX3" fmla="*/ 1611876 w 2119085"/>
              <a:gd name="connsiteY3" fmla="*/ 1333742 h 1333742"/>
              <a:gd name="connsiteX4" fmla="*/ 23917 w 2119085"/>
              <a:gd name="connsiteY4" fmla="*/ 1333742 h 1333742"/>
              <a:gd name="connsiteX5" fmla="*/ 508233 w 2119085"/>
              <a:gd name="connsiteY5" fmla="*/ 682941 h 1333742"/>
              <a:gd name="connsiteX6" fmla="*/ 0 w 2119085"/>
              <a:gd name="connsiteY6" fmla="*/ 0 h 13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9085" h="1333742">
                <a:moveTo>
                  <a:pt x="0" y="0"/>
                </a:moveTo>
                <a:lnTo>
                  <a:pt x="1611876" y="0"/>
                </a:lnTo>
                <a:lnTo>
                  <a:pt x="2119085" y="666871"/>
                </a:lnTo>
                <a:lnTo>
                  <a:pt x="1611876" y="1333742"/>
                </a:lnTo>
                <a:lnTo>
                  <a:pt x="23917" y="1333742"/>
                </a:lnTo>
                <a:lnTo>
                  <a:pt x="508233" y="6829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4000" rIns="504000" rtlCol="0" anchor="ctr">
            <a:normAutofit/>
          </a:bodyPr>
          <a:lstStyle/>
          <a:p>
            <a:pPr algn="ctr"/>
            <a:r>
              <a:rPr lang="zh-CN" altLang="en-US" dirty="0">
                <a:latin typeface="Tahoma" panose="020B0604030504040204" charset="0"/>
                <a:ea typeface="华文楷体" panose="02010600040101010101" charset="-122"/>
                <a:sym typeface="+mn-ea"/>
              </a:rPr>
              <a:t>Windows Vista</a:t>
            </a:r>
            <a:endParaRPr lang="zh-CN" altLang="en-US" dirty="0">
              <a:latin typeface="Tahoma" panose="020B0604030504040204" charset="0"/>
              <a:ea typeface="华文楷体" panose="0201060004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320675" y="2025650"/>
            <a:ext cx="2118995" cy="108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normAutofit fontScale="90000" lnSpcReduction="20000"/>
          </a:bodyPr>
          <a:lstStyle>
            <a:defPPr>
              <a:defRPr lang="zh-CN"/>
            </a:defPPr>
            <a:lvl1pPr algn="ctr" latinLnBrk="1">
              <a:lnSpc>
                <a:spcPct val="120000"/>
              </a:lnSpc>
              <a:defRPr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cs typeface="+mn-cs"/>
              </a:rPr>
              <a:t>2000年</a:t>
            </a:r>
            <a:endParaRPr lang="zh-CN" altLang="en-US" dirty="0">
              <a:latin typeface="Arial" panose="020B0604020202020204" pitchFamily="34" charset="0"/>
              <a:cs typeface="+mn-cs"/>
            </a:endParaRPr>
          </a:p>
          <a:p>
            <a:r>
              <a:rPr lang="zh-CN" altLang="en-US" dirty="0">
                <a:latin typeface="Arial" panose="020B0604020202020204" pitchFamily="34" charset="0"/>
                <a:cs typeface="+mn-cs"/>
              </a:rPr>
              <a:t>Windows XP的前身Windows Whistler开始研发</a:t>
            </a:r>
            <a:endParaRPr lang="zh-CN" altLang="en-US" dirty="0">
              <a:latin typeface="Arial" panose="020B0604020202020204" pitchFamily="34" charset="0"/>
              <a:cs typeface="+mn-cs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2206625" y="4475480"/>
            <a:ext cx="2120265" cy="108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defPPr>
              <a:defRPr lang="zh-CN"/>
            </a:defPPr>
            <a:lvl1pPr algn="ctr" latinLnBrk="1">
              <a:lnSpc>
                <a:spcPct val="120000"/>
              </a:lnSpc>
              <a:defRPr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cs typeface="+mn-cs"/>
              </a:rPr>
              <a:t>2001年</a:t>
            </a:r>
            <a:endParaRPr lang="zh-CN" altLang="en-US" dirty="0">
              <a:cs typeface="+mn-cs"/>
            </a:endParaRPr>
          </a:p>
          <a:p>
            <a:r>
              <a:rPr lang="zh-CN" altLang="en-US" dirty="0">
                <a:cs typeface="+mn-cs"/>
                <a:sym typeface="+mn-ea"/>
              </a:rPr>
              <a:t>Windows XP</a:t>
            </a:r>
            <a:r>
              <a:rPr lang="zh-CN" altLang="en-US" dirty="0">
                <a:cs typeface="+mn-cs"/>
              </a:rPr>
              <a:t>破壳</a:t>
            </a:r>
            <a:endParaRPr lang="zh-CN" altLang="en-US" dirty="0">
              <a:cs typeface="+mn-cs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4092575" y="2025650"/>
            <a:ext cx="2120265" cy="108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normAutofit/>
          </a:bodyPr>
          <a:lstStyle>
            <a:defPPr>
              <a:defRPr lang="zh-CN"/>
            </a:defPPr>
            <a:lvl1pPr algn="ctr" latinLnBrk="1">
              <a:lnSpc>
                <a:spcPct val="120000"/>
              </a:lnSpc>
              <a:defRPr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buNone/>
            </a:pPr>
            <a:r>
              <a:rPr lang="zh-CN" altLang="en-US" dirty="0">
                <a:latin typeface="Arial" panose="020B0604020202020204" pitchFamily="34" charset="0"/>
                <a:cs typeface="+mn-cs"/>
              </a:rPr>
              <a:t>2002年</a:t>
            </a:r>
            <a:endParaRPr lang="zh-CN" altLang="en-US" dirty="0">
              <a:latin typeface="Arial" panose="020B0604020202020204" pitchFamily="34" charset="0"/>
              <a:cs typeface="+mn-cs"/>
            </a:endParaRPr>
          </a:p>
          <a:p>
            <a:pPr algn="ctr">
              <a:buNone/>
            </a:pPr>
            <a:r>
              <a:rPr lang="zh-CN" altLang="en-US" dirty="0">
                <a:latin typeface="Arial" panose="020B0604020202020204" pitchFamily="34" charset="0"/>
                <a:cs typeface="+mn-cs"/>
              </a:rPr>
              <a:t>Windows XP SP1补丁包</a:t>
            </a:r>
            <a:endParaRPr lang="zh-CN" altLang="en-US" dirty="0">
              <a:latin typeface="Arial" panose="020B0604020202020204" pitchFamily="34" charset="0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5978525" y="4475480"/>
            <a:ext cx="2120265" cy="108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defPPr>
              <a:defRPr lang="zh-CN"/>
            </a:defPPr>
            <a:lvl1pPr algn="ctr" latinLnBrk="1">
              <a:lnSpc>
                <a:spcPct val="120000"/>
              </a:lnSpc>
              <a:defRPr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cs typeface="+mn-cs"/>
              </a:rPr>
              <a:t>2004年</a:t>
            </a:r>
            <a:endParaRPr lang="zh-CN" altLang="en-US" dirty="0">
              <a:cs typeface="+mn-cs"/>
            </a:endParaRPr>
          </a:p>
          <a:p>
            <a:r>
              <a:rPr lang="zh-CN" altLang="en-US" dirty="0">
                <a:cs typeface="+mn-cs"/>
              </a:rPr>
              <a:t>Windows XP SP2补丁包</a:t>
            </a:r>
            <a:endParaRPr lang="zh-CN" altLang="en-US" dirty="0">
              <a:cs typeface="+mn-cs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7864475" y="2025650"/>
            <a:ext cx="2120265" cy="108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normAutofit/>
          </a:bodyPr>
          <a:lstStyle>
            <a:defPPr>
              <a:defRPr lang="zh-CN"/>
            </a:defPPr>
            <a:lvl1pPr algn="ctr" latinLnBrk="1">
              <a:lnSpc>
                <a:spcPct val="120000"/>
              </a:lnSpc>
              <a:defRPr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buNone/>
            </a:pPr>
            <a:r>
              <a:rPr lang="zh-CN" altLang="en-US" dirty="0">
                <a:latin typeface="Arial" panose="020B0604020202020204" pitchFamily="34" charset="0"/>
                <a:cs typeface="+mn-cs"/>
              </a:rPr>
              <a:t>2007年</a:t>
            </a:r>
            <a:endParaRPr lang="zh-CN" altLang="en-US" dirty="0">
              <a:latin typeface="Arial" panose="020B0604020202020204" pitchFamily="34" charset="0"/>
              <a:cs typeface="+mn-cs"/>
            </a:endParaRPr>
          </a:p>
          <a:p>
            <a:pPr algn="ctr">
              <a:buNone/>
            </a:pPr>
            <a:r>
              <a:rPr lang="zh-CN" altLang="en-US" dirty="0">
                <a:latin typeface="Arial" panose="020B0604020202020204" pitchFamily="34" charset="0"/>
                <a:cs typeface="+mn-cs"/>
              </a:rPr>
              <a:t>Windows Vista发布</a:t>
            </a:r>
            <a:endParaRPr lang="zh-CN" altLang="en-US" dirty="0">
              <a:latin typeface="Arial" panose="020B0604020202020204" pitchFamily="34" charset="0"/>
              <a:cs typeface="+mn-cs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9750425" y="4475480"/>
            <a:ext cx="2120265" cy="108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defPPr>
              <a:defRPr lang="zh-CN"/>
            </a:defPPr>
            <a:lvl1pPr algn="ctr" latinLnBrk="1">
              <a:lnSpc>
                <a:spcPct val="120000"/>
              </a:lnSpc>
              <a:defRPr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cs typeface="+mn-cs"/>
              </a:rPr>
              <a:t>2008年</a:t>
            </a:r>
            <a:endParaRPr lang="zh-CN" altLang="en-US" dirty="0">
              <a:cs typeface="+mn-cs"/>
            </a:endParaRPr>
          </a:p>
          <a:p>
            <a:r>
              <a:rPr lang="zh-CN" altLang="en-US" dirty="0">
                <a:cs typeface="+mn-cs"/>
              </a:rPr>
              <a:t>Windows XP SP3补丁包</a:t>
            </a:r>
            <a:endParaRPr lang="zh-CN" altLang="en-US" dirty="0">
              <a:cs typeface="+mn-cs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47 -0.004166 L 0.154740 -0.004074 " pathEditMode="fixed" rAng="0" ptsTypes="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40 -0.006574 L 0.304427 -0.004074 " pathEditMode="fixed" rAng="0" ptsTypes=""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" y="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187 -0.000278 L 0.467916 -0.000278 " pathEditMode="fixed" rAng="0" ptsTypes="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33 -0.002037 L 0.618229 0.005741 " pathEditMode="fixed" rAng="0" ptsTypes="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" y="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59 -0.000093 L 0.772812 -0.001852 " pathEditMode="fixed" rAng="0" ptsTypes="">
                                      <p:cBhvr>
                                        <p:cTn id="1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6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25" grpId="0" bldLvl="0" animBg="1"/>
      <p:bldP spid="8" grpId="0" bldLvl="0" animBg="1"/>
      <p:bldP spid="9" grpId="0" bldLvl="0" animBg="1"/>
      <p:bldP spid="2" grpId="0" bldLvl="0" animBg="1"/>
      <p:bldP spid="10" grpId="0"/>
      <p:bldP spid="12" grpId="0"/>
      <p:bldP spid="13" grpId="0"/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隶书" panose="02010509060101010101" charset="-122"/>
                <a:ea typeface="隶书" panose="02010509060101010101" charset="-122"/>
              </a:rPr>
              <a:t>生之时</a:t>
            </a:r>
            <a:endParaRPr lang="zh-CN" altLang="en-US" dirty="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01625" y="1329055"/>
            <a:ext cx="7793355" cy="4847590"/>
          </a:xfrm>
        </p:spPr>
        <p:txBody>
          <a:bodyPr>
            <a:normAutofit/>
          </a:bodyPr>
          <a:lstStyle/>
          <a:p>
            <a:r>
              <a:rPr lang="zh-CN" altLang="en-US" sz="2800" dirty="0" smtClean="0">
                <a:latin typeface="方正姚体" panose="02010601030101010101" charset="-122"/>
                <a:ea typeface="方正姚体" panose="02010601030101010101" charset="-122"/>
              </a:rPr>
              <a:t>Windows XP拥有一个叫做Luna（月神）的用户图形界面（右图）</a:t>
            </a:r>
            <a:endParaRPr lang="zh-CN" altLang="en-US" sz="2800" dirty="0" smtClean="0">
              <a:latin typeface="方正姚体" panose="02010601030101010101" charset="-122"/>
              <a:ea typeface="方正姚体" panose="02010601030101010101" charset="-122"/>
            </a:endParaRPr>
          </a:p>
          <a:p>
            <a:r>
              <a:rPr lang="zh-CN" altLang="en-US" sz="2800" dirty="0" smtClean="0">
                <a:latin typeface="方正姚体" panose="02010601030101010101" charset="-122"/>
                <a:ea typeface="方正姚体" panose="02010601030101010101" charset="-122"/>
              </a:rPr>
              <a:t>Windows XP率先使用双列菜单，为之后的Windows 版本的开始菜单提供了基础。</a:t>
            </a:r>
            <a:endParaRPr lang="zh-CN" altLang="en-US" sz="2800" dirty="0" smtClean="0">
              <a:latin typeface="方正姚体" panose="02010601030101010101" charset="-122"/>
              <a:ea typeface="方正姚体" panose="02010601030101010101" charset="-122"/>
            </a:endParaRPr>
          </a:p>
          <a:p>
            <a:r>
              <a:rPr lang="zh-CN" altLang="en-US" sz="2800" dirty="0" smtClean="0">
                <a:latin typeface="方正姚体" panose="02010601030101010101" charset="-122"/>
                <a:ea typeface="方正姚体" panose="02010601030101010101" charset="-122"/>
              </a:rPr>
              <a:t>Windows XP的文件资源管理器使用了全彩界面。</a:t>
            </a:r>
            <a:endParaRPr lang="zh-CN" altLang="en-US" sz="2800" dirty="0" smtClean="0">
              <a:latin typeface="方正姚体" panose="02010601030101010101" charset="-122"/>
              <a:ea typeface="方正姚体" panose="02010601030101010101" charset="-122"/>
            </a:endParaRPr>
          </a:p>
          <a:p>
            <a:endParaRPr lang="zh-CN" altLang="en-US" sz="2800" dirty="0" smtClean="0">
              <a:latin typeface="方正姚体" panose="02010601030101010101" charset="-122"/>
              <a:ea typeface="方正姚体" panose="02010601030101010101" charset="-122"/>
            </a:endParaRPr>
          </a:p>
          <a:p>
            <a:r>
              <a:rPr lang="zh-CN" altLang="zh-CN" sz="2800" dirty="0" smtClean="0">
                <a:latin typeface="方正姚体" panose="02010601030101010101" charset="-122"/>
                <a:ea typeface="方正姚体" panose="02010601030101010101" charset="-122"/>
              </a:rPr>
              <a:t>微软为Bliss（右图）制作了致敬视频。</a:t>
            </a:r>
            <a:endParaRPr lang="zh-CN" altLang="zh-CN" sz="2800" dirty="0" smtClean="0">
              <a:latin typeface="方正姚体" panose="02010601030101010101" charset="-122"/>
              <a:ea typeface="方正姚体" panose="0201060103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070" y="4606925"/>
            <a:ext cx="2510155" cy="15697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025" y="1229995"/>
            <a:ext cx="2908300" cy="15995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2903855"/>
            <a:ext cx="1664970" cy="332232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隶书" panose="02010509060101010101" charset="-122"/>
                <a:ea typeface="隶书" panose="02010509060101010101" charset="-122"/>
              </a:rPr>
              <a:t>死之钟</a:t>
            </a:r>
            <a:endParaRPr lang="zh-CN" altLang="en-US" dirty="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131147"/>
            <a:ext cx="10515600" cy="484769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zh-CN" altLang="en-US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  <a:p>
            <a:pPr marL="0" indent="0" algn="ctr">
              <a:buNone/>
            </a:pPr>
            <a:r>
              <a:rPr lang="en-US" altLang="zh-CN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2013</a:t>
            </a:r>
            <a:r>
              <a:rPr lang="zh-CN" altLang="en-US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年</a:t>
            </a:r>
            <a:endParaRPr lang="zh-CN" altLang="en-US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  <a:p>
            <a:pPr marL="0" indent="0" algn="ctr">
              <a:buNone/>
            </a:pPr>
            <a:r>
              <a:rPr lang="en-US" altLang="zh-CN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Win7</a:t>
            </a:r>
            <a:r>
              <a:rPr lang="zh-CN" altLang="en-US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占有率超过</a:t>
            </a:r>
            <a:r>
              <a:rPr lang="en-US" altLang="zh-CN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XP</a:t>
            </a:r>
            <a:endParaRPr lang="en-US" altLang="zh-CN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  <a:p>
            <a:pPr marL="0" indent="0" algn="ctr">
              <a:buNone/>
            </a:pPr>
            <a:r>
              <a:rPr lang="en-US" altLang="zh-CN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XP</a:t>
            </a:r>
            <a:r>
              <a:rPr lang="zh-CN" altLang="en-US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时代正在逝去</a:t>
            </a:r>
            <a:endParaRPr lang="zh-CN" altLang="en-US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  <a:p>
            <a:pPr marL="0" indent="0" algn="ctr">
              <a:buNone/>
            </a:pPr>
            <a:endParaRPr lang="zh-CN" altLang="en-US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  <a:p>
            <a:pPr marL="0" indent="0" algn="ctr">
              <a:buNone/>
            </a:pPr>
            <a:r>
              <a:rPr lang="zh-CN" altLang="en-US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2014年4月8日</a:t>
            </a:r>
            <a:endParaRPr lang="zh-CN" altLang="en-US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  <a:p>
            <a:pPr marL="0" indent="0" algn="ctr">
              <a:buNone/>
            </a:pPr>
            <a:r>
              <a:rPr lang="zh-CN" altLang="en-US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Windows XP SP3停止服务</a:t>
            </a:r>
            <a:endParaRPr lang="zh-CN" altLang="en-US" dirty="0"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  <a:p>
            <a:pPr marL="0" indent="0" algn="ctr">
              <a:buNone/>
            </a:pPr>
            <a:r>
              <a:rPr lang="en-US" altLang="zh-CN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XP</a:t>
            </a:r>
            <a:r>
              <a:rPr lang="zh-CN" altLang="en-US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时代终结</a:t>
            </a:r>
            <a:endParaRPr lang="zh-CN" altLang="en-US" dirty="0">
              <a:latin typeface="楷体_GB2312" panose="02010609030101010101" charset="-122"/>
              <a:ea typeface="楷体_GB2312" panose="02010609030101010101" charset="-122"/>
              <a:cs typeface="+mn-cs"/>
              <a:sym typeface="+mn-ea"/>
            </a:endParaRPr>
          </a:p>
          <a:p>
            <a:pPr marL="0" indent="0" algn="ctr">
              <a:buNone/>
            </a:pPr>
            <a:endParaRPr lang="zh-CN" altLang="en-US" dirty="0" smtClean="0">
              <a:latin typeface="楷体_GB2312" panose="02010609030101010101" charset="-122"/>
              <a:ea typeface="楷体_GB2312" panose="0201060903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>
            <p:custDataLst>
              <p:tags r:id="rId1"/>
            </p:custDataLst>
          </p:nvPr>
        </p:nvSpPr>
        <p:spPr>
          <a:xfrm>
            <a:off x="320675" y="3115310"/>
            <a:ext cx="2118995" cy="1333500"/>
          </a:xfrm>
          <a:custGeom>
            <a:avLst/>
            <a:gdLst>
              <a:gd name="connsiteX0" fmla="*/ 0 w 2119085"/>
              <a:gd name="connsiteY0" fmla="*/ 0 h 1333742"/>
              <a:gd name="connsiteX1" fmla="*/ 1611876 w 2119085"/>
              <a:gd name="connsiteY1" fmla="*/ 0 h 1333742"/>
              <a:gd name="connsiteX2" fmla="*/ 2119085 w 2119085"/>
              <a:gd name="connsiteY2" fmla="*/ 666871 h 1333742"/>
              <a:gd name="connsiteX3" fmla="*/ 1611876 w 2119085"/>
              <a:gd name="connsiteY3" fmla="*/ 1333742 h 1333742"/>
              <a:gd name="connsiteX4" fmla="*/ 23917 w 2119085"/>
              <a:gd name="connsiteY4" fmla="*/ 1333742 h 1333742"/>
              <a:gd name="connsiteX5" fmla="*/ 508233 w 2119085"/>
              <a:gd name="connsiteY5" fmla="*/ 682941 h 1333742"/>
              <a:gd name="connsiteX6" fmla="*/ 0 w 2119085"/>
              <a:gd name="connsiteY6" fmla="*/ 0 h 13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9085" h="1333742">
                <a:moveTo>
                  <a:pt x="0" y="0"/>
                </a:moveTo>
                <a:lnTo>
                  <a:pt x="1611876" y="0"/>
                </a:lnTo>
                <a:lnTo>
                  <a:pt x="2119085" y="666871"/>
                </a:lnTo>
                <a:lnTo>
                  <a:pt x="1611876" y="1333742"/>
                </a:lnTo>
                <a:lnTo>
                  <a:pt x="23917" y="1333742"/>
                </a:lnTo>
                <a:lnTo>
                  <a:pt x="508233" y="68294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4000" rIns="504000" rtlCol="0" anchor="ctr">
            <a:normAutofit/>
          </a:bodyPr>
          <a:lstStyle/>
          <a:p>
            <a:pPr algn="ctr"/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  <a:latin typeface="Tahoma" panose="020B0604030504040204" charset="0"/>
                <a:ea typeface="华文楷体" panose="02010600040101010101" charset="-122"/>
                <a:cs typeface="+mj-cs"/>
              </a:rPr>
              <a:t>停止销售</a:t>
            </a:r>
            <a:endParaRPr lang="zh-CN" altLang="en-US" b="1" dirty="0">
              <a:solidFill>
                <a:schemeClr val="bg1">
                  <a:lumMod val="75000"/>
                </a:schemeClr>
              </a:solidFill>
              <a:latin typeface="Tahoma" panose="020B0604030504040204" charset="0"/>
              <a:ea typeface="华文楷体" panose="02010600040101010101" charset="-122"/>
              <a:cs typeface="+mj-cs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044302" y="4613"/>
            <a:ext cx="10309498" cy="1126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隶书" panose="02010509060101010101" charset="-122"/>
                <a:ea typeface="隶书" panose="02010509060101010101" charset="-122"/>
              </a:rPr>
              <a:t>死之钟</a:t>
            </a:r>
            <a:endParaRPr lang="en-US" altLang="zh-CN" dirty="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320675" y="3125470"/>
            <a:ext cx="2118995" cy="1333500"/>
          </a:xfrm>
          <a:custGeom>
            <a:avLst/>
            <a:gdLst>
              <a:gd name="connsiteX0" fmla="*/ 0 w 2119085"/>
              <a:gd name="connsiteY0" fmla="*/ 0 h 1333742"/>
              <a:gd name="connsiteX1" fmla="*/ 1611876 w 2119085"/>
              <a:gd name="connsiteY1" fmla="*/ 0 h 1333742"/>
              <a:gd name="connsiteX2" fmla="*/ 2119085 w 2119085"/>
              <a:gd name="connsiteY2" fmla="*/ 666871 h 1333742"/>
              <a:gd name="connsiteX3" fmla="*/ 1611876 w 2119085"/>
              <a:gd name="connsiteY3" fmla="*/ 1333742 h 1333742"/>
              <a:gd name="connsiteX4" fmla="*/ 23917 w 2119085"/>
              <a:gd name="connsiteY4" fmla="*/ 1333742 h 1333742"/>
              <a:gd name="connsiteX5" fmla="*/ 508233 w 2119085"/>
              <a:gd name="connsiteY5" fmla="*/ 682941 h 1333742"/>
              <a:gd name="connsiteX6" fmla="*/ 0 w 2119085"/>
              <a:gd name="connsiteY6" fmla="*/ 0 h 13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9085" h="1333742">
                <a:moveTo>
                  <a:pt x="0" y="0"/>
                </a:moveTo>
                <a:lnTo>
                  <a:pt x="1611876" y="0"/>
                </a:lnTo>
                <a:lnTo>
                  <a:pt x="2119085" y="666871"/>
                </a:lnTo>
                <a:lnTo>
                  <a:pt x="1611876" y="1333742"/>
                </a:lnTo>
                <a:lnTo>
                  <a:pt x="23917" y="1333742"/>
                </a:lnTo>
                <a:lnTo>
                  <a:pt x="508233" y="68294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4000" rIns="504000" rtlCol="0" anchor="ctr">
            <a:normAutofit/>
          </a:bodyPr>
          <a:lstStyle/>
          <a:p>
            <a:pPr algn="ctr"/>
            <a:r>
              <a:rPr lang="zh-CN" altLang="en-US" dirty="0">
                <a:latin typeface="Tahoma" panose="020B0604030504040204" charset="0"/>
                <a:ea typeface="华文楷体" panose="02010600040101010101" charset="-122"/>
              </a:rPr>
              <a:t>最后的补丁</a:t>
            </a:r>
            <a:endParaRPr lang="zh-CN" altLang="en-US" dirty="0">
              <a:latin typeface="Tahoma" panose="020B0604030504040204" charset="0"/>
              <a:ea typeface="华文楷体" panose="02010600040101010101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4"/>
            </p:custDataLst>
          </p:nvPr>
        </p:nvSpPr>
        <p:spPr>
          <a:xfrm>
            <a:off x="320675" y="3115310"/>
            <a:ext cx="2118995" cy="1333500"/>
          </a:xfrm>
          <a:custGeom>
            <a:avLst/>
            <a:gdLst>
              <a:gd name="connsiteX0" fmla="*/ 0 w 2119085"/>
              <a:gd name="connsiteY0" fmla="*/ 0 h 1333742"/>
              <a:gd name="connsiteX1" fmla="*/ 1611876 w 2119085"/>
              <a:gd name="connsiteY1" fmla="*/ 0 h 1333742"/>
              <a:gd name="connsiteX2" fmla="*/ 2119085 w 2119085"/>
              <a:gd name="connsiteY2" fmla="*/ 666871 h 1333742"/>
              <a:gd name="connsiteX3" fmla="*/ 1611876 w 2119085"/>
              <a:gd name="connsiteY3" fmla="*/ 1333742 h 1333742"/>
              <a:gd name="connsiteX4" fmla="*/ 23917 w 2119085"/>
              <a:gd name="connsiteY4" fmla="*/ 1333742 h 1333742"/>
              <a:gd name="connsiteX5" fmla="*/ 508233 w 2119085"/>
              <a:gd name="connsiteY5" fmla="*/ 682941 h 1333742"/>
              <a:gd name="connsiteX6" fmla="*/ 0 w 2119085"/>
              <a:gd name="connsiteY6" fmla="*/ 0 h 13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9085" h="1333742">
                <a:moveTo>
                  <a:pt x="0" y="0"/>
                </a:moveTo>
                <a:lnTo>
                  <a:pt x="1611876" y="0"/>
                </a:lnTo>
                <a:lnTo>
                  <a:pt x="2119085" y="666871"/>
                </a:lnTo>
                <a:lnTo>
                  <a:pt x="1611876" y="1333742"/>
                </a:lnTo>
                <a:lnTo>
                  <a:pt x="23917" y="1333742"/>
                </a:lnTo>
                <a:lnTo>
                  <a:pt x="508233" y="68294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4000" rIns="504000" rtlCol="0" anchor="ctr">
            <a:normAutofit/>
          </a:bodyPr>
          <a:lstStyle/>
          <a:p>
            <a:pPr algn="ctr"/>
            <a:r>
              <a:rPr lang="zh-CN" altLang="en-US" dirty="0">
                <a:latin typeface="Tahoma" panose="020B0604030504040204" charset="0"/>
                <a:ea typeface="华文楷体" panose="02010600040101010101" charset="-122"/>
              </a:rPr>
              <a:t>停止技术支持</a:t>
            </a:r>
            <a:endParaRPr lang="zh-CN" altLang="en-US" dirty="0">
              <a:latin typeface="Tahoma" panose="020B0604030504040204" charset="0"/>
              <a:ea typeface="华文楷体" panose="02010600040101010101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5"/>
            </p:custDataLst>
          </p:nvPr>
        </p:nvSpPr>
        <p:spPr>
          <a:xfrm>
            <a:off x="320675" y="3115310"/>
            <a:ext cx="2118995" cy="1333500"/>
          </a:xfrm>
          <a:custGeom>
            <a:avLst/>
            <a:gdLst>
              <a:gd name="connsiteX0" fmla="*/ 0 w 2119085"/>
              <a:gd name="connsiteY0" fmla="*/ 0 h 1333742"/>
              <a:gd name="connsiteX1" fmla="*/ 1611876 w 2119085"/>
              <a:gd name="connsiteY1" fmla="*/ 0 h 1333742"/>
              <a:gd name="connsiteX2" fmla="*/ 2119085 w 2119085"/>
              <a:gd name="connsiteY2" fmla="*/ 666871 h 1333742"/>
              <a:gd name="connsiteX3" fmla="*/ 1611876 w 2119085"/>
              <a:gd name="connsiteY3" fmla="*/ 1333742 h 1333742"/>
              <a:gd name="connsiteX4" fmla="*/ 23917 w 2119085"/>
              <a:gd name="connsiteY4" fmla="*/ 1333742 h 1333742"/>
              <a:gd name="connsiteX5" fmla="*/ 508233 w 2119085"/>
              <a:gd name="connsiteY5" fmla="*/ 682941 h 1333742"/>
              <a:gd name="connsiteX6" fmla="*/ 0 w 2119085"/>
              <a:gd name="connsiteY6" fmla="*/ 0 h 13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9085" h="1333742">
                <a:moveTo>
                  <a:pt x="0" y="0"/>
                </a:moveTo>
                <a:lnTo>
                  <a:pt x="1611876" y="0"/>
                </a:lnTo>
                <a:lnTo>
                  <a:pt x="2119085" y="666871"/>
                </a:lnTo>
                <a:lnTo>
                  <a:pt x="1611876" y="1333742"/>
                </a:lnTo>
                <a:lnTo>
                  <a:pt x="23917" y="1333742"/>
                </a:lnTo>
                <a:lnTo>
                  <a:pt x="508233" y="68294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4000" rIns="504000" rtlCol="0" anchor="ctr">
            <a:normAutofit/>
          </a:bodyPr>
          <a:lstStyle/>
          <a:p>
            <a:pPr algn="ctr"/>
            <a:r>
              <a:rPr lang="zh-CN" altLang="en-US" dirty="0">
                <a:latin typeface="Tahoma" panose="020B0604030504040204" charset="0"/>
                <a:ea typeface="华文楷体" panose="02010600040101010101" charset="-122"/>
              </a:rPr>
              <a:t>被</a:t>
            </a:r>
            <a:r>
              <a:rPr lang="en-US" altLang="zh-CN" dirty="0">
                <a:latin typeface="Tahoma" panose="020B0604030504040204" charset="0"/>
                <a:ea typeface="华文楷体" panose="02010600040101010101" charset="-122"/>
              </a:rPr>
              <a:t>win7</a:t>
            </a:r>
            <a:r>
              <a:rPr lang="zh-CN" altLang="en-US" dirty="0">
                <a:latin typeface="Tahoma" panose="020B0604030504040204" charset="0"/>
                <a:ea typeface="华文楷体" panose="02010600040101010101" charset="-122"/>
              </a:rPr>
              <a:t>取代</a:t>
            </a:r>
            <a:endParaRPr lang="zh-CN" altLang="en-US" dirty="0">
              <a:latin typeface="Tahoma" panose="020B0604030504040204" charset="0"/>
              <a:ea typeface="华文楷体" panose="02010600040101010101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320675" y="3115310"/>
            <a:ext cx="2118995" cy="1333500"/>
          </a:xfrm>
          <a:custGeom>
            <a:avLst/>
            <a:gdLst>
              <a:gd name="connsiteX0" fmla="*/ 0 w 2119085"/>
              <a:gd name="connsiteY0" fmla="*/ 0 h 1333742"/>
              <a:gd name="connsiteX1" fmla="*/ 1611876 w 2119085"/>
              <a:gd name="connsiteY1" fmla="*/ 0 h 1333742"/>
              <a:gd name="connsiteX2" fmla="*/ 2119085 w 2119085"/>
              <a:gd name="connsiteY2" fmla="*/ 666871 h 1333742"/>
              <a:gd name="connsiteX3" fmla="*/ 1611876 w 2119085"/>
              <a:gd name="connsiteY3" fmla="*/ 1333742 h 1333742"/>
              <a:gd name="connsiteX4" fmla="*/ 23917 w 2119085"/>
              <a:gd name="connsiteY4" fmla="*/ 1333742 h 1333742"/>
              <a:gd name="connsiteX5" fmla="*/ 508233 w 2119085"/>
              <a:gd name="connsiteY5" fmla="*/ 682941 h 1333742"/>
              <a:gd name="connsiteX6" fmla="*/ 0 w 2119085"/>
              <a:gd name="connsiteY6" fmla="*/ 0 h 13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9085" h="1333742">
                <a:moveTo>
                  <a:pt x="0" y="0"/>
                </a:moveTo>
                <a:lnTo>
                  <a:pt x="1611876" y="0"/>
                </a:lnTo>
                <a:lnTo>
                  <a:pt x="2119085" y="666871"/>
                </a:lnTo>
                <a:lnTo>
                  <a:pt x="1611876" y="1333742"/>
                </a:lnTo>
                <a:lnTo>
                  <a:pt x="23917" y="1333742"/>
                </a:lnTo>
                <a:lnTo>
                  <a:pt x="508233" y="68294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4000" rIns="504000" rtlCol="0" anchor="ctr">
            <a:normAutofit/>
          </a:bodyPr>
          <a:lstStyle/>
          <a:p>
            <a:pPr algn="ctr"/>
            <a:r>
              <a:rPr lang="zh-CN" altLang="en-US" dirty="0">
                <a:latin typeface="Tahoma" panose="020B0604030504040204" charset="0"/>
                <a:ea typeface="华文楷体" panose="02010600040101010101" charset="-122"/>
              </a:rPr>
              <a:t>停止服务</a:t>
            </a:r>
            <a:endParaRPr lang="zh-CN" altLang="en-US" dirty="0">
              <a:latin typeface="Tahoma" panose="020B0604030504040204" charset="0"/>
              <a:ea typeface="华文楷体" panose="02010600040101010101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320675" y="3108960"/>
            <a:ext cx="2118995" cy="1333500"/>
          </a:xfrm>
          <a:custGeom>
            <a:avLst/>
            <a:gdLst>
              <a:gd name="connsiteX0" fmla="*/ 0 w 2119085"/>
              <a:gd name="connsiteY0" fmla="*/ 0 h 1333742"/>
              <a:gd name="connsiteX1" fmla="*/ 1611876 w 2119085"/>
              <a:gd name="connsiteY1" fmla="*/ 0 h 1333742"/>
              <a:gd name="connsiteX2" fmla="*/ 2119085 w 2119085"/>
              <a:gd name="connsiteY2" fmla="*/ 666871 h 1333742"/>
              <a:gd name="connsiteX3" fmla="*/ 1611876 w 2119085"/>
              <a:gd name="connsiteY3" fmla="*/ 1333742 h 1333742"/>
              <a:gd name="connsiteX4" fmla="*/ 23917 w 2119085"/>
              <a:gd name="connsiteY4" fmla="*/ 1333742 h 1333742"/>
              <a:gd name="connsiteX5" fmla="*/ 508233 w 2119085"/>
              <a:gd name="connsiteY5" fmla="*/ 682941 h 1333742"/>
              <a:gd name="connsiteX6" fmla="*/ 0 w 2119085"/>
              <a:gd name="connsiteY6" fmla="*/ 0 h 1333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9085" h="1333742">
                <a:moveTo>
                  <a:pt x="0" y="0"/>
                </a:moveTo>
                <a:lnTo>
                  <a:pt x="1611876" y="0"/>
                </a:lnTo>
                <a:lnTo>
                  <a:pt x="2119085" y="666871"/>
                </a:lnTo>
                <a:lnTo>
                  <a:pt x="1611876" y="1333742"/>
                </a:lnTo>
                <a:lnTo>
                  <a:pt x="23917" y="1333742"/>
                </a:lnTo>
                <a:lnTo>
                  <a:pt x="508233" y="68294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4000" rIns="504000" rtlCol="0" anchor="ctr">
            <a:normAutofit/>
          </a:bodyPr>
          <a:lstStyle/>
          <a:p>
            <a:pPr algn="ctr"/>
            <a:r>
              <a:rPr lang="zh-CN" altLang="en-US" dirty="0">
                <a:latin typeface="Tahoma" panose="020B0604030504040204" charset="0"/>
                <a:ea typeface="华文楷体" panose="02010600040101010101" charset="-122"/>
              </a:rPr>
              <a:t>第二次停止技术支持</a:t>
            </a:r>
            <a:endParaRPr lang="zh-CN" altLang="en-US" dirty="0">
              <a:latin typeface="Tahoma" panose="020B0604030504040204" charset="0"/>
              <a:ea typeface="华文楷体" panose="0201060004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320675" y="2025650"/>
            <a:ext cx="2118995" cy="108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normAutofit/>
          </a:bodyPr>
          <a:lstStyle>
            <a:defPPr>
              <a:defRPr lang="zh-CN"/>
            </a:defPPr>
            <a:lvl1pPr algn="ctr" latinLnBrk="1">
              <a:lnSpc>
                <a:spcPct val="120000"/>
              </a:lnSpc>
              <a:defRPr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cs typeface="+mn-cs"/>
              </a:rPr>
              <a:t>2008年6月30日，微软停止Windows XP销售</a:t>
            </a:r>
            <a:endParaRPr lang="zh-CN" altLang="en-US" dirty="0">
              <a:cs typeface="+mn-cs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2206625" y="4475480"/>
            <a:ext cx="2120265" cy="108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defPPr>
              <a:defRPr lang="zh-CN"/>
            </a:defPPr>
            <a:lvl1pPr algn="ctr" latinLnBrk="1">
              <a:lnSpc>
                <a:spcPct val="120000"/>
              </a:lnSpc>
              <a:defRPr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cs typeface="+mn-cs"/>
              </a:rPr>
              <a:t>2009年4月14日，微软停止Windows XP的主流技术支持</a:t>
            </a:r>
            <a:endParaRPr lang="zh-CN" altLang="en-US" dirty="0">
              <a:cs typeface="+mn-cs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3790950" y="1890395"/>
            <a:ext cx="2721610" cy="1224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normAutofit fontScale="90000" lnSpcReduction="10000"/>
          </a:bodyPr>
          <a:lstStyle>
            <a:defPPr>
              <a:defRPr lang="zh-CN"/>
            </a:defPPr>
            <a:lvl1pPr algn="ctr" latinLnBrk="1">
              <a:lnSpc>
                <a:spcPct val="120000"/>
              </a:lnSpc>
              <a:defRPr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cs typeface="+mn-cs"/>
              </a:rPr>
              <a:t>2013</a:t>
            </a:r>
            <a:r>
              <a:rPr lang="zh-CN" altLang="en-US" dirty="0">
                <a:cs typeface="+mn-cs"/>
              </a:rPr>
              <a:t>年</a:t>
            </a:r>
            <a:r>
              <a:rPr lang="en-US" altLang="zh-CN" dirty="0">
                <a:cs typeface="+mn-cs"/>
              </a:rPr>
              <a:t>6</a:t>
            </a:r>
            <a:r>
              <a:rPr lang="zh-CN" altLang="en-US" dirty="0">
                <a:cs typeface="+mn-cs"/>
              </a:rPr>
              <a:t>月</a:t>
            </a:r>
            <a:r>
              <a:rPr lang="zh-CN" altLang="en-US" dirty="0">
                <a:cs typeface="+mn-cs"/>
              </a:rPr>
              <a:t>Windows 7的市场占有率高出Windows XP </a:t>
            </a:r>
            <a:endParaRPr lang="zh-CN" altLang="en-US" dirty="0">
              <a:cs typeface="+mn-cs"/>
            </a:endParaRPr>
          </a:p>
          <a:p>
            <a:r>
              <a:rPr lang="zh-CN" altLang="en-US" dirty="0">
                <a:cs typeface="+mn-cs"/>
              </a:rPr>
              <a:t>7%以上，已经替代</a:t>
            </a:r>
            <a:endParaRPr lang="zh-CN" altLang="en-US" dirty="0">
              <a:cs typeface="+mn-cs"/>
            </a:endParaRPr>
          </a:p>
          <a:p>
            <a:r>
              <a:rPr lang="zh-CN" altLang="en-US" dirty="0">
                <a:cs typeface="+mn-cs"/>
              </a:rPr>
              <a:t>Windows XP</a:t>
            </a:r>
            <a:endParaRPr lang="zh-CN" altLang="en-US" dirty="0"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5978525" y="4475480"/>
            <a:ext cx="2120265" cy="108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defPPr>
              <a:defRPr lang="zh-CN"/>
            </a:defPPr>
            <a:lvl1pPr algn="ctr" latinLnBrk="1">
              <a:lnSpc>
                <a:spcPct val="120000"/>
              </a:lnSpc>
              <a:defRPr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cs typeface="+mn-cs"/>
              </a:rPr>
              <a:t>Windows XP SP3于2014年4月8日停止服务</a:t>
            </a:r>
            <a:endParaRPr lang="zh-CN" altLang="en-US" dirty="0">
              <a:cs typeface="+mn-cs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7864475" y="2025650"/>
            <a:ext cx="2120265" cy="108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normAutofit/>
          </a:bodyPr>
          <a:lstStyle>
            <a:defPPr>
              <a:defRPr lang="zh-CN"/>
            </a:defPPr>
            <a:lvl1pPr algn="ctr" latinLnBrk="1">
              <a:lnSpc>
                <a:spcPct val="120000"/>
              </a:lnSpc>
              <a:defRPr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cs typeface="+mn-cs"/>
                <a:sym typeface="+mn-ea"/>
              </a:rPr>
              <a:t>2015年7月14日，Windows XP第二次中止技术支持</a:t>
            </a:r>
            <a:endParaRPr lang="zh-CN" altLang="en-US" dirty="0">
              <a:cs typeface="+mn-cs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9750425" y="4475480"/>
            <a:ext cx="2120265" cy="108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0000"/>
          </a:bodyPr>
          <a:lstStyle>
            <a:defPPr>
              <a:defRPr lang="zh-CN"/>
            </a:defPPr>
            <a:lvl1pPr algn="ctr" latinLnBrk="1">
              <a:lnSpc>
                <a:spcPct val="120000"/>
              </a:lnSpc>
              <a:defRPr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cs typeface="+mn-cs"/>
              </a:rPr>
              <a:t>2017年5月13日因“Wannacry”勒索蠕虫而发布特别补丁</a:t>
            </a:r>
            <a:endParaRPr lang="zh-CN" altLang="en-US" dirty="0">
              <a:cs typeface="+mn-cs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48 -0.000277 L 0.154741 -0.000185 " pathEditMode="fixed" rAng="0" ptsTypes="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39 -0.002685 L 0.304426 -0.000185 " pathEditMode="fixed" rAng="0" ptsTypes=""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" y="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188 0.003611 L 0.467917 0.003611 " pathEditMode="fixed" rAng="0" ptsTypes="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34 -0.002037 L 0.618230 0.005741 " pathEditMode="fixed" rAng="0" ptsTypes="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" y="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59 0.002315 L 0.772812 0.000556 " pathEditMode="fixed" rAng="0" ptsTypes="">
                                      <p:cBhvr>
                                        <p:cTn id="1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6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25" grpId="0" bldLvl="0" animBg="1"/>
      <p:bldP spid="8" grpId="0" bldLvl="0" animBg="1"/>
      <p:bldP spid="9" grpId="0" bldLvl="0" animBg="1"/>
      <p:bldP spid="2" grpId="0" bldLvl="0" animBg="1"/>
      <p:bldP spid="10" grpId="0"/>
      <p:bldP spid="12" grpId="0"/>
      <p:bldP spid="13" grpId="0"/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隶书" panose="02010509060101010101" charset="-122"/>
                <a:ea typeface="隶书" panose="02010509060101010101" charset="-122"/>
              </a:rPr>
              <a:t>死之钟</a:t>
            </a:r>
            <a:endParaRPr lang="zh-CN" altLang="en-US" dirty="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044575" y="2390140"/>
            <a:ext cx="10650855" cy="20770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600" dirty="0" smtClean="0"/>
              <a:t>但是，</a:t>
            </a:r>
            <a:r>
              <a:rPr lang="en-US" altLang="zh-CN" sz="3600" dirty="0" smtClean="0"/>
              <a:t>XP</a:t>
            </a:r>
            <a:r>
              <a:rPr lang="zh-CN" altLang="en-US" sz="3600" dirty="0" smtClean="0"/>
              <a:t>依然是所有操作系统中最长寿的一个。</a:t>
            </a:r>
            <a:endParaRPr lang="zh-CN" altLang="en-US" sz="3600" dirty="0" smtClean="0"/>
          </a:p>
          <a:p>
            <a:pPr marL="0" indent="0">
              <a:buNone/>
            </a:pPr>
            <a:endParaRPr lang="zh-CN" altLang="en-US" sz="3600" dirty="0" smtClean="0"/>
          </a:p>
        </p:txBody>
      </p:sp>
      <p:grpSp>
        <p:nvGrpSpPr>
          <p:cNvPr id="8" name="组合 7"/>
          <p:cNvGrpSpPr/>
          <p:nvPr/>
        </p:nvGrpSpPr>
        <p:grpSpPr>
          <a:xfrm>
            <a:off x="703580" y="3764280"/>
            <a:ext cx="10344785" cy="712470"/>
            <a:chOff x="1108" y="5928"/>
            <a:chExt cx="16291" cy="1122"/>
          </a:xfrm>
        </p:grpSpPr>
        <p:cxnSp>
          <p:nvCxnSpPr>
            <p:cNvPr id="4" name="直接箭头连接符 3"/>
            <p:cNvCxnSpPr/>
            <p:nvPr/>
          </p:nvCxnSpPr>
          <p:spPr>
            <a:xfrm>
              <a:off x="1982" y="5928"/>
              <a:ext cx="14836" cy="0"/>
            </a:xfrm>
            <a:prstGeom prst="straightConnector1">
              <a:avLst/>
            </a:prstGeom>
            <a:ln w="76200">
              <a:solidFill>
                <a:srgbClr val="FFFF00"/>
              </a:solidFill>
              <a:miter lim="800000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6"/>
            <p:cNvGrpSpPr/>
            <p:nvPr/>
          </p:nvGrpSpPr>
          <p:grpSpPr>
            <a:xfrm>
              <a:off x="1108" y="6325"/>
              <a:ext cx="16291" cy="725"/>
              <a:chOff x="1108" y="6325"/>
              <a:chExt cx="16291" cy="72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1108" y="6325"/>
                <a:ext cx="2592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>
                    <a:latin typeface="Comic Sans MS" panose="030F0702030302020204" charset="0"/>
                    <a:ea typeface="迷你简丫丫" panose="02010604000101010101" charset="-122"/>
                  </a:rPr>
                  <a:t>2</a:t>
                </a:r>
                <a:r>
                  <a:rPr lang="en-US" altLang="zh-CN" sz="2400">
                    <a:latin typeface="Comic Sans MS" panose="030F0702030302020204" charset="0"/>
                    <a:ea typeface="迷你简丫丫" panose="02010604000101010101" charset="-122"/>
                  </a:rPr>
                  <a:t>001年</a:t>
                </a:r>
                <a:endParaRPr lang="en-US" altLang="zh-CN" sz="2400">
                  <a:latin typeface="Comic Sans MS" panose="030F0702030302020204" charset="0"/>
                  <a:ea typeface="迷你简丫丫" panose="02010604000101010101" charset="-122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15389" y="6325"/>
                <a:ext cx="2010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altLang="zh-CN" sz="2400">
                    <a:latin typeface="Comic Sans MS" panose="030F0702030302020204" charset="0"/>
                    <a:ea typeface="迷你简丫丫" panose="02010604000101010101" charset="-122"/>
                  </a:rPr>
                  <a:t>2014年</a:t>
                </a:r>
                <a:endParaRPr lang="en-US" altLang="zh-CN" sz="2400">
                  <a:latin typeface="Comic Sans MS" panose="030F0702030302020204" charset="0"/>
                  <a:ea typeface="迷你简丫丫" panose="02010604000101010101" charset="-122"/>
                </a:endParaRPr>
              </a:p>
            </p:txBody>
          </p:sp>
        </p:grpSp>
      </p:grp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XP:由爱生恨的系统长者</a:t>
            </a:r>
            <a:endParaRPr lang="en-US" altLang="zh-CN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55675" y="2713355"/>
            <a:ext cx="4761865" cy="860425"/>
            <a:chOff x="1505" y="4273"/>
            <a:chExt cx="7499" cy="1355"/>
          </a:xfrm>
        </p:grpSpPr>
        <p:sp>
          <p:nvSpPr>
            <p:cNvPr id="11" name="文本框 10"/>
            <p:cNvSpPr txBox="1"/>
            <p:nvPr>
              <p:custDataLst>
                <p:tags r:id="rId1"/>
              </p:custDataLst>
            </p:nvPr>
          </p:nvSpPr>
          <p:spPr>
            <a:xfrm>
              <a:off x="2986" y="4273"/>
              <a:ext cx="6019" cy="1091"/>
            </a:xfrm>
            <a:prstGeom prst="rect">
              <a:avLst/>
            </a:prstGeom>
            <a:noFill/>
          </p:spPr>
          <p:txBody>
            <a:bodyPr wrap="square" rtlCol="0" anchor="b">
              <a:normAutofit/>
            </a:bodyPr>
            <a:lstStyle/>
            <a:p>
              <a:pPr algn="l"/>
              <a:r>
                <a:rPr lang="en-US" altLang="zh-CN" sz="2800" b="1" dirty="0">
                  <a:solidFill>
                    <a:schemeClr val="accent1"/>
                  </a:solidFill>
                  <a:latin typeface="楷体_GB2312" panose="02010609030101010101" charset="-122"/>
                  <a:ea typeface="楷体_GB2312" panose="02010609030101010101" charset="-122"/>
                  <a:cs typeface="+mj-cs"/>
                </a:rPr>
                <a:t>爱=对的时间+对的人</a:t>
              </a:r>
              <a:endParaRPr lang="en-US" altLang="zh-CN" sz="2800" b="1" dirty="0">
                <a:solidFill>
                  <a:schemeClr val="accent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endParaRPr>
            </a:p>
          </p:txBody>
        </p:sp>
        <p:sp>
          <p:nvSpPr>
            <p:cNvPr id="13" name="任意多边形 12"/>
            <p:cNvSpPr/>
            <p:nvPr>
              <p:custDataLst>
                <p:tags r:id="rId2"/>
              </p:custDataLst>
            </p:nvPr>
          </p:nvSpPr>
          <p:spPr>
            <a:xfrm>
              <a:off x="1505" y="4458"/>
              <a:ext cx="1459" cy="1170"/>
            </a:xfrm>
            <a:custGeom>
              <a:avLst/>
              <a:gdLst>
                <a:gd name="connsiteX0" fmla="*/ 123827 w 926188"/>
                <a:gd name="connsiteY0" fmla="*/ 0 h 742950"/>
                <a:gd name="connsiteX1" fmla="*/ 630917 w 926188"/>
                <a:gd name="connsiteY1" fmla="*/ 0 h 742950"/>
                <a:gd name="connsiteX2" fmla="*/ 754744 w 926188"/>
                <a:gd name="connsiteY2" fmla="*/ 123827 h 742950"/>
                <a:gd name="connsiteX3" fmla="*/ 754744 w 926188"/>
                <a:gd name="connsiteY3" fmla="*/ 265344 h 742950"/>
                <a:gd name="connsiteX4" fmla="*/ 926188 w 926188"/>
                <a:gd name="connsiteY4" fmla="*/ 371476 h 742950"/>
                <a:gd name="connsiteX5" fmla="*/ 754744 w 926188"/>
                <a:gd name="connsiteY5" fmla="*/ 477608 h 742950"/>
                <a:gd name="connsiteX6" fmla="*/ 754744 w 926188"/>
                <a:gd name="connsiteY6" fmla="*/ 619123 h 742950"/>
                <a:gd name="connsiteX7" fmla="*/ 630917 w 926188"/>
                <a:gd name="connsiteY7" fmla="*/ 742950 h 742950"/>
                <a:gd name="connsiteX8" fmla="*/ 326113 w 926188"/>
                <a:gd name="connsiteY8" fmla="*/ 742950 h 742950"/>
                <a:gd name="connsiteX9" fmla="*/ 123827 w 926188"/>
                <a:gd name="connsiteY9" fmla="*/ 742950 h 742950"/>
                <a:gd name="connsiteX10" fmla="*/ 0 w 926188"/>
                <a:gd name="connsiteY10" fmla="*/ 619123 h 742950"/>
                <a:gd name="connsiteX11" fmla="*/ 0 w 926188"/>
                <a:gd name="connsiteY11" fmla="*/ 123827 h 742950"/>
                <a:gd name="connsiteX12" fmla="*/ 123827 w 926188"/>
                <a:gd name="connsiteY12" fmla="*/ 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6188" h="742950">
                  <a:moveTo>
                    <a:pt x="123827" y="0"/>
                  </a:moveTo>
                  <a:lnTo>
                    <a:pt x="630917" y="0"/>
                  </a:lnTo>
                  <a:cubicBezTo>
                    <a:pt x="699305" y="0"/>
                    <a:pt x="754744" y="55439"/>
                    <a:pt x="754744" y="123827"/>
                  </a:cubicBezTo>
                  <a:lnTo>
                    <a:pt x="754744" y="265344"/>
                  </a:lnTo>
                  <a:lnTo>
                    <a:pt x="926188" y="371476"/>
                  </a:lnTo>
                  <a:lnTo>
                    <a:pt x="754744" y="477608"/>
                  </a:lnTo>
                  <a:lnTo>
                    <a:pt x="754744" y="619123"/>
                  </a:lnTo>
                  <a:cubicBezTo>
                    <a:pt x="754744" y="687511"/>
                    <a:pt x="699305" y="742950"/>
                    <a:pt x="630917" y="742950"/>
                  </a:cubicBezTo>
                  <a:lnTo>
                    <a:pt x="326113" y="742950"/>
                  </a:lnTo>
                  <a:lnTo>
                    <a:pt x="123827" y="742950"/>
                  </a:lnTo>
                  <a:cubicBezTo>
                    <a:pt x="55439" y="742950"/>
                    <a:pt x="0" y="687511"/>
                    <a:pt x="0" y="619123"/>
                  </a:cubicBezTo>
                  <a:lnTo>
                    <a:pt x="0" y="123827"/>
                  </a:lnTo>
                  <a:cubicBezTo>
                    <a:pt x="0" y="55439"/>
                    <a:pt x="55439" y="0"/>
                    <a:pt x="123827" y="0"/>
                  </a:cubicBezTo>
                  <a:close/>
                </a:path>
              </a:pathLst>
            </a:cu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Ins="288000" rtlCol="0" anchor="ctr">
              <a:noAutofit/>
            </a:bodyPr>
            <a:lstStyle/>
            <a:p>
              <a:pPr algn="ctr"/>
              <a:r>
                <a:rPr lang="en-US" altLang="zh-CN" sz="4000" b="1" dirty="0" smtClean="0">
                  <a:solidFill>
                    <a:schemeClr val="tx1"/>
                  </a:solidFill>
                </a:rPr>
                <a:t>A</a:t>
              </a:r>
              <a:endParaRPr lang="zh-CN" altLang="en-US" sz="4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043930" y="2713355"/>
            <a:ext cx="5029835" cy="860425"/>
            <a:chOff x="9518" y="4273"/>
            <a:chExt cx="7921" cy="1355"/>
          </a:xfrm>
        </p:grpSpPr>
        <p:sp>
          <p:nvSpPr>
            <p:cNvPr id="16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10999" y="4273"/>
              <a:ext cx="6441" cy="1091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altLang="zh-CN" sz="2800" b="1" dirty="0">
                  <a:solidFill>
                    <a:schemeClr val="accent1"/>
                  </a:solidFill>
                  <a:latin typeface="楷体_GB2312" panose="02010609030101010101" charset="-122"/>
                  <a:ea typeface="楷体_GB2312" panose="02010609030101010101" charset="-122"/>
                  <a:cs typeface="+mj-cs"/>
                </a:rPr>
                <a:t>恨=曾经的爱+爱情转移</a:t>
              </a:r>
              <a:endParaRPr lang="en-US" altLang="zh-CN" sz="2800" b="1" dirty="0">
                <a:solidFill>
                  <a:schemeClr val="accent1"/>
                </a:solidFill>
                <a:latin typeface="楷体_GB2312" panose="02010609030101010101" charset="-122"/>
                <a:ea typeface="楷体_GB2312" panose="02010609030101010101" charset="-122"/>
                <a:cs typeface="+mj-cs"/>
              </a:endParaRPr>
            </a:p>
          </p:txBody>
        </p:sp>
        <p:sp>
          <p:nvSpPr>
            <p:cNvPr id="18" name="任意多边形 17"/>
            <p:cNvSpPr/>
            <p:nvPr>
              <p:custDataLst>
                <p:tags r:id="rId4"/>
              </p:custDataLst>
            </p:nvPr>
          </p:nvSpPr>
          <p:spPr>
            <a:xfrm>
              <a:off x="9518" y="4458"/>
              <a:ext cx="1459" cy="1170"/>
            </a:xfrm>
            <a:custGeom>
              <a:avLst/>
              <a:gdLst>
                <a:gd name="connsiteX0" fmla="*/ 123827 w 926188"/>
                <a:gd name="connsiteY0" fmla="*/ 0 h 742950"/>
                <a:gd name="connsiteX1" fmla="*/ 630917 w 926188"/>
                <a:gd name="connsiteY1" fmla="*/ 0 h 742950"/>
                <a:gd name="connsiteX2" fmla="*/ 754744 w 926188"/>
                <a:gd name="connsiteY2" fmla="*/ 123827 h 742950"/>
                <a:gd name="connsiteX3" fmla="*/ 754744 w 926188"/>
                <a:gd name="connsiteY3" fmla="*/ 265344 h 742950"/>
                <a:gd name="connsiteX4" fmla="*/ 926188 w 926188"/>
                <a:gd name="connsiteY4" fmla="*/ 371476 h 742950"/>
                <a:gd name="connsiteX5" fmla="*/ 754744 w 926188"/>
                <a:gd name="connsiteY5" fmla="*/ 477608 h 742950"/>
                <a:gd name="connsiteX6" fmla="*/ 754744 w 926188"/>
                <a:gd name="connsiteY6" fmla="*/ 619123 h 742950"/>
                <a:gd name="connsiteX7" fmla="*/ 630917 w 926188"/>
                <a:gd name="connsiteY7" fmla="*/ 742950 h 742950"/>
                <a:gd name="connsiteX8" fmla="*/ 326113 w 926188"/>
                <a:gd name="connsiteY8" fmla="*/ 742950 h 742950"/>
                <a:gd name="connsiteX9" fmla="*/ 123827 w 926188"/>
                <a:gd name="connsiteY9" fmla="*/ 742950 h 742950"/>
                <a:gd name="connsiteX10" fmla="*/ 0 w 926188"/>
                <a:gd name="connsiteY10" fmla="*/ 619123 h 742950"/>
                <a:gd name="connsiteX11" fmla="*/ 0 w 926188"/>
                <a:gd name="connsiteY11" fmla="*/ 123827 h 742950"/>
                <a:gd name="connsiteX12" fmla="*/ 123827 w 926188"/>
                <a:gd name="connsiteY12" fmla="*/ 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6188" h="742950">
                  <a:moveTo>
                    <a:pt x="123827" y="0"/>
                  </a:moveTo>
                  <a:lnTo>
                    <a:pt x="630917" y="0"/>
                  </a:lnTo>
                  <a:cubicBezTo>
                    <a:pt x="699305" y="0"/>
                    <a:pt x="754744" y="55439"/>
                    <a:pt x="754744" y="123827"/>
                  </a:cubicBezTo>
                  <a:lnTo>
                    <a:pt x="754744" y="265344"/>
                  </a:lnTo>
                  <a:lnTo>
                    <a:pt x="926188" y="371476"/>
                  </a:lnTo>
                  <a:lnTo>
                    <a:pt x="754744" y="477608"/>
                  </a:lnTo>
                  <a:lnTo>
                    <a:pt x="754744" y="619123"/>
                  </a:lnTo>
                  <a:cubicBezTo>
                    <a:pt x="754744" y="687511"/>
                    <a:pt x="699305" y="742950"/>
                    <a:pt x="630917" y="742950"/>
                  </a:cubicBezTo>
                  <a:lnTo>
                    <a:pt x="326113" y="742950"/>
                  </a:lnTo>
                  <a:lnTo>
                    <a:pt x="123827" y="742950"/>
                  </a:lnTo>
                  <a:cubicBezTo>
                    <a:pt x="55439" y="742950"/>
                    <a:pt x="0" y="687511"/>
                    <a:pt x="0" y="619123"/>
                  </a:cubicBezTo>
                  <a:lnTo>
                    <a:pt x="0" y="123827"/>
                  </a:lnTo>
                  <a:cubicBezTo>
                    <a:pt x="0" y="55439"/>
                    <a:pt x="55439" y="0"/>
                    <a:pt x="123827" y="0"/>
                  </a:cubicBezTo>
                  <a:close/>
                </a:path>
              </a:pathLst>
            </a:cu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 rIns="288000" rtlCol="0" anchor="ctr">
              <a:noAutofit/>
            </a:bodyPr>
            <a:lstStyle/>
            <a:p>
              <a:pPr algn="ctr"/>
              <a:r>
                <a:rPr lang="en-US" altLang="zh-CN" sz="4000" b="1" dirty="0">
                  <a:solidFill>
                    <a:schemeClr val="tx1"/>
                  </a:solidFill>
                </a:rPr>
                <a:t>B</a:t>
              </a:r>
              <a:endParaRPr lang="zh-CN" altLang="en-US" sz="40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044302" y="4613"/>
            <a:ext cx="10309498" cy="11263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隶书" panose="02010509060101010101" charset="-122"/>
                <a:ea typeface="隶书" panose="02010509060101010101" charset="-122"/>
                <a:sym typeface="+mn-ea"/>
              </a:rPr>
              <a:t>由爱生恨的系统长者</a:t>
            </a:r>
            <a:endParaRPr lang="zh-CN" altLang="en-US" dirty="0">
              <a:latin typeface="隶书" panose="02010509060101010101" charset="-122"/>
              <a:ea typeface="隶书" panose="02010509060101010101" charset="-122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隶书" panose="02010509060101010101" charset="-122"/>
                <a:ea typeface="隶书" panose="02010509060101010101" charset="-122"/>
                <a:sym typeface="+mn-ea"/>
              </a:rPr>
              <a:t>爱=对的时间+对的人</a:t>
            </a:r>
            <a:endParaRPr lang="zh-CN" altLang="en-US" dirty="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>
                <a:latin typeface="方正姚体" panose="02010601030101010101" charset="-122"/>
                <a:ea typeface="方正姚体" panose="02010601030101010101" charset="-122"/>
              </a:rPr>
              <a:t>Windows XP的长寿可以说就是因为命太好，天时地利人和一应俱全，因为它在对的时间出生，又遇到了对的用户。这款系统诞生在21世纪初，当时PC行业正在全球如雨后春笋般的发展，并逐渐枝繁叶茂。也不好说到底是XP促进了PC普及，还是PC普及帮助XP得势，至少二者是相辅相成。尤其是中国，XP时代正好是电脑大规模普及的时代，因此很多普通用户第一次接触电脑用的就是XP，这使得Windows XP成了很多人在电脑中难以忘怀的初恋。</a:t>
            </a:r>
            <a:endParaRPr lang="zh-CN" altLang="en-US" sz="2800" dirty="0" smtClean="0"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6840" y="589915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>
                <a:solidFill>
                  <a:srgbClr val="3275FF"/>
                </a:solidFill>
                <a:latin typeface="楷体_GB2312" panose="02010609030101010101" charset="-122"/>
                <a:ea typeface="楷体_GB2312" panose="02010609030101010101" charset="-122"/>
                <a:sym typeface="+mn-ea"/>
              </a:rPr>
              <a:t>摘自网络</a:t>
            </a:r>
            <a:endParaRPr lang="zh-CN" altLang="en-US" sz="2400" b="1">
              <a:solidFill>
                <a:srgbClr val="3275FF"/>
              </a:solidFill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隶书" panose="02010509060101010101" charset="-122"/>
                <a:ea typeface="隶书" panose="02010509060101010101" charset="-122"/>
                <a:sym typeface="+mn-ea"/>
              </a:rPr>
              <a:t>恨=曾经的爱+爱情转移</a:t>
            </a:r>
            <a:endParaRPr lang="zh-CN" altLang="en-US" dirty="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zh-CN" altLang="en-US" sz="2800" dirty="0" smtClean="0">
                <a:latin typeface="方正姚体" panose="02010601030101010101" charset="-122"/>
                <a:ea typeface="方正姚体" panose="02010601030101010101" charset="-122"/>
              </a:rPr>
              <a:t>这里的恨，基本上就来源于微软，因为XP的“老不死”耽误自己公司赚钱了。为什么会有这种情况出现？因为XP太优秀，优秀到新系统都没得混，比如Vista。并不是说Vista不优秀，而是生不逢时。Vista是XP诞生后五年的2006年发布的，当时Windows XP正顺风顺水，虽然Vista的界面华丽的一塌糊涂，但颜值太高的一般人都不敢要，因为自己配置太低驾驭不了。而且初来乍到的Vista让一般人看来就只有一张晶莹剔透的外表，却没有XP那种上得厅堂，下得厨房，能屈能伸，能文能武的本事 —— 不懂事的大小姐再漂亮也无福消受。虽然后来大小姐也蜕变成为风流少妇，但为时已晚，Windows7已经来了。</a:t>
            </a:r>
            <a:endParaRPr lang="zh-CN" altLang="en-US" sz="2800" dirty="0" smtClean="0"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6840" y="589915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>
                <a:solidFill>
                  <a:srgbClr val="3275FF"/>
                </a:solidFill>
                <a:latin typeface="楷体_GB2312" panose="02010609030101010101" charset="-122"/>
                <a:ea typeface="楷体_GB2312" panose="02010609030101010101" charset="-122"/>
                <a:sym typeface="+mn-ea"/>
              </a:rPr>
              <a:t>摘自网络</a:t>
            </a:r>
            <a:endParaRPr lang="zh-CN" altLang="en-US" sz="2400" b="1">
              <a:solidFill>
                <a:srgbClr val="3275FF"/>
              </a:solidFill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44302" y="4613"/>
            <a:ext cx="10309498" cy="11263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WINDOWS XP-A DYING DREAM</a:t>
            </a:r>
            <a:endParaRPr lang="en-US" altLang="zh-CN" dirty="0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292600" y="1130935"/>
            <a:ext cx="7609205" cy="5027930"/>
          </a:xfrm>
          <a:prstGeom prst="rect">
            <a:avLst/>
          </a:prstGeom>
        </p:spPr>
        <p:txBody>
          <a:bodyPr wrap="square" anchor="ctr">
            <a:normAutofit fontScale="80000"/>
          </a:bodyPr>
          <a:lstStyle>
            <a:defPPr>
              <a:defRPr lang="zh-CN"/>
            </a:defPPr>
            <a:lvl1pPr>
              <a:lnSpc>
                <a:spcPct val="130000"/>
              </a:lnSpc>
            </a:lvl1pPr>
          </a:lstStyle>
          <a:p>
            <a:pPr algn="just">
              <a:spcBef>
                <a:spcPts val="1200"/>
              </a:spcBef>
              <a:buFont typeface="Wingdings" panose="05000000000000000000" pitchFamily="2" charset="2"/>
            </a:pPr>
            <a:r>
              <a:rPr lang="zh-CN" altLang="en-US" sz="2800" dirty="0" smtClean="0">
                <a:latin typeface="方正姚体" panose="02010601030101010101" charset="-122"/>
                <a:ea typeface="方正姚体" panose="02010601030101010101" charset="-122"/>
              </a:rPr>
              <a:t>曾经有多爱，分手后就有多恨。Windows XP曾经是微软最大的骄傲，很多用户就是靠XP才认识的微软，当然也有很多用户只知道XP不知道微软……嗯，还有用户都不知道，但认为那个蓝天白云绿草地的就是电脑，也正因如此，XP才如此顽固，难以彻底走下历史舞台。Windows XP之所以能够叱咤风云十五年，成为操作系统中最长寿的长者，靠的就是独具一格的魅力和实力，以及自己符号般的存在。如今Windows XP所代表的早已不只是一款操作系统，而是一个时代的印记，它不仅被写入各国教科书中伴随一代人成长，更将永远被历史所铭记。</a:t>
            </a:r>
            <a:endParaRPr lang="zh-CN" altLang="en-US" sz="2800" dirty="0" smtClean="0"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6840" y="5899150"/>
            <a:ext cx="4403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 b="1">
                <a:solidFill>
                  <a:srgbClr val="3275FF"/>
                </a:solidFill>
                <a:latin typeface="楷体_GB2312" panose="02010609030101010101" charset="-122"/>
                <a:ea typeface="楷体_GB2312" panose="02010609030101010101" charset="-122"/>
                <a:sym typeface="+mn-ea"/>
              </a:rPr>
              <a:t>摘自网络</a:t>
            </a:r>
            <a:endParaRPr lang="zh-CN" altLang="en-US" sz="2400" b="1">
              <a:solidFill>
                <a:srgbClr val="3275FF"/>
              </a:solidFill>
              <a:latin typeface="楷体_GB2312" panose="02010609030101010101" charset="-122"/>
              <a:ea typeface="楷体_GB2312" panose="02010609030101010101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20000">
            <a:off x="484505" y="2604135"/>
            <a:ext cx="3414395" cy="1650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mtClean="0"/>
              <a:t>谢谢小伙伴儿们</a:t>
            </a:r>
            <a:endParaRPr lang="zh-CN" altLang="en-US" smtClean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15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  <p:bldP spid="2" grpId="4"/>
      <p:bldP spid="2" grpId="5"/>
      <p:bldP spid="2" grpId="6"/>
      <p:bldP spid="2" grpId="7"/>
      <p:bldP spid="2" grpId="8"/>
      <p:bldP spid="2" grpId="9"/>
      <p:bldP spid="2" grpId="10"/>
      <p:bldP spid="2" grpId="11"/>
      <p:bldP spid="2" grpId="12"/>
      <p:bldP spid="2" grpId="13"/>
      <p:bldP spid="2" grpId="14"/>
      <p:bldP spid="2" grpId="15"/>
    </p:bld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511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51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1*a*1"/>
  <p:tag name="KSO_WM_UNIT_CLEAR" val="1"/>
  <p:tag name="KSO_WM_UNIT_LAYERLEVEL" val="1"/>
  <p:tag name="KSO_WM_UNIT_VALUE" val="2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b"/>
  <p:tag name="KSO_WM_UNIT_INDEX" val="1"/>
  <p:tag name="KSO_WM_UNIT_ID" val="custom160511_1*b*1"/>
  <p:tag name="KSO_WM_UNIT_CLEAR" val="1"/>
  <p:tag name="KSO_WM_UNIT_LAYERLEVEL" val="1"/>
  <p:tag name="KSO_WM_UNIT_VALUE" val="2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1"/>
  <p:tag name="KSO_WM_SLIDE_INDEX" val="1"/>
  <p:tag name="KSO_WM_SLIDE_ITEM_CNT" val="2"/>
  <p:tag name="KSO_WM_SLIDE_LAYOUT" val="a_b"/>
  <p:tag name="KSO_WM_SLIDE_LAYOUT_CNT" val="1_1"/>
  <p:tag name="KSO_WM_SLIDE_TYPE" val="title"/>
  <p:tag name="KSO_WM_TEMPLATE_THUMBS_INDEX" val="1、9、12、16、23、25、26、27"/>
  <p:tag name="KSO_WM_BEAUTIFY_FLAG" val="#wm#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11_8*i*0"/>
  <p:tag name="KSO_WM_TEMPLATE_CATEGORY" val="custom"/>
  <p:tag name="KSO_WM_TEMPLATE_INDEX" val="160511"/>
  <p:tag name="KSO_WM_UNIT_INDEX" val="0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11_8*i*1"/>
  <p:tag name="KSO_WM_TEMPLATE_CATEGORY" val="custom"/>
  <p:tag name="KSO_WM_TEMPLATE_INDEX" val="160511"/>
  <p:tag name="KSO_WM_UNIT_INDEX" val="1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11_8*i*2"/>
  <p:tag name="KSO_WM_TEMPLATE_CATEGORY" val="custom"/>
  <p:tag name="KSO_WM_TEMPLATE_INDEX" val="160511"/>
  <p:tag name="KSO_WM_UNIT_INDEX" val="2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11_8*i*3"/>
  <p:tag name="KSO_WM_TEMPLATE_CATEGORY" val="custom"/>
  <p:tag name="KSO_WM_TEMPLATE_INDEX" val="160511"/>
  <p:tag name="KSO_WM_UNIT_INDEX" val="3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11_8*i*4"/>
  <p:tag name="KSO_WM_TEMPLATE_CATEGORY" val="custom"/>
  <p:tag name="KSO_WM_TEMPLATE_INDEX" val="160511"/>
  <p:tag name="KSO_WM_UNIT_INDEX" val="4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8*a*1"/>
  <p:tag name="KSO_WM_UNIT_CLEAR" val="1"/>
  <p:tag name="KSO_WM_UNIT_LAYERLEVEL" val="1"/>
  <p:tag name="KSO_WM_UNIT_ISCONTENTSTITLE" val="1"/>
  <p:tag name="KSO_WM_UNIT_VALUE" val="10"/>
  <p:tag name="KSO_WM_UNIT_HIGHLIGHT" val="0"/>
  <p:tag name="KSO_WM_UNIT_COMPATIBLE" val="0"/>
  <p:tag name="KSO_WM_UNIT_PRESET_TEXT" val="CONTENTS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11_7*i*6"/>
  <p:tag name="KSO_WM_TEMPLATE_CATEGORY" val="custom"/>
  <p:tag name="KSO_WM_TEMPLATE_INDEX" val="160511"/>
  <p:tag name="KSO_WM_UNIT_INDEX" val="6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l_h_f"/>
  <p:tag name="KSO_WM_UNIT_INDEX" val="1_1_1"/>
  <p:tag name="KSO_WM_UNIT_ID" val="custom160511_7*l_h_f*1_1_1"/>
  <p:tag name="KSO_WM_UNIT_CLEAR" val="1"/>
  <p:tag name="KSO_WM_UNIT_LAYERLEVEL" val="1_1_1"/>
  <p:tag name="KSO_WM_UNIT_VALUE" val="17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l_i"/>
  <p:tag name="KSO_WM_UNIT_INDEX" val="1_1"/>
  <p:tag name="KSO_WM_UNIT_ID" val="custom160511_7*l_i*1_1"/>
  <p:tag name="KSO_WM_UNIT_CLEAR" val="1"/>
  <p:tag name="KSO_WM_UNIT_LAYERLEVEL" val="1_1"/>
  <p:tag name="KSO_WM_DIAGRAM_GROUP_CODE" val="l1-1"/>
  <p:tag name="KSO_WM_UNIT_LINE_FORE_SCHEMECOLOR_INDEX" val="5"/>
  <p:tag name="KSO_WM_UNIT_LINE_FILL_TYPE" val="2"/>
  <p:tag name="KSO_WM_UNIT_USESOURCEFORMAT_APPLY" val="1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l_i"/>
  <p:tag name="KSO_WM_UNIT_INDEX" val="1_2"/>
  <p:tag name="KSO_WM_UNIT_ID" val="custom160511_7*l_i*1_2"/>
  <p:tag name="KSO_WM_UNIT_CLEAR" val="1"/>
  <p:tag name="KSO_WM_UNIT_LAYERLEVEL" val="1_1"/>
  <p:tag name="KSO_WM_DIAGRAM_GROUP_CODE" val="l1-1"/>
  <p:tag name="KSO_WM_UNIT_FILL_FORE_SCHEMECOLOR_INDEX" val="13"/>
  <p:tag name="KSO_WM_UNIT_FILL_TYPE" val="1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60511_7*i*13"/>
  <p:tag name="KSO_WM_TEMPLATE_CATEGORY" val="custom"/>
  <p:tag name="KSO_WM_TEMPLATE_INDEX" val="160511"/>
  <p:tag name="KSO_WM_UNIT_INDEX" val="1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l_h_f"/>
  <p:tag name="KSO_WM_UNIT_INDEX" val="1_2_1"/>
  <p:tag name="KSO_WM_UNIT_ID" val="custom160511_7*l_h_f*1_2_1"/>
  <p:tag name="KSO_WM_UNIT_CLEAR" val="1"/>
  <p:tag name="KSO_WM_UNIT_LAYERLEVEL" val="1_1_1"/>
  <p:tag name="KSO_WM_UNIT_VALUE" val="17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l_i"/>
  <p:tag name="KSO_WM_UNIT_INDEX" val="1_3"/>
  <p:tag name="KSO_WM_UNIT_ID" val="custom160511_7*l_i*1_3"/>
  <p:tag name="KSO_WM_UNIT_CLEAR" val="1"/>
  <p:tag name="KSO_WM_UNIT_LAYERLEVEL" val="1_1"/>
  <p:tag name="KSO_WM_DIAGRAM_GROUP_CODE" val="l1-1"/>
  <p:tag name="KSO_WM_UNIT_LINE_FORE_SCHEMECOLOR_INDEX" val="5"/>
  <p:tag name="KSO_WM_UNIT_LINE_FILL_TYPE" val="2"/>
  <p:tag name="KSO_WM_UNIT_USESOURCEFORMAT_APPLY" val="1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l_i"/>
  <p:tag name="KSO_WM_UNIT_INDEX" val="1_4"/>
  <p:tag name="KSO_WM_UNIT_ID" val="custom160511_7*l_i*1_4"/>
  <p:tag name="KSO_WM_UNIT_CLEAR" val="1"/>
  <p:tag name="KSO_WM_UNIT_LAYERLEVEL" val="1_1"/>
  <p:tag name="KSO_WM_DIAGRAM_GROUP_CODE" val="l1-1"/>
  <p:tag name="KSO_WM_UNIT_FILL_FORE_SCHEMECOLOR_INDEX" val="13"/>
  <p:tag name="KSO_WM_UNIT_FILL_TYPE" val="1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8"/>
  <p:tag name="KSO_WM_SLIDE_INDEX" val="8"/>
  <p:tag name="KSO_WM_SLIDE_ITEM_CNT" val="3"/>
  <p:tag name="KSO_WM_SLIDE_LAYOUT" val="a_l"/>
  <p:tag name="KSO_WM_SLIDE_LAYOUT_CNT" val="1_1"/>
  <p:tag name="KSO_WM_SLIDE_TYPE" val="contents"/>
  <p:tag name="KSO_WM_BEAUTIFY_FLAG" val="#wm#"/>
  <p:tag name="KSO_WM_DIAGRAM_GROUP_CODE" val="l1-1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2*a*1"/>
  <p:tag name="KSO_WM_UNIT_CLEAR" val="1"/>
  <p:tag name="KSO_WM_UNIT_LAYERLEVEL" val="1"/>
  <p:tag name="KSO_WM_UNIT_VALUE" val="3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f"/>
  <p:tag name="KSO_WM_UNIT_INDEX" val="1"/>
  <p:tag name="KSO_WM_UNIT_ID" val="custom160511_2*f*1"/>
  <p:tag name="KSO_WM_UNIT_CLEAR" val="1"/>
  <p:tag name="KSO_WM_UNIT_LAYERLEVEL" val="1"/>
  <p:tag name="KSO_WM_UNIT_VALUE" val="330"/>
  <p:tag name="KSO_WM_UNIT_HIGHLIGHT" val="0"/>
  <p:tag name="KSO_WM_UNIT_COMPATIBLE" val="0"/>
  <p:tag name="KSO_WM_UNIT_PRESET_TEXT_INDEX" val="5"/>
  <p:tag name="KSO_WM_UNIT_PRESET_TEXT_LEN" val="232"/>
</p:tagLst>
</file>

<file path=ppt/tags/tag23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05"/>
  <p:tag name="KSO_WM_SLIDE_SIZE" val="828*382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m_h_a"/>
  <p:tag name="KSO_WM_UNIT_INDEX" val="1_1_1"/>
  <p:tag name="KSO_WM_UNIT_ID" val="custom160511_24*m_h_a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5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21*a*1"/>
  <p:tag name="KSO_WM_UNIT_CLEAR" val="1"/>
  <p:tag name="KSO_WM_UNIT_LAYERLEVEL" val="1"/>
  <p:tag name="KSO_WM_UNIT_VALUE" val="3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m_h_a"/>
  <p:tag name="KSO_WM_UNIT_INDEX" val="1_6_1"/>
  <p:tag name="KSO_WM_UNIT_ID" val="custom160511_24*m_h_a*1_6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5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m_h_a"/>
  <p:tag name="KSO_WM_UNIT_INDEX" val="1_2_1"/>
  <p:tag name="KSO_WM_UNIT_ID" val="custom160511_24*m_h_a*1_2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5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m_h_a"/>
  <p:tag name="KSO_WM_UNIT_INDEX" val="1_3_1"/>
  <p:tag name="KSO_WM_UNIT_ID" val="custom160511_24*m_h_a*1_3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5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m_h_a"/>
  <p:tag name="KSO_WM_UNIT_INDEX" val="1_4_1"/>
  <p:tag name="KSO_WM_UNIT_ID" val="custom160511_24*m_h_a*1_4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5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m_h_a"/>
  <p:tag name="KSO_WM_UNIT_INDEX" val="1_5_1"/>
  <p:tag name="KSO_WM_UNIT_ID" val="custom160511_24*m_h_a*1_5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5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MH" val="20150921115827"/>
  <p:tag name="MH_LIBRARY" val="GRAPHIC"/>
  <p:tag name="MH_TYPE" val="Text"/>
  <p:tag name="MH_ORDER" val="1"/>
  <p:tag name="KSO_WM_UNIT_TYPE" val="m_h_f"/>
  <p:tag name="KSO_WM_UNIT_INDEX" val="1_1_1"/>
  <p:tag name="KSO_WM_UNIT_ID" val="custom160511_24*m_h_f*1_1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MH" val="20150921115827"/>
  <p:tag name="MH_LIBRARY" val="GRAPHIC"/>
  <p:tag name="MH_TYPE" val="Text"/>
  <p:tag name="MH_ORDER" val="1"/>
  <p:tag name="KSO_WM_UNIT_TYPE" val="m_h_f"/>
  <p:tag name="KSO_WM_UNIT_INDEX" val="1_2_1"/>
  <p:tag name="KSO_WM_UNIT_ID" val="custom160511_24*m_h_f*1_2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MH" val="20150921115827"/>
  <p:tag name="MH_LIBRARY" val="GRAPHIC"/>
  <p:tag name="MH_TYPE" val="Text"/>
  <p:tag name="MH_ORDER" val="1"/>
  <p:tag name="KSO_WM_UNIT_TYPE" val="m_h_f"/>
  <p:tag name="KSO_WM_UNIT_INDEX" val="1_3_1"/>
  <p:tag name="KSO_WM_UNIT_ID" val="custom160511_24*m_h_f*1_3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MH" val="20150921115827"/>
  <p:tag name="MH_LIBRARY" val="GRAPHIC"/>
  <p:tag name="MH_TYPE" val="Text"/>
  <p:tag name="MH_ORDER" val="1"/>
  <p:tag name="KSO_WM_UNIT_TYPE" val="m_h_f"/>
  <p:tag name="KSO_WM_UNIT_INDEX" val="1_4_1"/>
  <p:tag name="KSO_WM_UNIT_ID" val="custom160511_24*m_h_f*1_4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MH" val="20150921115827"/>
  <p:tag name="MH_LIBRARY" val="GRAPHIC"/>
  <p:tag name="MH_TYPE" val="Text"/>
  <p:tag name="MH_ORDER" val="1"/>
  <p:tag name="KSO_WM_UNIT_TYPE" val="m_h_f"/>
  <p:tag name="KSO_WM_UNIT_INDEX" val="1_5_1"/>
  <p:tag name="KSO_WM_UNIT_ID" val="custom160511_24*m_h_f*1_5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MH" val="20150921115827"/>
  <p:tag name="MH_LIBRARY" val="GRAPHIC"/>
  <p:tag name="MH_TYPE" val="Text"/>
  <p:tag name="MH_ORDER" val="1"/>
  <p:tag name="KSO_WM_UNIT_TYPE" val="m_h_f"/>
  <p:tag name="KSO_WM_UNIT_INDEX" val="1_6_1"/>
  <p:tag name="KSO_WM_UNIT_ID" val="custom160511_24*m_h_f*1_6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21"/>
  <p:tag name="KSO_WM_SLIDE_INDEX" val="21"/>
  <p:tag name="KSO_WM_SLIDE_ITEM_CNT" val="3"/>
  <p:tag name="KSO_WM_SLIDE_LAYOUT" val="a_m"/>
  <p:tag name="KSO_WM_SLIDE_LAYOUT_CNT" val="1_1"/>
  <p:tag name="KSO_WM_SLIDE_TYPE" val="text"/>
  <p:tag name="KSO_WM_BEAUTIFY_FLAG" val="#wm#"/>
  <p:tag name="KSO_WM_SLIDE_POSITION" val="248*159"/>
  <p:tag name="KSO_WM_SLIDE_SIZE" val="464*279"/>
  <p:tag name="KSO_WM_DIAGRAM_GROUP_CODE" val="m1-1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2*a*1"/>
  <p:tag name="KSO_WM_UNIT_CLEAR" val="1"/>
  <p:tag name="KSO_WM_UNIT_LAYERLEVEL" val="1"/>
  <p:tag name="KSO_WM_UNIT_VALUE" val="3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f"/>
  <p:tag name="KSO_WM_UNIT_INDEX" val="1"/>
  <p:tag name="KSO_WM_UNIT_ID" val="custom160511_2*f*1"/>
  <p:tag name="KSO_WM_UNIT_CLEAR" val="1"/>
  <p:tag name="KSO_WM_UNIT_LAYERLEVEL" val="1"/>
  <p:tag name="KSO_WM_UNIT_VALUE" val="330"/>
  <p:tag name="KSO_WM_UNIT_HIGHLIGHT" val="0"/>
  <p:tag name="KSO_WM_UNIT_COMPATIBLE" val="0"/>
  <p:tag name="KSO_WM_UNIT_PRESET_TEXT_INDEX" val="5"/>
  <p:tag name="KSO_WM_UNIT_PRESET_TEXT_LEN" val="232"/>
</p:tagLst>
</file>

<file path=ppt/tags/tag40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05"/>
  <p:tag name="KSO_WM_SLIDE_SIZE" val="828*38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2*a*1"/>
  <p:tag name="KSO_WM_UNIT_CLEAR" val="1"/>
  <p:tag name="KSO_WM_UNIT_LAYERLEVEL" val="1"/>
  <p:tag name="KSO_WM_UNIT_VALUE" val="3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f"/>
  <p:tag name="KSO_WM_UNIT_INDEX" val="1"/>
  <p:tag name="KSO_WM_UNIT_ID" val="custom160511_2*f*1"/>
  <p:tag name="KSO_WM_UNIT_CLEAR" val="1"/>
  <p:tag name="KSO_WM_UNIT_LAYERLEVEL" val="1"/>
  <p:tag name="KSO_WM_UNIT_VALUE" val="330"/>
  <p:tag name="KSO_WM_UNIT_HIGHLIGHT" val="0"/>
  <p:tag name="KSO_WM_UNIT_COMPATIBLE" val="0"/>
  <p:tag name="KSO_WM_UNIT_PRESET_TEXT_INDEX" val="5"/>
  <p:tag name="KSO_WM_UNIT_PRESET_TEXT_LEN" val="232"/>
</p:tagLst>
</file>

<file path=ppt/tags/tag43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05"/>
  <p:tag name="KSO_WM_SLIDE_SIZE" val="828*382"/>
</p:tagLst>
</file>

<file path=ppt/tags/tag4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m_h_a"/>
  <p:tag name="KSO_WM_UNIT_INDEX" val="1_1_1"/>
  <p:tag name="KSO_WM_UNIT_ID" val="custom160511_24*m_h_a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5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21*a*1"/>
  <p:tag name="KSO_WM_UNIT_CLEAR" val="1"/>
  <p:tag name="KSO_WM_UNIT_LAYERLEVEL" val="1"/>
  <p:tag name="KSO_WM_UNIT_VALUE" val="3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m_h_a"/>
  <p:tag name="KSO_WM_UNIT_INDEX" val="1_6_1"/>
  <p:tag name="KSO_WM_UNIT_ID" val="custom160511_24*m_h_a*1_6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5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m_h_a"/>
  <p:tag name="KSO_WM_UNIT_INDEX" val="1_2_1"/>
  <p:tag name="KSO_WM_UNIT_ID" val="custom160511_24*m_h_a*1_2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5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m_h_a"/>
  <p:tag name="KSO_WM_UNIT_INDEX" val="1_3_1"/>
  <p:tag name="KSO_WM_UNIT_ID" val="custom160511_24*m_h_a*1_3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5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m_h_a"/>
  <p:tag name="KSO_WM_UNIT_INDEX" val="1_4_1"/>
  <p:tag name="KSO_WM_UNIT_ID" val="custom160511_24*m_h_a*1_4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5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m_h_a"/>
  <p:tag name="KSO_WM_UNIT_INDEX" val="1_5_1"/>
  <p:tag name="KSO_WM_UNIT_ID" val="custom160511_24*m_h_a*1_5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5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MH" val="20150921115827"/>
  <p:tag name="MH_LIBRARY" val="GRAPHIC"/>
  <p:tag name="MH_TYPE" val="Text"/>
  <p:tag name="MH_ORDER" val="1"/>
  <p:tag name="KSO_WM_UNIT_TYPE" val="m_h_f"/>
  <p:tag name="KSO_WM_UNIT_INDEX" val="1_1_1"/>
  <p:tag name="KSO_WM_UNIT_ID" val="custom160511_24*m_h_f*1_1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5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MH" val="20150921115827"/>
  <p:tag name="MH_LIBRARY" val="GRAPHIC"/>
  <p:tag name="MH_TYPE" val="Text"/>
  <p:tag name="MH_ORDER" val="1"/>
  <p:tag name="KSO_WM_UNIT_TYPE" val="m_h_f"/>
  <p:tag name="KSO_WM_UNIT_INDEX" val="1_2_1"/>
  <p:tag name="KSO_WM_UNIT_ID" val="custom160511_24*m_h_f*1_2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5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MH" val="20150921115827"/>
  <p:tag name="MH_LIBRARY" val="GRAPHIC"/>
  <p:tag name="MH_TYPE" val="Text"/>
  <p:tag name="MH_ORDER" val="1"/>
  <p:tag name="KSO_WM_UNIT_TYPE" val="m_h_f"/>
  <p:tag name="KSO_WM_UNIT_INDEX" val="1_3_1"/>
  <p:tag name="KSO_WM_UNIT_ID" val="custom160511_24*m_h_f*1_3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5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MH" val="20150921115827"/>
  <p:tag name="MH_LIBRARY" val="GRAPHIC"/>
  <p:tag name="MH_TYPE" val="Text"/>
  <p:tag name="MH_ORDER" val="1"/>
  <p:tag name="KSO_WM_UNIT_TYPE" val="m_h_f"/>
  <p:tag name="KSO_WM_UNIT_INDEX" val="1_4_1"/>
  <p:tag name="KSO_WM_UNIT_ID" val="custom160511_24*m_h_f*1_4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5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MH" val="20150921115827"/>
  <p:tag name="MH_LIBRARY" val="GRAPHIC"/>
  <p:tag name="MH_TYPE" val="Text"/>
  <p:tag name="MH_ORDER" val="1"/>
  <p:tag name="KSO_WM_UNIT_TYPE" val="m_h_f"/>
  <p:tag name="KSO_WM_UNIT_INDEX" val="1_5_1"/>
  <p:tag name="KSO_WM_UNIT_ID" val="custom160511_24*m_h_f*1_5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5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MH" val="20150921115827"/>
  <p:tag name="MH_LIBRARY" val="GRAPHIC"/>
  <p:tag name="MH_TYPE" val="Text"/>
  <p:tag name="MH_ORDER" val="1"/>
  <p:tag name="KSO_WM_UNIT_TYPE" val="m_h_f"/>
  <p:tag name="KSO_WM_UNIT_INDEX" val="1_6_1"/>
  <p:tag name="KSO_WM_UNIT_ID" val="custom160511_24*m_h_f*1_6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57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21"/>
  <p:tag name="KSO_WM_SLIDE_INDEX" val="21"/>
  <p:tag name="KSO_WM_SLIDE_ITEM_CNT" val="3"/>
  <p:tag name="KSO_WM_SLIDE_LAYOUT" val="a_m"/>
  <p:tag name="KSO_WM_SLIDE_LAYOUT_CNT" val="1_1"/>
  <p:tag name="KSO_WM_SLIDE_TYPE" val="text"/>
  <p:tag name="KSO_WM_BEAUTIFY_FLAG" val="#wm#"/>
  <p:tag name="KSO_WM_SLIDE_POSITION" val="248*159"/>
  <p:tag name="KSO_WM_SLIDE_SIZE" val="464*279"/>
  <p:tag name="KSO_WM_DIAGRAM_GROUP_CODE" val="m1-1"/>
</p:tagLst>
</file>

<file path=ppt/tags/tag5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2*a*1"/>
  <p:tag name="KSO_WM_UNIT_CLEAR" val="1"/>
  <p:tag name="KSO_WM_UNIT_LAYERLEVEL" val="1"/>
  <p:tag name="KSO_WM_UNIT_VALUE" val="3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f"/>
  <p:tag name="KSO_WM_UNIT_INDEX" val="1"/>
  <p:tag name="KSO_WM_UNIT_ID" val="custom160511_2*f*1"/>
  <p:tag name="KSO_WM_UNIT_CLEAR" val="1"/>
  <p:tag name="KSO_WM_UNIT_LAYERLEVEL" val="1"/>
  <p:tag name="KSO_WM_UNIT_VALUE" val="330"/>
  <p:tag name="KSO_WM_UNIT_HIGHLIGHT" val="0"/>
  <p:tag name="KSO_WM_UNIT_COMPATIBLE" val="0"/>
  <p:tag name="KSO_WM_UNIT_PRESET_TEXT_INDEX" val="5"/>
  <p:tag name="KSO_WM_UNIT_PRESET_TEXT_LEN" val="232"/>
</p:tagLst>
</file>

<file path=ppt/tags/tag60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05"/>
  <p:tag name="KSO_WM_SLIDE_SIZE" val="828*382"/>
</p:tagLst>
</file>

<file path=ppt/tags/tag6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12*a*1"/>
  <p:tag name="KSO_WM_UNIT_CLEAR" val="1"/>
  <p:tag name="KSO_WM_UNIT_LAYERLEVEL" val="1"/>
  <p:tag name="KSO_WM_UNIT_VALUE" val="1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2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6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l_h_a"/>
  <p:tag name="KSO_WM_UNIT_INDEX" val="1_1_1"/>
  <p:tag name="KSO_WM_UNIT_ID" val="custom160511_14*l_h_a*1_1_1"/>
  <p:tag name="KSO_WM_UNIT_CLEAR" val="1"/>
  <p:tag name="KSO_WM_UNIT_LAYERLEVEL" val="1_1_1"/>
  <p:tag name="KSO_WM_UNIT_VALUE" val="12"/>
  <p:tag name="KSO_WM_UNIT_HIGHLIGHT" val="0"/>
  <p:tag name="KSO_WM_UNIT_COMPATIBLE" val="0"/>
  <p:tag name="KSO_WM_UNIT_PRESET_TEXT_INDEX" val="3"/>
  <p:tag name="KSO_WM_UNIT_PRESET_TEXT_LEN" val="12"/>
  <p:tag name="KSO_WM_DIAGRAM_GROUP_CODE" val="l1-2"/>
  <p:tag name="KSO_WM_UNIT_TEXT_FILL_FORE_SCHEMECOLOR_INDEX" val="5"/>
  <p:tag name="KSO_WM_UNIT_TEXT_FILL_TYPE" val="1"/>
  <p:tag name="KSO_WM_UNIT_USESOURCEFORMAT_APPLY" val="1"/>
</p:tagLst>
</file>

<file path=ppt/tags/tag6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l_i"/>
  <p:tag name="KSO_WM_UNIT_INDEX" val="1_1"/>
  <p:tag name="KSO_WM_UNIT_ID" val="custom160511_14*l_i*1_1"/>
  <p:tag name="KSO_WM_UNIT_CLEAR" val="1"/>
  <p:tag name="KSO_WM_UNIT_LAYERLEVEL" val="1_1"/>
  <p:tag name="KSO_WM_DIAGRAM_GROUP_CODE" val="l1-2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l_h_a"/>
  <p:tag name="KSO_WM_UNIT_INDEX" val="1_2_1"/>
  <p:tag name="KSO_WM_UNIT_ID" val="custom160511_14*l_h_a*1_2_1"/>
  <p:tag name="KSO_WM_UNIT_CLEAR" val="1"/>
  <p:tag name="KSO_WM_UNIT_LAYERLEVEL" val="1_1_1"/>
  <p:tag name="KSO_WM_UNIT_VALUE" val="12"/>
  <p:tag name="KSO_WM_UNIT_HIGHLIGHT" val="0"/>
  <p:tag name="KSO_WM_UNIT_COMPATIBLE" val="0"/>
  <p:tag name="KSO_WM_UNIT_PRESET_TEXT_INDEX" val="3"/>
  <p:tag name="KSO_WM_UNIT_PRESET_TEXT_LEN" val="12"/>
  <p:tag name="KSO_WM_DIAGRAM_GROUP_CODE" val="l1-2"/>
  <p:tag name="KSO_WM_UNIT_TEXT_FILL_FORE_SCHEMECOLOR_INDEX" val="5"/>
  <p:tag name="KSO_WM_UNIT_TEXT_FILL_TYPE" val="1"/>
  <p:tag name="KSO_WM_UNIT_USESOURCEFORMAT_APPLY" val="1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l_i"/>
  <p:tag name="KSO_WM_UNIT_INDEX" val="1_2"/>
  <p:tag name="KSO_WM_UNIT_ID" val="custom160511_14*l_i*1_2"/>
  <p:tag name="KSO_WM_UNIT_CLEAR" val="1"/>
  <p:tag name="KSO_WM_UNIT_LAYERLEVEL" val="1_1"/>
  <p:tag name="KSO_WM_DIAGRAM_GROUP_CODE" val="l1-2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14*a*1"/>
  <p:tag name="KSO_WM_UNIT_CLEAR" val="1"/>
  <p:tag name="KSO_WM_UNIT_LAYERLEVEL" val="1"/>
  <p:tag name="KSO_WM_UNIT_VALUE" val="3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8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14"/>
  <p:tag name="KSO_WM_SLIDE_INDEX" val="14"/>
  <p:tag name="KSO_WM_SLIDE_ITEM_CNT" val="2"/>
  <p:tag name="KSO_WM_SLIDE_LAYOUT" val="a_l"/>
  <p:tag name="KSO_WM_SLIDE_LAYOUT_CNT" val="1_1"/>
  <p:tag name="KSO_WM_SLIDE_TYPE" val="text"/>
  <p:tag name="KSO_WM_BEAUTIFY_FLAG" val="#wm#"/>
  <p:tag name="KSO_WM_SLIDE_POSITION" val="125*245"/>
  <p:tag name="KSO_WM_SLIDE_SIZE" val="736*88"/>
  <p:tag name="KSO_WM_DIAGRAM_GROUP_CODE" val="l1-2"/>
</p:tagLst>
</file>

<file path=ppt/tags/tag6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2*a*1"/>
  <p:tag name="KSO_WM_UNIT_CLEAR" val="1"/>
  <p:tag name="KSO_WM_UNIT_LAYERLEVEL" val="1"/>
  <p:tag name="KSO_WM_UNIT_VALUE" val="3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f"/>
  <p:tag name="KSO_WM_UNIT_INDEX" val="1"/>
  <p:tag name="KSO_WM_UNIT_ID" val="custom160511_2*f*1"/>
  <p:tag name="KSO_WM_UNIT_CLEAR" val="1"/>
  <p:tag name="KSO_WM_UNIT_LAYERLEVEL" val="1"/>
  <p:tag name="KSO_WM_UNIT_VALUE" val="330"/>
  <p:tag name="KSO_WM_UNIT_HIGHLIGHT" val="0"/>
  <p:tag name="KSO_WM_UNIT_COMPATIBLE" val="0"/>
  <p:tag name="KSO_WM_UNIT_PRESET_TEXT_INDEX" val="5"/>
  <p:tag name="KSO_WM_UNIT_PRESET_TEXT_LEN" val="232"/>
</p:tagLst>
</file>

<file path=ppt/tags/tag71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05"/>
  <p:tag name="KSO_WM_SLIDE_SIZE" val="828*382"/>
</p:tagLst>
</file>

<file path=ppt/tags/tag7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2*a*1"/>
  <p:tag name="KSO_WM_UNIT_CLEAR" val="1"/>
  <p:tag name="KSO_WM_UNIT_LAYERLEVEL" val="1"/>
  <p:tag name="KSO_WM_UNIT_VALUE" val="3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f"/>
  <p:tag name="KSO_WM_UNIT_INDEX" val="1"/>
  <p:tag name="KSO_WM_UNIT_ID" val="custom160511_2*f*1"/>
  <p:tag name="KSO_WM_UNIT_CLEAR" val="1"/>
  <p:tag name="KSO_WM_UNIT_LAYERLEVEL" val="1"/>
  <p:tag name="KSO_WM_UNIT_VALUE" val="330"/>
  <p:tag name="KSO_WM_UNIT_HIGHLIGHT" val="0"/>
  <p:tag name="KSO_WM_UNIT_COMPATIBLE" val="0"/>
  <p:tag name="KSO_WM_UNIT_PRESET_TEXT_INDEX" val="5"/>
  <p:tag name="KSO_WM_UNIT_PRESET_TEXT_LEN" val="232"/>
</p:tagLst>
</file>

<file path=ppt/tags/tag74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05"/>
  <p:tag name="KSO_WM_SLIDE_SIZE" val="828*382"/>
</p:tagLst>
</file>

<file path=ppt/tags/tag7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26*a*1"/>
  <p:tag name="KSO_WM_UNIT_CLEAR" val="1"/>
  <p:tag name="KSO_WM_UNIT_LAYERLEVEL" val="1"/>
  <p:tag name="KSO_WM_UNIT_VALUE" val="3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f"/>
  <p:tag name="KSO_WM_UNIT_INDEX" val="1"/>
  <p:tag name="KSO_WM_UNIT_ID" val="custom160511_26*f*1"/>
  <p:tag name="KSO_WM_UNIT_CLEAR" val="1"/>
  <p:tag name="KSO_WM_UNIT_LAYERLEVEL" val="1"/>
  <p:tag name="KSO_WM_UNIT_VALUE" val="174"/>
  <p:tag name="KSO_WM_UNIT_HIGHLIGHT" val="0"/>
  <p:tag name="KSO_WM_UNIT_COMPATIBLE" val="0"/>
  <p:tag name="KSO_WM_UNIT_PRESET_TEXT_INDEX" val="5"/>
  <p:tag name="KSO_WM_UNIT_PRESET_TEXT_LEN" val="232"/>
</p:tagLst>
</file>

<file path=ppt/tags/tag77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26"/>
  <p:tag name="KSO_WM_SLIDE_INDEX" val="26"/>
  <p:tag name="KSO_WM_SLIDE_ITEM_CNT" val="2"/>
  <p:tag name="KSO_WM_SLIDE_LAYOUT" val="a_f_d"/>
  <p:tag name="KSO_WM_SLIDE_LAYOUT_CNT" val="1_1_1"/>
  <p:tag name="KSO_WM_SLIDE_TYPE" val="text"/>
  <p:tag name="KSO_WM_BEAUTIFY_FLAG" val="#wm#"/>
  <p:tag name="KSO_WM_SLIDE_POSITION" val="88*206"/>
  <p:tag name="KSO_WM_SLIDE_SIZE" val="806*177"/>
</p:tagLst>
</file>

<file path=ppt/tags/tag7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11"/>
  <p:tag name="KSO_WM_UNIT_TYPE" val="a"/>
  <p:tag name="KSO_WM_UNIT_INDEX" val="1"/>
  <p:tag name="KSO_WM_UNIT_ID" val="custom160511_27*a*1"/>
  <p:tag name="KSO_WM_UNIT_CLEAR" val="1"/>
  <p:tag name="KSO_WM_UNIT_LAYERLEVEL" val="1"/>
  <p:tag name="KSO_WM_UNIT_VALUE" val="9"/>
  <p:tag name="KSO_WM_UNIT_ISCONTENTSTITLE" val="0"/>
  <p:tag name="KSO_WM_UNIT_HIGHLIGHT" val="0"/>
  <p:tag name="KSO_WM_UNIT_COMPATIBLE" val="0"/>
  <p:tag name="KSO_WM_UNIT_PRESET_TEXT" val="THANK YOU"/>
</p:tagLst>
</file>

<file path=ppt/tags/tag79.xml><?xml version="1.0" encoding="utf-8"?>
<p:tagLst xmlns:p="http://schemas.openxmlformats.org/presentationml/2006/main">
  <p:tag name="KSO_WM_TEMPLATE_CATEGORY" val="custom"/>
  <p:tag name="KSO_WM_TEMPLATE_INDEX" val="160511"/>
  <p:tag name="KSO_WM_TAG_VERSION" val="1.0"/>
  <p:tag name="KSO_WM_SLIDE_ID" val="custom160511_27"/>
  <p:tag name="KSO_WM_SLIDE_INDEX" val="27"/>
  <p:tag name="KSO_WM_SLIDE_ITEM_CNT" val="1"/>
  <p:tag name="KSO_WM_SLIDE_LAYOUT" val="a"/>
  <p:tag name="KSO_WM_SLIDE_LAYOUT_CNT" val="1"/>
  <p:tag name="KSO_WM_SLIDE_TYPE" val="endPage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自定义 58">
      <a:dk1>
        <a:srgbClr val="FFFFFF"/>
      </a:dk1>
      <a:lt1>
        <a:srgbClr val="595959"/>
      </a:lt1>
      <a:dk2>
        <a:srgbClr val="FFFFFF"/>
      </a:dk2>
      <a:lt2>
        <a:srgbClr val="595959"/>
      </a:lt2>
      <a:accent1>
        <a:srgbClr val="F8EE2E"/>
      </a:accent1>
      <a:accent2>
        <a:srgbClr val="00B050"/>
      </a:accent2>
      <a:accent3>
        <a:srgbClr val="F8931D"/>
      </a:accent3>
      <a:accent4>
        <a:srgbClr val="CE8D3E"/>
      </a:accent4>
      <a:accent5>
        <a:srgbClr val="C00000"/>
      </a:accent5>
      <a:accent6>
        <a:srgbClr val="9C6A6A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76200">
          <a:solidFill>
            <a:srgbClr val="F8EE2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1907</Words>
  <Application>WPS 演示</Application>
  <PresentationFormat>宽屏</PresentationFormat>
  <Paragraphs>154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59" baseType="lpstr">
      <vt:lpstr>Arial</vt:lpstr>
      <vt:lpstr>宋体</vt:lpstr>
      <vt:lpstr>Wingdings</vt:lpstr>
      <vt:lpstr>华文行楷</vt:lpstr>
      <vt:lpstr>隶书</vt:lpstr>
      <vt:lpstr>Wingdings</vt:lpstr>
      <vt:lpstr>方正姚体</vt:lpstr>
      <vt:lpstr>华文宋体</vt:lpstr>
      <vt:lpstr>Tahoma</vt:lpstr>
      <vt:lpstr>华文楷体</vt:lpstr>
      <vt:lpstr>Calibri</vt:lpstr>
      <vt:lpstr>楷体_GB2312</vt:lpstr>
      <vt:lpstr>微软雅黑</vt:lpstr>
      <vt:lpstr>Arial Unicode MS</vt:lpstr>
      <vt:lpstr>黑体</vt:lpstr>
      <vt:lpstr>仿宋_GB2312</vt:lpstr>
      <vt:lpstr>华文隶书</vt:lpstr>
      <vt:lpstr>新宋体</vt:lpstr>
      <vt:lpstr>方正舒体</vt:lpstr>
      <vt:lpstr>幼圆</vt:lpstr>
      <vt:lpstr>华文琥珀</vt:lpstr>
      <vt:lpstr>华文彩云</vt:lpstr>
      <vt:lpstr>华文仿宋</vt:lpstr>
      <vt:lpstr>华文细黑</vt:lpstr>
      <vt:lpstr>宋体-PUA</vt:lpstr>
      <vt:lpstr>方正兰亭超细黑简体</vt:lpstr>
      <vt:lpstr>Lucida Sans</vt:lpstr>
      <vt:lpstr>Georgia</vt:lpstr>
      <vt:lpstr>Century</vt:lpstr>
      <vt:lpstr>迷你简毡笔黑</vt:lpstr>
      <vt:lpstr>迷你简卡通</vt:lpstr>
      <vt:lpstr>迷你简丫丫</vt:lpstr>
      <vt:lpstr>迷你简漫步</vt:lpstr>
      <vt:lpstr>Dotum</vt:lpstr>
      <vt:lpstr>MS Mincho</vt:lpstr>
      <vt:lpstr>Segoe UI</vt:lpstr>
      <vt:lpstr>Symbol</vt:lpstr>
      <vt:lpstr>Lucida Sans Unicode</vt:lpstr>
      <vt:lpstr>Courier New</vt:lpstr>
      <vt:lpstr>MS UI Gothic</vt:lpstr>
      <vt:lpstr>Corbel</vt:lpstr>
      <vt:lpstr>icomoon</vt:lpstr>
      <vt:lpstr>Comic Sans MS</vt:lpstr>
      <vt:lpstr>迷你简雪峰</vt:lpstr>
      <vt:lpstr>Office 主题</vt:lpstr>
      <vt:lpstr>WINDOWS XP</vt:lpstr>
      <vt:lpstr>PowerPoint 演示文稿</vt:lpstr>
      <vt:lpstr>生之时</vt:lpstr>
      <vt:lpstr>PowerPoint 演示文稿</vt:lpstr>
      <vt:lpstr>生之时</vt:lpstr>
      <vt:lpstr>死之钟</vt:lpstr>
      <vt:lpstr>PowerPoint 演示文稿</vt:lpstr>
      <vt:lpstr>死之钟</vt:lpstr>
      <vt:lpstr>XP:由爱生恨的系统长者</vt:lpstr>
      <vt:lpstr>PowerPoint 演示文稿</vt:lpstr>
      <vt:lpstr>爱=对的时间+对的人</vt:lpstr>
      <vt:lpstr>恨=曾经的爱+爱情转移</vt:lpstr>
      <vt:lpstr>PowerPoint 演示文稿</vt:lpstr>
      <vt:lpstr>谢谢小伙伴儿们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管理员</cp:lastModifiedBy>
  <cp:revision>8</cp:revision>
  <dcterms:created xsi:type="dcterms:W3CDTF">2015-05-05T08:02:00Z</dcterms:created>
  <dcterms:modified xsi:type="dcterms:W3CDTF">2017-10-05T09:30:03Z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
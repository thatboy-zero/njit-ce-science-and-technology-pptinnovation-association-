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80" r:id="rId8"/>
    <p:sldId id="263" r:id="rId9"/>
    <p:sldId id="264" r:id="rId10"/>
    <p:sldId id="261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  <p:sndAc>
      <p:stSnd>
        <p:snd r:embed="rId1" name="chimes.wav" builtIn="1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  <p:sndAc>
      <p:stSnd>
        <p:snd r:embed="rId1" name="chimes.wav" builtIn="1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  <p:sndAc>
      <p:stSnd>
        <p:snd r:embed="rId1" name="chimes.wav" builtIn="1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  <p:sndAc>
      <p:stSnd>
        <p:snd r:embed="rId1" name="chimes.wav" builtIn="1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  <p:sndAc>
      <p:stSnd>
        <p:snd r:embed="rId1" name="chimes.wav" builtIn="1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  <p:sndAc>
      <p:stSnd>
        <p:snd r:embed="rId1" name="chimes.wav" builtIn="1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  <p:sndAc>
      <p:stSnd>
        <p:snd r:embed="rId1" name="chimes.wav" builtIn="1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  <p:sndAc>
      <p:stSnd>
        <p:snd r:embed="rId1" name="chimes.wav" builtIn="1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  <p:sndAc>
      <p:stSnd>
        <p:snd r:embed="rId1" name="chimes.wav" builtIn="1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  <p:sndAc>
      <p:stSnd>
        <p:snd r:embed="rId1" name="chimes.wav" builtIn="1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  <p:sndAc>
      <p:stSnd>
        <p:snd r:embed="rId1" name="chimes.wav" builtIn="1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2017/10/4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  <p:sndAc>
      <p:stSnd>
        <p:snd r:embed="rId13" name="chimes.wav" builtIn="1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23.xml"/><Relationship Id="rId4" Type="http://schemas.openxmlformats.org/officeDocument/2006/relationships/slide" Target="slide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9600" dirty="0" smtClean="0">
                <a:latin typeface="方正舒体" pitchFamily="2" charset="-122"/>
                <a:ea typeface="方正舒体" pitchFamily="2" charset="-122"/>
              </a:rPr>
              <a:t>汉字的变异</a:t>
            </a:r>
            <a:endParaRPr lang="zh-CN" altLang="en-US" sz="9600" dirty="0">
              <a:latin typeface="方正舒体" pitchFamily="2" charset="-122"/>
              <a:ea typeface="方正舒体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itchFamily="2" charset="-122"/>
                <a:ea typeface="华文楷体" pitchFamily="2" charset="-122"/>
              </a:rPr>
              <a:t>夏宇飞</a:t>
            </a:r>
            <a:endParaRPr lang="zh-CN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ransition>
    <p:fade/>
    <p:sndAc>
      <p:stSnd>
        <p:snd r:embed="rId2" name="applause.wav" builtIn="1"/>
      </p:stSnd>
    </p:sndAc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2852"/>
            <a:ext cx="8229600" cy="598331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sz="6600" b="1" dirty="0" smtClean="0">
                <a:solidFill>
                  <a:srgbClr val="FF0000"/>
                </a:solidFill>
                <a:hlinkClick r:id="rId3" action="ppaction://hlinksldjump"/>
              </a:rPr>
              <a:t>一</a:t>
            </a:r>
            <a:r>
              <a:rPr lang="en-US" altLang="zh-CN" sz="6600" b="1" dirty="0" smtClean="0">
                <a:solidFill>
                  <a:srgbClr val="FF0000"/>
                </a:solidFill>
                <a:hlinkClick r:id="rId3" action="ppaction://hlinksldjump"/>
              </a:rPr>
              <a:t>.</a:t>
            </a:r>
            <a:r>
              <a:rPr lang="zh-CN" altLang="en-US" sz="6600" b="1" dirty="0" smtClean="0">
                <a:solidFill>
                  <a:srgbClr val="FF0000"/>
                </a:solidFill>
                <a:hlinkClick r:id="rId3" action="ppaction://hlinksldjump"/>
              </a:rPr>
              <a:t>书写变异</a:t>
            </a:r>
            <a:endParaRPr lang="en-US" altLang="zh-CN" sz="6600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zh-CN" sz="66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zh-CN" altLang="en-US" sz="6600" b="1" dirty="0" smtClean="0">
                <a:solidFill>
                  <a:srgbClr val="FF0000"/>
                </a:solidFill>
                <a:hlinkClick r:id="rId4" action="ppaction://hlinksldjump"/>
              </a:rPr>
              <a:t>二</a:t>
            </a:r>
            <a:r>
              <a:rPr lang="en-US" altLang="zh-CN" sz="6600" b="1" dirty="0" smtClean="0">
                <a:solidFill>
                  <a:srgbClr val="FF0000"/>
                </a:solidFill>
                <a:hlinkClick r:id="rId4" action="ppaction://hlinksldjump"/>
              </a:rPr>
              <a:t>.</a:t>
            </a:r>
            <a:r>
              <a:rPr lang="zh-CN" altLang="en-US" sz="6600" b="1" dirty="0" smtClean="0">
                <a:solidFill>
                  <a:srgbClr val="FF0000"/>
                </a:solidFill>
                <a:hlinkClick r:id="rId4" action="ppaction://hlinksldjump"/>
              </a:rPr>
              <a:t>音义变异</a:t>
            </a:r>
            <a:endParaRPr lang="en-US" altLang="zh-CN" sz="6600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zh-CN" sz="66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zh-CN" altLang="en-US" sz="6600" b="1" dirty="0" smtClean="0">
                <a:solidFill>
                  <a:srgbClr val="FF0000"/>
                </a:solidFill>
                <a:hlinkClick r:id="rId5" action="ppaction://hlinksldjump"/>
              </a:rPr>
              <a:t>三</a:t>
            </a:r>
            <a:r>
              <a:rPr lang="en-US" altLang="zh-CN" sz="6600" b="1" dirty="0" smtClean="0">
                <a:solidFill>
                  <a:srgbClr val="FF0000"/>
                </a:solidFill>
                <a:hlinkClick r:id="rId5" action="ppaction://hlinksldjump"/>
              </a:rPr>
              <a:t>.</a:t>
            </a:r>
            <a:r>
              <a:rPr lang="zh-CN" altLang="en-US" sz="6600" b="1" dirty="0" smtClean="0">
                <a:solidFill>
                  <a:srgbClr val="FF0000"/>
                </a:solidFill>
                <a:hlinkClick r:id="rId5" action="ppaction://hlinksldjump"/>
              </a:rPr>
              <a:t>断句变异</a:t>
            </a:r>
            <a:endParaRPr lang="zh-CN" altLang="en-US" sz="6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书写变异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b="1" dirty="0" smtClean="0"/>
              <a:t>1.</a:t>
            </a:r>
            <a:r>
              <a:rPr lang="zh-CN" altLang="en-US" b="1" dirty="0" smtClean="0"/>
              <a:t>生意人的数字书写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2.</a:t>
            </a:r>
            <a:r>
              <a:rPr lang="zh-CN" altLang="en-US" b="1" dirty="0" smtClean="0"/>
              <a:t>以画代信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3.</a:t>
            </a:r>
            <a:r>
              <a:rPr lang="zh-CN" altLang="en-US" b="1" dirty="0" smtClean="0"/>
              <a:t>写信画圈儿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4.</a:t>
            </a:r>
            <a:r>
              <a:rPr lang="zh-CN" altLang="en-US" b="1" dirty="0" smtClean="0"/>
              <a:t>不写之写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5.</a:t>
            </a:r>
            <a:r>
              <a:rPr lang="zh-CN" altLang="en-US" b="1" dirty="0" smtClean="0"/>
              <a:t>组字画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6.</a:t>
            </a:r>
            <a:r>
              <a:rPr lang="zh-CN" altLang="en-US" b="1" dirty="0" smtClean="0"/>
              <a:t>将几个字写成一圈</a:t>
            </a:r>
            <a:endParaRPr lang="en-US" altLang="zh-CN" b="1" dirty="0" smtClean="0"/>
          </a:p>
          <a:p>
            <a:pPr>
              <a:buNone/>
            </a:pPr>
            <a:endParaRPr lang="en-US" altLang="zh-CN" dirty="0" smtClean="0"/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生意人的数字书写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None/>
            </a:pPr>
            <a:r>
              <a:rPr lang="zh-CN" altLang="en-US" b="1" dirty="0" smtClean="0"/>
              <a:t>    为了保守商业秘密，也是图简便，一些生意人用大写数字的偏旁、部首或局部代替那个大写数字。</a:t>
            </a:r>
            <a:endParaRPr lang="en-US" altLang="zh-CN" b="1" dirty="0" smtClean="0"/>
          </a:p>
          <a:p>
            <a:pPr latinLnBrk="1">
              <a:buNone/>
            </a:pPr>
            <a:r>
              <a:rPr lang="zh-CN" altLang="en-US" b="1" dirty="0" smtClean="0"/>
              <a:t>  如：（豆）壹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 （贝）贰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 （大）叁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 （长）肆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 （人）伍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 （耳）陆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 （木）柒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 （另）捌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 </a:t>
            </a:r>
            <a:endParaRPr lang="en-US" altLang="zh-CN" b="1" dirty="0" smtClean="0"/>
          </a:p>
          <a:p>
            <a:pPr latinLnBrk="1">
              <a:buNone/>
            </a:pPr>
            <a:r>
              <a:rPr lang="zh-CN" altLang="en-US" b="1" dirty="0" smtClean="0"/>
              <a:t>（王）玖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 （合）拾  </a:t>
            </a:r>
            <a:r>
              <a:rPr lang="zh-CN" altLang="en-US" sz="2800" b="1" dirty="0" smtClean="0"/>
              <a:t>     </a:t>
            </a:r>
            <a:endParaRPr lang="en-US" altLang="zh-CN" sz="2800" b="1" dirty="0" smtClean="0"/>
          </a:p>
          <a:p>
            <a:pPr latinLnBrk="1">
              <a:buNone/>
            </a:pPr>
            <a:r>
              <a:rPr lang="zh-CN" altLang="en-US" sz="2800" b="1" dirty="0" smtClean="0"/>
              <a:t> </a:t>
            </a:r>
          </a:p>
          <a:p>
            <a:pPr algn="just">
              <a:buNone/>
            </a:pPr>
            <a:endParaRPr lang="en-US" altLang="zh-CN" sz="2800" dirty="0" smtClean="0"/>
          </a:p>
          <a:p>
            <a:pPr algn="just">
              <a:buNone/>
            </a:pPr>
            <a:r>
              <a:rPr lang="en-US" altLang="zh-CN" sz="2800" dirty="0" smtClean="0"/>
              <a:t>     </a:t>
            </a:r>
            <a:endParaRPr lang="zh-CN" altLang="en-US" sz="2800" dirty="0"/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>
              <a:buNone/>
            </a:pPr>
            <a:r>
              <a:rPr lang="en-US" altLang="zh-CN" dirty="0" smtClean="0"/>
              <a:t>Question:</a:t>
            </a:r>
          </a:p>
          <a:p>
            <a:pPr latinLnBrk="1">
              <a:buNone/>
            </a:pPr>
            <a:r>
              <a:rPr lang="en-US" altLang="zh-CN" b="1" dirty="0" smtClean="0"/>
              <a:t>1.</a:t>
            </a:r>
            <a:r>
              <a:rPr lang="zh-CN" altLang="en-US" b="1" dirty="0" smtClean="0"/>
              <a:t>长合</a:t>
            </a:r>
            <a:r>
              <a:rPr lang="zh-CN" altLang="en-US" b="1" dirty="0" smtClean="0"/>
              <a:t>长</a:t>
            </a:r>
            <a:r>
              <a:rPr lang="en-US" altLang="zh-CN" b="1" dirty="0" smtClean="0"/>
              <a:t>=</a:t>
            </a:r>
            <a:endParaRPr lang="en-US" altLang="zh-CN" b="1" dirty="0" smtClean="0"/>
          </a:p>
          <a:p>
            <a:pPr latinLnBrk="1">
              <a:buNone/>
            </a:pPr>
            <a:r>
              <a:rPr lang="en-US" altLang="zh-CN" b="1" dirty="0" smtClean="0"/>
              <a:t>2.</a:t>
            </a:r>
            <a:r>
              <a:rPr lang="zh-CN" altLang="en-US" b="1" dirty="0" smtClean="0"/>
              <a:t>五十九</a:t>
            </a:r>
            <a:r>
              <a:rPr lang="en-US" altLang="zh-CN" b="1" dirty="0" smtClean="0"/>
              <a:t>=</a:t>
            </a:r>
            <a:endParaRPr lang="en-US" altLang="zh-CN" b="1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>
              <a:buNone/>
            </a:pPr>
            <a:r>
              <a:rPr lang="en-US" altLang="zh-CN" b="1" dirty="0" smtClean="0"/>
              <a:t>Answer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pPr latinLnBrk="1">
              <a:buNone/>
            </a:pPr>
            <a:r>
              <a:rPr lang="en-US" altLang="zh-CN" b="1" dirty="0" smtClean="0"/>
              <a:t> 1.</a:t>
            </a:r>
            <a:r>
              <a:rPr lang="zh-CN" altLang="en-US" b="1" dirty="0" smtClean="0"/>
              <a:t>肆拾肆</a:t>
            </a:r>
            <a:endParaRPr lang="en-US" altLang="zh-CN" b="1" dirty="0" smtClean="0"/>
          </a:p>
          <a:p>
            <a:pPr latinLnBrk="1">
              <a:buNone/>
            </a:pPr>
            <a:r>
              <a:rPr lang="zh-CN" altLang="en-US" b="1" dirty="0" smtClean="0"/>
              <a:t> </a:t>
            </a:r>
            <a:r>
              <a:rPr lang="en-US" altLang="zh-CN" b="1" dirty="0" smtClean="0"/>
              <a:t>2.</a:t>
            </a:r>
            <a:r>
              <a:rPr lang="zh-CN" altLang="en-US" b="1" dirty="0" smtClean="0"/>
              <a:t>人合</a:t>
            </a:r>
            <a:r>
              <a:rPr lang="zh-CN" altLang="en-US" b="1" dirty="0" smtClean="0"/>
              <a:t>王</a:t>
            </a:r>
            <a:endParaRPr lang="zh-CN" altLang="en-US" b="1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以画代信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/>
              <a:t>    </a:t>
            </a:r>
            <a:r>
              <a:rPr lang="zh-CN" altLang="en-US" b="1" dirty="0" smtClean="0"/>
              <a:t>一人的丈夫在外地谋生。一天她收到不识字的丈夫寄来的家书，打开一看，没有一个字，是四幅画，第一幅画画着七只鸭子，第二幅画画着一个茅台酒的空瓶，第三幅画着一头死象。第四画幅画着一个人骑在马上，向一家门飞奔。   </a:t>
            </a:r>
            <a:br>
              <a:rPr lang="zh-CN" altLang="en-US" b="1" dirty="0" smtClean="0"/>
            </a:br>
            <a:r>
              <a:rPr lang="zh-CN" altLang="en-US" b="1" dirty="0" smtClean="0"/>
              <a:t>你知道信中的内容是什么意思吗？</a:t>
            </a:r>
            <a:r>
              <a:rPr lang="zh-CN" altLang="en-US" dirty="0" smtClean="0"/>
              <a:t> </a:t>
            </a:r>
            <a:endParaRPr lang="zh-CN" altLang="en-US" dirty="0"/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/>
          <a:lstStyle/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b="1" dirty="0" smtClean="0"/>
              <a:t>  </a:t>
            </a:r>
            <a:r>
              <a:rPr lang="zh-CN" altLang="en-US" b="1" dirty="0" smtClean="0"/>
              <a:t>七鸭，好酒不见了，象死了，马上回家！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（妻呀，好久不见了，想死了，马上回家！）</a:t>
            </a:r>
            <a:endParaRPr lang="en-US" altLang="zh-CN" b="1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看完这则，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也许你会说一句南京方言</a:t>
            </a:r>
            <a:r>
              <a:rPr lang="en-US" altLang="zh-CN" dirty="0" smtClean="0"/>
              <a:t>——</a:t>
            </a:r>
            <a:r>
              <a:rPr lang="zh-CN" altLang="en-U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蛮甩的！！</a:t>
            </a:r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 descr="u=2643293375,1425736095&amp;fm=15&amp;gp=0[1]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28860" y="0"/>
            <a:ext cx="6715140" cy="6858000"/>
          </a:xfrm>
        </p:spPr>
      </p:pic>
      <p:sp>
        <p:nvSpPr>
          <p:cNvPr id="10" name="TextBox 9"/>
          <p:cNvSpPr txBox="1"/>
          <p:nvPr/>
        </p:nvSpPr>
        <p:spPr>
          <a:xfrm>
            <a:off x="714349" y="0"/>
            <a:ext cx="1200329" cy="64294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66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itchFamily="2" charset="-122"/>
                <a:ea typeface="方正舒体" pitchFamily="2" charset="-122"/>
              </a:rPr>
              <a:t>是你甩还是我甩？</a:t>
            </a:r>
            <a:endParaRPr lang="zh-CN" altLang="en-US" sz="6600" b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舒体" pitchFamily="2" charset="-122"/>
              <a:ea typeface="方正舒体" pitchFamily="2" charset="-122"/>
            </a:endParaRPr>
          </a:p>
        </p:txBody>
      </p:sp>
    </p:spTree>
  </p:cSld>
  <p:clrMapOvr>
    <a:masterClrMapping/>
  </p:clrMapOvr>
  <p:transition>
    <p:fade/>
    <p:sndAc>
      <p:stSnd>
        <p:snd r:embed="rId2" name="camera.wav" builtIn="1"/>
      </p:stSnd>
    </p:sndAc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3.</a:t>
            </a:r>
            <a:r>
              <a:rPr lang="zh-CN" altLang="en-US" dirty="0" smtClean="0"/>
              <a:t>写信画圈儿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zh-CN" altLang="en-US" dirty="0" smtClean="0"/>
              <a:t>    </a:t>
            </a:r>
            <a:r>
              <a:rPr lang="zh-CN" altLang="en-US" b="1" dirty="0" smtClean="0"/>
              <a:t>以前有一对新婚夫妻。丈夫出远门了，妻子想念丈夫，想写一封信却苦于不识字，不过信还是寄出去了。丈夫收到信后不明白，就去请教一位秀才</a:t>
            </a:r>
            <a:r>
              <a:rPr lang="en-US" altLang="zh-CN" b="1" dirty="0" smtClean="0"/>
              <a:t>……</a:t>
            </a:r>
            <a:br>
              <a:rPr lang="en-US" altLang="zh-CN" b="1" dirty="0" smtClean="0"/>
            </a:br>
            <a:r>
              <a:rPr lang="en-US" altLang="zh-CN" b="1" dirty="0" smtClean="0"/>
              <a:t/>
            </a:r>
            <a:br>
              <a:rPr lang="en-US" altLang="zh-CN" b="1" dirty="0" smtClean="0"/>
            </a:br>
            <a:r>
              <a:rPr lang="zh-CN" altLang="en-US" b="1" dirty="0" smtClean="0"/>
              <a:t>妻子的信是：「 ○ ◎ </a:t>
            </a:r>
            <a:r>
              <a:rPr lang="en-US" altLang="zh-CN" b="1" dirty="0" smtClean="0"/>
              <a:t>Ο C ∞</a:t>
            </a:r>
            <a:r>
              <a:rPr lang="zh-CN" altLang="en-US" b="1" dirty="0" smtClean="0"/>
              <a:t> ○ ○ ○ ○ ○ </a:t>
            </a:r>
            <a:r>
              <a:rPr lang="en-US" altLang="zh-CN" b="1" dirty="0" smtClean="0"/>
              <a:t>…… </a:t>
            </a:r>
            <a:r>
              <a:rPr lang="zh-CN" altLang="en-US" b="1" dirty="0" smtClean="0"/>
              <a:t>」</a:t>
            </a:r>
            <a:br>
              <a:rPr lang="zh-CN" altLang="en-US" b="1" dirty="0" smtClean="0"/>
            </a:br>
            <a:r>
              <a:rPr lang="zh-CN" altLang="en-US" b="1" dirty="0" smtClean="0"/>
              <a:t/>
            </a:r>
            <a:br>
              <a:rPr lang="zh-CN" altLang="en-US" b="1" dirty="0" smtClean="0"/>
            </a:br>
            <a:r>
              <a:rPr lang="zh-CN" altLang="en-US" b="1" dirty="0" smtClean="0"/>
              <a:t>秀才的解析：「 相思欲寄何从寄？画个圈儿替。我密密加圈，你须密密知侬意。单圈儿是我，双圈儿是你，整个圈儿是团圆，破圈儿是别离；还有那说不尽的相思，把一路圈儿圈到底。」</a:t>
            </a:r>
            <a:endParaRPr lang="zh-CN" altLang="en-US" b="1" dirty="0"/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4.</a:t>
            </a:r>
            <a:r>
              <a:rPr lang="zh-CN" altLang="en-US" dirty="0" smtClean="0"/>
              <a:t>不写之写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b="1" dirty="0" smtClean="0"/>
              <a:t>“不写之写法”一种文学写作方法。是指在描叙表现对象时，既生动而逼真地写出其要写的部分，给读者以形象具体的感受，又留下某些空白不写，以激发读者的想象来弥补作者笔触未到之处，形为“不写”，实则已“写”。</a:t>
            </a:r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69755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 smtClean="0"/>
              <a:t>    </a:t>
            </a:r>
            <a:r>
              <a:rPr lang="zh-CN" altLang="en-US" b="1" dirty="0" smtClean="0"/>
              <a:t>古代有一书生，匆忙间把白纸误当书信寄回了家。妻子接信后，竟在原纸上回一首情意绵绵的七绝。明明是件错事，却被妻子误解得头头是道，从而成为一则妙趣横生的佳话。</a:t>
            </a:r>
            <a:endParaRPr lang="en-US" altLang="zh-CN" b="1" dirty="0" smtClean="0"/>
          </a:p>
          <a:p>
            <a:pPr algn="ctr">
              <a:buNone/>
            </a:pPr>
            <a:endParaRPr lang="en-US" altLang="zh-CN" b="1" dirty="0" smtClean="0"/>
          </a:p>
          <a:p>
            <a:pPr algn="ctr">
              <a:buNone/>
            </a:pPr>
            <a:r>
              <a:rPr lang="zh-CN" altLang="en-US" b="1" dirty="0" smtClean="0"/>
              <a:t>碧纱窗下启缄封，</a:t>
            </a:r>
            <a:endParaRPr lang="en-US" altLang="zh-CN" b="1" dirty="0" smtClean="0"/>
          </a:p>
          <a:p>
            <a:pPr algn="ctr">
              <a:buNone/>
            </a:pPr>
            <a:r>
              <a:rPr lang="zh-CN" altLang="en-US" b="1" dirty="0" smtClean="0"/>
              <a:t>尺纸从头彻尾空。</a:t>
            </a:r>
            <a:endParaRPr lang="en-US" altLang="zh-CN" b="1" dirty="0" smtClean="0"/>
          </a:p>
          <a:p>
            <a:pPr algn="ctr">
              <a:buNone/>
            </a:pPr>
            <a:r>
              <a:rPr lang="zh-CN" altLang="en-US" b="1" dirty="0" smtClean="0"/>
              <a:t>应是仙郎怀别恨，</a:t>
            </a:r>
            <a:endParaRPr lang="en-US" altLang="zh-CN" b="1" dirty="0" smtClean="0"/>
          </a:p>
          <a:p>
            <a:pPr algn="ctr">
              <a:buNone/>
            </a:pPr>
            <a:r>
              <a:rPr lang="zh-CN" altLang="en-US" b="1" dirty="0" smtClean="0"/>
              <a:t>忆人全在不言中。</a:t>
            </a:r>
            <a:endParaRPr lang="zh-CN" altLang="en-US" dirty="0"/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5.</a:t>
            </a:r>
            <a:r>
              <a:rPr lang="zh-CN" altLang="en-US" dirty="0" smtClean="0"/>
              <a:t>组字画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b="1" dirty="0" smtClean="0"/>
              <a:t>    组字画，是将几个字的笔画想画画一样画出来组成一幅线条画。</a:t>
            </a:r>
            <a:endParaRPr lang="en-US" altLang="zh-CN" b="1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               </a:t>
            </a:r>
          </a:p>
          <a:p>
            <a:pPr>
              <a:buNone/>
            </a:pPr>
            <a:r>
              <a:rPr lang="en-US" altLang="zh-CN" dirty="0" smtClean="0"/>
              <a:t>    </a:t>
            </a:r>
            <a:r>
              <a:rPr lang="en-US" altLang="zh-CN" sz="6600" i="1" dirty="0" smtClean="0"/>
              <a:t>1234567890</a:t>
            </a:r>
            <a:r>
              <a:rPr lang="en-US" altLang="zh-CN" sz="6600" dirty="0" smtClean="0"/>
              <a:t>=</a:t>
            </a:r>
          </a:p>
          <a:p>
            <a:pPr>
              <a:buNone/>
            </a:pPr>
            <a:endParaRPr lang="zh-CN" altLang="en-US" dirty="0"/>
          </a:p>
        </p:txBody>
      </p:sp>
      <p:pic>
        <p:nvPicPr>
          <p:cNvPr id="4" name="图片 3" descr="图片 0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118837" y="3096479"/>
            <a:ext cx="3786214" cy="2165241"/>
          </a:xfrm>
          <a:prstGeom prst="rect">
            <a:avLst/>
          </a:prstGeom>
        </p:spPr>
      </p:pic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 descr="u=3384219916,2022566621&amp;fm=23&amp;gp=0[1]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85984" y="142852"/>
            <a:ext cx="4286273" cy="6123247"/>
          </a:xfrm>
        </p:spPr>
      </p:pic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6.</a:t>
            </a:r>
            <a:r>
              <a:rPr lang="zh-CN" altLang="en-US" dirty="0" smtClean="0"/>
              <a:t>将几个字写成一圈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b="1" dirty="0" smtClean="0"/>
              <a:t>“赏花归去马如飞酒力微醒时已暮”，将这些字写成一个圈，也可以读成一首诗。</a:t>
            </a:r>
            <a:br>
              <a:rPr lang="zh-CN" altLang="en-US" b="1" dirty="0" smtClean="0"/>
            </a:br>
            <a:r>
              <a:rPr lang="zh-CN" altLang="en-US" b="1" dirty="0" smtClean="0"/>
              <a:t>赏花归去马如飞，去马如飞酒力微，酒力微醒时已暮，醒时已暮赏花归。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    </a:t>
            </a:r>
            <a:r>
              <a:rPr lang="zh-CN" altLang="en-US" b="1" i="1" dirty="0" smtClean="0"/>
              <a:t>茶具上的话</a:t>
            </a:r>
            <a:r>
              <a:rPr lang="zh-CN" altLang="en-US" b="1" dirty="0" smtClean="0"/>
              <a:t>：可以</a:t>
            </a:r>
            <a:r>
              <a:rPr lang="zh-CN" altLang="en-US" b="1" dirty="0" smtClean="0"/>
              <a:t>清心也，以清心也可</a:t>
            </a:r>
            <a:r>
              <a:rPr lang="zh-CN" altLang="en-US" b="1" dirty="0" smtClean="0"/>
              <a:t>，清心</a:t>
            </a:r>
            <a:r>
              <a:rPr lang="zh-CN" altLang="en-US" b="1" dirty="0" smtClean="0"/>
              <a:t>也可以，心也可以清，也可以清心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笑脸 3">
            <a:hlinkClick r:id="rId3" action="ppaction://hlinksldjump"/>
          </p:cNvPr>
          <p:cNvSpPr/>
          <p:nvPr/>
        </p:nvSpPr>
        <p:spPr>
          <a:xfrm>
            <a:off x="642910" y="285728"/>
            <a:ext cx="857256" cy="85725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音义变异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b="1" dirty="0" smtClean="0"/>
              <a:t>1.</a:t>
            </a:r>
            <a:r>
              <a:rPr lang="zh-CN" altLang="en-US" b="1" dirty="0" smtClean="0"/>
              <a:t>音节变异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2.</a:t>
            </a:r>
            <a:r>
              <a:rPr lang="zh-CN" altLang="en-US" b="1" dirty="0" smtClean="0"/>
              <a:t>年龄和称呼的变异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3.</a:t>
            </a:r>
            <a:r>
              <a:rPr lang="zh-CN" altLang="en-US" b="1" dirty="0" smtClean="0"/>
              <a:t>用一个字代表几个数字</a:t>
            </a:r>
            <a:endParaRPr lang="zh-CN" altLang="en-US" b="1" dirty="0"/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音节变异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b="1" dirty="0" smtClean="0"/>
              <a:t>     </a:t>
            </a:r>
            <a:r>
              <a:rPr lang="zh-CN" altLang="en-US" b="1" dirty="0" smtClean="0"/>
              <a:t>有些常用的数量词，为图简单、便捷、省事儿，就将两个字写成一个字，读起来两个音缩成一个音节了。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两个</a:t>
            </a:r>
            <a:r>
              <a:rPr lang="en-US" altLang="zh-CN" b="1" dirty="0" smtClean="0"/>
              <a:t>——</a:t>
            </a:r>
            <a:r>
              <a:rPr lang="zh-CN" altLang="en-US" b="1" dirty="0" smtClean="0"/>
              <a:t>俩（不接量词，表人、物）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三个</a:t>
            </a:r>
            <a:r>
              <a:rPr lang="en-US" altLang="zh-CN" b="1" dirty="0" smtClean="0"/>
              <a:t>——</a:t>
            </a:r>
            <a:r>
              <a:rPr lang="zh-CN" altLang="en-US" b="1" dirty="0" smtClean="0"/>
              <a:t>仨（不接量词，表人、物）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两个十</a:t>
            </a:r>
            <a:r>
              <a:rPr lang="en-US" altLang="zh-CN" b="1" dirty="0" smtClean="0"/>
              <a:t>——</a:t>
            </a:r>
            <a:r>
              <a:rPr lang="zh-CN" altLang="en-US" b="1" dirty="0" smtClean="0"/>
              <a:t>二十</a:t>
            </a:r>
            <a:r>
              <a:rPr lang="en-US" altLang="zh-CN" b="1" dirty="0" smtClean="0"/>
              <a:t>——</a:t>
            </a:r>
            <a:r>
              <a:rPr lang="zh-CN" altLang="en-US" b="1" dirty="0" smtClean="0"/>
              <a:t>廿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dirty="0" smtClean="0"/>
              <a:t>    </a:t>
            </a:r>
            <a:r>
              <a:rPr lang="zh-CN" altLang="en-US" sz="8000" dirty="0" smtClean="0">
                <a:solidFill>
                  <a:srgbClr val="FF0000"/>
                </a:solidFill>
              </a:rPr>
              <a:t>卅</a:t>
            </a:r>
            <a:r>
              <a:rPr lang="zh-CN" altLang="en-US" dirty="0" smtClean="0"/>
              <a:t>                     </a:t>
            </a:r>
            <a:r>
              <a:rPr lang="zh-CN" altLang="en-US" sz="8000" dirty="0" smtClean="0">
                <a:solidFill>
                  <a:srgbClr val="FF0000"/>
                </a:solidFill>
              </a:rPr>
              <a:t>卌</a:t>
            </a:r>
            <a:r>
              <a:rPr lang="zh-CN" altLang="en-US" dirty="0" smtClean="0">
                <a:solidFill>
                  <a:srgbClr val="FF0000"/>
                </a:solidFill>
              </a:rPr>
              <a:t> </a:t>
            </a:r>
            <a:r>
              <a:rPr lang="zh-CN" altLang="en-US" dirty="0" smtClean="0"/>
              <a:t>          </a:t>
            </a:r>
            <a:endParaRPr lang="zh-CN" altLang="en-US" dirty="0"/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年龄和称呼的变异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以十岁为单位，每十岁一个说法：</a:t>
            </a:r>
            <a:endParaRPr lang="en-US" altLang="zh-CN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zh-CN" altLang="en-US" sz="3300" b="1" dirty="0" smtClean="0"/>
              <a:t>             十岁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幼学</a:t>
            </a:r>
            <a:br>
              <a:rPr lang="zh-CN" altLang="en-US" sz="3300" b="1" dirty="0" smtClean="0"/>
            </a:br>
            <a:r>
              <a:rPr lang="zh-CN" altLang="en-US" sz="3300" b="1" dirty="0" smtClean="0"/>
              <a:t>　　二十岁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弱冠</a:t>
            </a:r>
            <a:br>
              <a:rPr lang="zh-CN" altLang="en-US" sz="3300" b="1" dirty="0" smtClean="0"/>
            </a:br>
            <a:r>
              <a:rPr lang="zh-CN" altLang="en-US" sz="3300" b="1" dirty="0" smtClean="0"/>
              <a:t>　　三十岁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壮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而立之年</a:t>
            </a:r>
            <a:br>
              <a:rPr lang="zh-CN" altLang="en-US" sz="3300" b="1" dirty="0" smtClean="0"/>
            </a:br>
            <a:r>
              <a:rPr lang="zh-CN" altLang="en-US" sz="3300" b="1" dirty="0" smtClean="0"/>
              <a:t>　　四十岁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强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不惑之年</a:t>
            </a:r>
            <a:br>
              <a:rPr lang="zh-CN" altLang="en-US" sz="3300" b="1" dirty="0" smtClean="0"/>
            </a:br>
            <a:r>
              <a:rPr lang="zh-CN" altLang="en-US" sz="3300" b="1" dirty="0" smtClean="0"/>
              <a:t>　　五十岁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艾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知命之年</a:t>
            </a:r>
            <a:br>
              <a:rPr lang="zh-CN" altLang="en-US" sz="3300" b="1" dirty="0" smtClean="0"/>
            </a:br>
            <a:r>
              <a:rPr lang="zh-CN" altLang="en-US" sz="3300" b="1" dirty="0" smtClean="0"/>
              <a:t>　　六十岁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耆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花甲之年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耳顺</a:t>
            </a:r>
            <a:endParaRPr lang="en-US" altLang="zh-CN" sz="3300" b="1" dirty="0" smtClean="0"/>
          </a:p>
          <a:p>
            <a:pPr>
              <a:buNone/>
            </a:pPr>
            <a:r>
              <a:rPr lang="en-US" altLang="zh-CN" sz="3300" b="1" dirty="0" smtClean="0"/>
              <a:t>      </a:t>
            </a:r>
            <a:r>
              <a:rPr lang="zh-CN" altLang="en-US" sz="3300" b="1" dirty="0" smtClean="0"/>
              <a:t>　  七十岁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老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古稀之年</a:t>
            </a:r>
            <a:br>
              <a:rPr lang="zh-CN" altLang="en-US" sz="3300" b="1" dirty="0" smtClean="0"/>
            </a:br>
            <a:r>
              <a:rPr lang="zh-CN" altLang="en-US" sz="3300" b="1" dirty="0" smtClean="0"/>
              <a:t>　    八十岁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耄</a:t>
            </a:r>
            <a:br>
              <a:rPr lang="zh-CN" altLang="en-US" sz="3300" b="1" dirty="0" smtClean="0"/>
            </a:br>
            <a:r>
              <a:rPr lang="zh-CN" altLang="en-US" sz="3300" b="1" dirty="0" smtClean="0"/>
              <a:t>　　九十岁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耋</a:t>
            </a:r>
            <a:br>
              <a:rPr lang="zh-CN" altLang="en-US" sz="3300" b="1" dirty="0" smtClean="0"/>
            </a:br>
            <a:r>
              <a:rPr lang="zh-CN" altLang="en-US" sz="3300" b="1" dirty="0" smtClean="0"/>
              <a:t>　　八九十岁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耄耋之年</a:t>
            </a:r>
            <a:br>
              <a:rPr lang="zh-CN" altLang="en-US" sz="3300" b="1" dirty="0" smtClean="0"/>
            </a:br>
            <a:r>
              <a:rPr lang="zh-CN" altLang="en-US" sz="3300" b="1" dirty="0" smtClean="0"/>
              <a:t>　　一百岁</a:t>
            </a:r>
            <a:r>
              <a:rPr lang="en-US" altLang="zh-CN" sz="3300" b="1" dirty="0" smtClean="0"/>
              <a:t>——</a:t>
            </a:r>
            <a:r>
              <a:rPr lang="zh-CN" altLang="en-US" sz="3300" b="1" dirty="0" smtClean="0"/>
              <a:t>期颐</a:t>
            </a:r>
            <a:endParaRPr lang="zh-CN" altLang="en-US" sz="3300" b="1" dirty="0"/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14290"/>
            <a:ext cx="8229600" cy="591187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关于年龄，还有另外的说法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　</a:t>
            </a:r>
            <a:r>
              <a:rPr lang="zh-CN" altLang="en-US" sz="3000" dirty="0" smtClean="0"/>
              <a:t>　</a:t>
            </a:r>
            <a:r>
              <a:rPr lang="zh-CN" altLang="en-US" sz="3000" b="1" dirty="0" smtClean="0"/>
              <a:t>      童年</a:t>
            </a:r>
            <a:r>
              <a:rPr lang="en-US" altLang="zh-CN" sz="3000" b="1" dirty="0" smtClean="0"/>
              <a:t>——</a:t>
            </a:r>
            <a:r>
              <a:rPr lang="zh-CN" altLang="en-US" sz="3000" b="1" dirty="0" smtClean="0"/>
              <a:t>总角、垂髫</a:t>
            </a:r>
            <a:br>
              <a:rPr lang="zh-CN" altLang="en-US" sz="3000" b="1" dirty="0" smtClean="0"/>
            </a:br>
            <a:r>
              <a:rPr lang="zh-CN" altLang="en-US" sz="3000" b="1" dirty="0" smtClean="0"/>
              <a:t>　　青少年</a:t>
            </a:r>
            <a:r>
              <a:rPr lang="en-US" altLang="zh-CN" sz="3000" b="1" dirty="0" smtClean="0"/>
              <a:t>——</a:t>
            </a:r>
            <a:r>
              <a:rPr lang="zh-CN" altLang="en-US" sz="3000" b="1" dirty="0" smtClean="0"/>
              <a:t>束发</a:t>
            </a:r>
            <a:br>
              <a:rPr lang="zh-CN" altLang="en-US" sz="3000" b="1" dirty="0" smtClean="0"/>
            </a:br>
            <a:r>
              <a:rPr lang="zh-CN" altLang="en-US" sz="3000" b="1" dirty="0" smtClean="0"/>
              <a:t>　　七岁</a:t>
            </a:r>
            <a:r>
              <a:rPr lang="en-US" altLang="zh-CN" sz="3000" b="1" dirty="0" smtClean="0"/>
              <a:t>——</a:t>
            </a:r>
            <a:r>
              <a:rPr lang="zh-CN" altLang="en-US" sz="3000" b="1" dirty="0" smtClean="0"/>
              <a:t>悼　　</a:t>
            </a:r>
            <a:br>
              <a:rPr lang="zh-CN" altLang="en-US" sz="3000" b="1" dirty="0" smtClean="0"/>
            </a:br>
            <a:r>
              <a:rPr lang="zh-CN" altLang="en-US" sz="3000" b="1" dirty="0" smtClean="0"/>
              <a:t>　　十五岁</a:t>
            </a:r>
            <a:r>
              <a:rPr lang="en-US" altLang="zh-CN" sz="3000" b="1" dirty="0" smtClean="0"/>
              <a:t>——</a:t>
            </a:r>
            <a:r>
              <a:rPr lang="zh-CN" altLang="en-US" sz="3000" b="1" dirty="0" smtClean="0"/>
              <a:t>童、志学　　</a:t>
            </a:r>
            <a:br>
              <a:rPr lang="zh-CN" altLang="en-US" sz="3000" b="1" dirty="0" smtClean="0"/>
            </a:br>
            <a:r>
              <a:rPr lang="zh-CN" altLang="en-US" sz="3000" b="1" dirty="0" smtClean="0"/>
              <a:t>　　女子十五岁</a:t>
            </a:r>
            <a:r>
              <a:rPr lang="en-US" altLang="zh-CN" sz="3000" b="1" dirty="0" smtClean="0"/>
              <a:t>——</a:t>
            </a:r>
            <a:r>
              <a:rPr lang="zh-CN" altLang="en-US" sz="3000" b="1" dirty="0" smtClean="0"/>
              <a:t>及笄　　</a:t>
            </a:r>
            <a:br>
              <a:rPr lang="zh-CN" altLang="en-US" sz="3000" b="1" dirty="0" smtClean="0"/>
            </a:br>
            <a:r>
              <a:rPr lang="zh-CN" altLang="en-US" sz="3000" b="1" dirty="0" smtClean="0"/>
              <a:t>　　女子十六岁</a:t>
            </a:r>
            <a:r>
              <a:rPr lang="en-US" altLang="zh-CN" sz="3000" b="1" dirty="0" smtClean="0"/>
              <a:t>——</a:t>
            </a:r>
            <a:r>
              <a:rPr lang="zh-CN" altLang="en-US" sz="3000" b="1" dirty="0" smtClean="0"/>
              <a:t>二八（二乘八）　　</a:t>
            </a:r>
            <a:br>
              <a:rPr lang="zh-CN" altLang="en-US" sz="3000" b="1" dirty="0" smtClean="0"/>
            </a:br>
            <a:r>
              <a:rPr lang="zh-CN" altLang="en-US" sz="3000" b="1" dirty="0" smtClean="0"/>
              <a:t>　　成年尚未出嫁的女子</a:t>
            </a:r>
            <a:r>
              <a:rPr lang="en-US" altLang="zh-CN" sz="3000" b="1" dirty="0" smtClean="0"/>
              <a:t>——</a:t>
            </a:r>
            <a:r>
              <a:rPr lang="zh-CN" altLang="en-US" sz="3000" b="1" dirty="0" smtClean="0"/>
              <a:t>待字　　</a:t>
            </a:r>
            <a:br>
              <a:rPr lang="zh-CN" altLang="en-US" sz="3000" b="1" dirty="0" smtClean="0"/>
            </a:br>
            <a:r>
              <a:rPr lang="zh-CN" altLang="en-US" sz="3000" b="1" dirty="0" smtClean="0"/>
              <a:t>　　老年</a:t>
            </a:r>
            <a:r>
              <a:rPr lang="en-US" altLang="zh-CN" sz="3000" b="1" dirty="0" smtClean="0"/>
              <a:t>——</a:t>
            </a:r>
            <a:r>
              <a:rPr lang="zh-CN" altLang="en-US" sz="3000" b="1" dirty="0" smtClean="0"/>
              <a:t>垂白、垂暮、老苍、皓首、白首　　</a:t>
            </a:r>
            <a:br>
              <a:rPr lang="zh-CN" altLang="en-US" sz="3000" b="1" dirty="0" smtClean="0"/>
            </a:br>
            <a:r>
              <a:rPr lang="zh-CN" altLang="en-US" sz="3000" b="1" dirty="0" smtClean="0"/>
              <a:t>　　长寿老人</a:t>
            </a:r>
            <a:r>
              <a:rPr lang="en-US" altLang="zh-CN" sz="3000" b="1" dirty="0" smtClean="0"/>
              <a:t>——</a:t>
            </a:r>
            <a:r>
              <a:rPr lang="zh-CN" altLang="en-US" sz="3000" b="1" dirty="0" smtClean="0"/>
              <a:t>黄发　　</a:t>
            </a:r>
            <a:br>
              <a:rPr lang="zh-CN" altLang="en-US" sz="3000" b="1" dirty="0" smtClean="0"/>
            </a:br>
            <a:r>
              <a:rPr lang="zh-CN" altLang="en-US" sz="3000" b="1" dirty="0" smtClean="0"/>
              <a:t>　　德行好又年寿特高的人</a:t>
            </a:r>
            <a:r>
              <a:rPr lang="en-US" altLang="zh-CN" sz="3000" b="1" dirty="0" smtClean="0"/>
              <a:t>——</a:t>
            </a:r>
            <a:r>
              <a:rPr lang="zh-CN" altLang="en-US" sz="3000" b="1" dirty="0" smtClean="0"/>
              <a:t>人瑞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dirty="0" smtClean="0"/>
              <a:t/>
            </a:r>
            <a:br>
              <a:rPr lang="zh-CN" altLang="en-US" dirty="0" smtClean="0"/>
            </a:br>
            <a:endParaRPr lang="zh-CN" altLang="en-US" dirty="0"/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697559"/>
          </a:xfrm>
        </p:spPr>
        <p:txBody>
          <a:bodyPr/>
          <a:lstStyle/>
          <a:p>
            <a:pPr>
              <a:buNone/>
            </a:pPr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兄弟间的排行顺序：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b="1" dirty="0" smtClean="0"/>
              <a:t>　　伯</a:t>
            </a:r>
            <a:r>
              <a:rPr lang="en-US" altLang="zh-CN" b="1" dirty="0" smtClean="0"/>
              <a:t>——</a:t>
            </a:r>
            <a:r>
              <a:rPr lang="zh-CN" altLang="en-US" b="1" dirty="0" smtClean="0"/>
              <a:t>大儿子　</a:t>
            </a:r>
            <a:br>
              <a:rPr lang="zh-CN" altLang="en-US" b="1" dirty="0" smtClean="0"/>
            </a:br>
            <a:r>
              <a:rPr lang="zh-CN" altLang="en-US" b="1" dirty="0" smtClean="0"/>
              <a:t>　　仲</a:t>
            </a:r>
            <a:r>
              <a:rPr lang="en-US" altLang="zh-CN" b="1" dirty="0" smtClean="0"/>
              <a:t>——</a:t>
            </a:r>
            <a:r>
              <a:rPr lang="zh-CN" altLang="en-US" b="1" dirty="0" smtClean="0"/>
              <a:t>二儿子　　</a:t>
            </a:r>
            <a:br>
              <a:rPr lang="zh-CN" altLang="en-US" b="1" dirty="0" smtClean="0"/>
            </a:br>
            <a:r>
              <a:rPr lang="zh-CN" altLang="en-US" b="1" dirty="0" smtClean="0"/>
              <a:t>　　叔</a:t>
            </a:r>
            <a:r>
              <a:rPr lang="en-US" altLang="zh-CN" b="1" dirty="0" smtClean="0"/>
              <a:t>——</a:t>
            </a:r>
            <a:r>
              <a:rPr lang="zh-CN" altLang="en-US" b="1" dirty="0" smtClean="0"/>
              <a:t>三儿子</a:t>
            </a:r>
            <a:br>
              <a:rPr lang="zh-CN" altLang="en-US" b="1" dirty="0" smtClean="0"/>
            </a:br>
            <a:r>
              <a:rPr lang="zh-CN" altLang="en-US" b="1" dirty="0" smtClean="0"/>
              <a:t>　　季</a:t>
            </a:r>
            <a:r>
              <a:rPr lang="en-US" altLang="zh-CN" b="1" dirty="0" smtClean="0"/>
              <a:t>——</a:t>
            </a:r>
            <a:r>
              <a:rPr lang="zh-CN" altLang="en-US" b="1" dirty="0" smtClean="0"/>
              <a:t>四儿子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   </a:t>
            </a:r>
            <a:r>
              <a:rPr lang="zh-CN" altLang="en-US" b="1" dirty="0" smtClean="0"/>
              <a:t>  称自己的父母兄妹</a:t>
            </a:r>
            <a:r>
              <a:rPr lang="en-US" altLang="zh-CN" b="1" dirty="0" smtClean="0"/>
              <a:t>——</a:t>
            </a:r>
            <a:r>
              <a:rPr lang="zh-CN" altLang="en-US" b="1" dirty="0" smtClean="0"/>
              <a:t>家父（家严）、家母（家慈）、家兄、家妹</a:t>
            </a:r>
            <a:br>
              <a:rPr lang="zh-CN" altLang="en-US" b="1" dirty="0" smtClean="0"/>
            </a:br>
            <a:r>
              <a:rPr lang="zh-CN" altLang="en-US" b="1" dirty="0" smtClean="0"/>
              <a:t>　　</a:t>
            </a:r>
            <a:br>
              <a:rPr lang="zh-CN" altLang="en-US" b="1" dirty="0" smtClean="0"/>
            </a:br>
            <a:r>
              <a:rPr lang="zh-CN" altLang="en-US" b="1" dirty="0" smtClean="0"/>
              <a:t>尊称别人的父母兄妹</a:t>
            </a:r>
            <a:r>
              <a:rPr lang="en-US" altLang="zh-CN" b="1" dirty="0" smtClean="0"/>
              <a:t>——</a:t>
            </a:r>
            <a:r>
              <a:rPr lang="zh-CN" altLang="en-US" b="1" dirty="0" smtClean="0"/>
              <a:t>令尊、令堂、令兄、令妹</a:t>
            </a:r>
            <a:endParaRPr lang="zh-CN" altLang="en-US" b="1" dirty="0"/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3.</a:t>
            </a:r>
            <a:r>
              <a:rPr lang="zh-CN" altLang="en-US" dirty="0" smtClean="0"/>
              <a:t>用一个字代表几个数字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zh-CN" altLang="en-US" b="1" dirty="0" smtClean="0"/>
              <a:t>     按照中国人的习俗，向高龄老人祝寿有“喜寿”“米寿”“白寿”“茶寿”之说。</a:t>
            </a:r>
          </a:p>
          <a:p>
            <a:pPr>
              <a:buNone/>
            </a:pPr>
            <a:r>
              <a:rPr lang="zh-CN" altLang="en-US" b="1" dirty="0" smtClean="0"/>
              <a:t>     把“喜”“米”“白”“茶”四字作为高龄老人的寿年，是有讲究的，有说法的。</a:t>
            </a:r>
          </a:p>
          <a:p>
            <a:pPr>
              <a:buNone/>
            </a:pPr>
            <a:r>
              <a:rPr lang="zh-CN" altLang="en-US" b="1" dirty="0" smtClean="0"/>
              <a:t>“喜寿”是指七十七岁。这是因为“喜”字写成草体很像七十七。“米寿”指八十八岁。这是因为“米”字上部一点一撇像“八”，下部的一撇一捺也是个“八”，中间一横一竖像“十”，加起来八十八。“白寿”指九十九。这是因为“白”字是“百”字上面少一横，百减去一，不是九十九吗？“茶寿”指一百零八岁。这是因为“茶”的草头为“二十”，“茶”字下半部是“八十八”，加起来就不是一百零八。</a:t>
            </a:r>
          </a:p>
          <a:p>
            <a:pPr>
              <a:buNone/>
            </a:pPr>
            <a:endParaRPr lang="zh-CN" altLang="en-US" dirty="0"/>
          </a:p>
        </p:txBody>
      </p:sp>
      <p:sp>
        <p:nvSpPr>
          <p:cNvPr id="4" name="笑脸 3">
            <a:hlinkClick r:id="rId3" action="ppaction://hlinksldjump"/>
          </p:cNvPr>
          <p:cNvSpPr/>
          <p:nvPr/>
        </p:nvSpPr>
        <p:spPr>
          <a:xfrm>
            <a:off x="642910" y="285728"/>
            <a:ext cx="857256" cy="85725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三</a:t>
            </a:r>
            <a:r>
              <a:rPr lang="en-US" altLang="zh-CN" dirty="0" smtClean="0"/>
              <a:t>.</a:t>
            </a:r>
            <a:r>
              <a:rPr lang="zh-CN" altLang="en-US" dirty="0" smtClean="0"/>
              <a:t>断句变异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5929354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zh-CN" altLang="en-US" sz="4900" dirty="0" smtClean="0"/>
              <a:t>    </a:t>
            </a:r>
            <a:r>
              <a:rPr lang="zh-CN" altLang="en-US" sz="6200" b="1" dirty="0" smtClean="0">
                <a:solidFill>
                  <a:srgbClr val="FF0000"/>
                </a:solidFill>
              </a:rPr>
              <a:t>我国古代书籍上没有标点，阅读时要自己断句。 </a:t>
            </a:r>
          </a:p>
          <a:p>
            <a:pPr>
              <a:buNone/>
            </a:pPr>
            <a:r>
              <a:rPr lang="en-US" altLang="zh-CN" sz="5800" b="1" dirty="0" smtClean="0"/>
              <a:t>1.</a:t>
            </a:r>
            <a:r>
              <a:rPr lang="zh-CN" altLang="en-US" sz="5800" b="1" dirty="0" smtClean="0"/>
              <a:t>据说，古时候有一位穷秀才到朋友家混口饭吃，时间一长，主人就不高兴了。有一天，天上飘着雨，穷秀才又来了，主人只好写了一张纸条委婉地表达自己的意思。穷秀才看</a:t>
            </a:r>
          </a:p>
          <a:p>
            <a:pPr>
              <a:buNone/>
            </a:pPr>
            <a:r>
              <a:rPr lang="zh-CN" altLang="en-US" sz="5800" b="1" dirty="0" smtClean="0"/>
              <a:t>了纸条，知道主人在下逐客令了，于是灵机一动，只提笔在纸条上加了标点，逐客令就变成了留客词。你知道主人和客人分别是怎样断句的吗？</a:t>
            </a:r>
            <a:endParaRPr lang="en-US" altLang="zh-CN" sz="5800" b="1" dirty="0" smtClean="0"/>
          </a:p>
          <a:p>
            <a:pPr>
              <a:buNone/>
            </a:pPr>
            <a:r>
              <a:rPr lang="zh-CN" altLang="en-US" sz="5800" b="1" dirty="0" smtClean="0"/>
              <a:t>                                       雨天留客</a:t>
            </a:r>
            <a:r>
              <a:rPr lang="en-US" altLang="zh-CN" sz="5800" b="1" dirty="0" smtClean="0"/>
              <a:t>,</a:t>
            </a:r>
            <a:r>
              <a:rPr lang="zh-CN" altLang="en-US" sz="5800" b="1" dirty="0" smtClean="0"/>
              <a:t>天留我不留</a:t>
            </a:r>
          </a:p>
          <a:p>
            <a:pPr>
              <a:buNone/>
            </a:pPr>
            <a:r>
              <a:rPr lang="en-US" altLang="zh-CN" sz="5800" b="1" dirty="0" smtClean="0"/>
              <a:t>                                      </a:t>
            </a:r>
            <a:r>
              <a:rPr lang="zh-CN" altLang="en-US" sz="5800" b="1" dirty="0" smtClean="0"/>
              <a:t>下雨天</a:t>
            </a:r>
            <a:r>
              <a:rPr lang="en-US" altLang="zh-CN" sz="5800" b="1" dirty="0" smtClean="0"/>
              <a:t>,</a:t>
            </a:r>
            <a:r>
              <a:rPr lang="zh-CN" altLang="en-US" sz="5800" b="1" dirty="0" smtClean="0"/>
              <a:t>留客</a:t>
            </a:r>
            <a:r>
              <a:rPr lang="en-US" altLang="zh-CN" sz="5800" b="1" dirty="0" smtClean="0"/>
              <a:t>,</a:t>
            </a:r>
            <a:r>
              <a:rPr lang="zh-CN" altLang="en-US" sz="5800" b="1" dirty="0" smtClean="0"/>
              <a:t>天留我不</a:t>
            </a:r>
            <a:r>
              <a:rPr lang="en-US" altLang="zh-CN" sz="5800" b="1" dirty="0" smtClean="0"/>
              <a:t>?</a:t>
            </a:r>
            <a:r>
              <a:rPr lang="zh-CN" altLang="en-US" sz="5800" b="1" dirty="0" smtClean="0"/>
              <a:t>留</a:t>
            </a:r>
            <a:r>
              <a:rPr lang="en-US" altLang="zh-CN" sz="5800" b="1" dirty="0" smtClean="0"/>
              <a:t>. </a:t>
            </a:r>
          </a:p>
          <a:p>
            <a:pPr>
              <a:buNone/>
            </a:pPr>
            <a:r>
              <a:rPr lang="en-US" altLang="zh-CN" sz="5800" b="1" dirty="0" smtClean="0"/>
              <a:t>2.</a:t>
            </a:r>
            <a:r>
              <a:rPr lang="zh-CN" altLang="en-US" sz="5800" b="1" dirty="0" smtClean="0"/>
              <a:t>有一个富翁生性吝啬，聘请教书先生时，讲明膳食供给很微薄。当时，这位教书先生一口应允了。先生恐怕口说无凭，写了一张没有加标点符号的合约：“无鸡鸭亦可无鱼肉</a:t>
            </a:r>
          </a:p>
          <a:p>
            <a:pPr>
              <a:buNone/>
            </a:pPr>
            <a:r>
              <a:rPr lang="zh-CN" altLang="en-US" sz="5800" b="1" dirty="0" smtClean="0"/>
              <a:t>亦可青菜一碟足矣。”富翁根据自己主观愿望。理解为“无鸡鸭亦可，无鱼肉亦可，青菜一碟足矣。”欣然签字。哪知吃第一顿饭时，教书先生就大喊大叫：“怎么尽是素菜，没荤菜？我们不是约定了‘无鸡，鸭也可，无鱼，肉亦可；青菜一碟，足矣’的么？”弄得这个富翁哭笑不得。 </a:t>
            </a:r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500042"/>
            <a:ext cx="8229600" cy="5911873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altLang="zh-CN" sz="4400" b="1" dirty="0" smtClean="0"/>
              <a:t>3</a:t>
            </a:r>
            <a:r>
              <a:rPr lang="en-US" altLang="zh-CN" sz="4400" b="1" dirty="0" smtClean="0"/>
              <a:t>.</a:t>
            </a:r>
            <a:r>
              <a:rPr lang="zh-CN" altLang="en-US" sz="4400" b="1" dirty="0" smtClean="0"/>
              <a:t>从前有一个财主，靠养猪致富，可家里的老鼠成灾，他求道士为他家写一个神符，希望将猪养得如大象一样又肥又大，让老鼠都干净。道士边写边念道：“喂猪喂成象，老鼠都死净。”财主高兴极了，将神符贴在门上。因为当时写文章都不用标点符号，所以神符写成“喂猪喂成象老鼠都死净。”这天，一位穷秀才来访，财主就在他面前炫耀神符。秀才听罢，说：“不好，不吉利！”财主问为什么，秀才念道：“喂猪喂成象（像）老鼠，都死净。”</a:t>
            </a:r>
          </a:p>
          <a:p>
            <a:pPr>
              <a:buNone/>
            </a:pPr>
            <a:r>
              <a:rPr lang="en-US" altLang="zh-CN" sz="4400" b="1" dirty="0" smtClean="0"/>
              <a:t>4</a:t>
            </a:r>
            <a:r>
              <a:rPr lang="en-US" altLang="zh-CN" sz="4400" b="1" dirty="0" smtClean="0"/>
              <a:t>.</a:t>
            </a:r>
            <a:r>
              <a:rPr lang="zh-CN" altLang="en-US" sz="4400" b="1" dirty="0" smtClean="0"/>
              <a:t>还有传闻，说某官给慈禧太后题扇，写王之涣</a:t>
            </a:r>
            <a:r>
              <a:rPr lang="en-US" altLang="zh-CN" sz="4400" b="1" dirty="0" smtClean="0"/>
              <a:t>《</a:t>
            </a:r>
            <a:r>
              <a:rPr lang="zh-CN" altLang="en-US" sz="4400" b="1" dirty="0" smtClean="0"/>
              <a:t>凉州词</a:t>
            </a:r>
            <a:r>
              <a:rPr lang="en-US" altLang="zh-CN" sz="4400" b="1" dirty="0" smtClean="0"/>
              <a:t>》</a:t>
            </a:r>
            <a:r>
              <a:rPr lang="zh-CN" altLang="en-US" sz="4400" b="1" dirty="0" smtClean="0"/>
              <a:t>，不想将“黄河远上白云间”的“间”字漏写，</a:t>
            </a:r>
          </a:p>
          <a:p>
            <a:pPr>
              <a:buNone/>
            </a:pPr>
            <a:r>
              <a:rPr lang="zh-CN" altLang="en-US" sz="4400" b="1" dirty="0" smtClean="0"/>
              <a:t>慈禧大怒顿生杀机。此官情急生智说这是用王之涣的诗改写的词，于是加上标点念道：“黄河远上，白云一片，孤城万仞山。羌笛何须怨？杨柳春风，不度玉门关。”一首七绝生生变成一阕词，足见标点之化境。</a:t>
            </a:r>
            <a:endParaRPr lang="en-US" altLang="zh-CN" sz="4400" b="1" dirty="0" smtClean="0"/>
          </a:p>
          <a:p>
            <a:pPr>
              <a:buNone/>
            </a:pPr>
            <a:r>
              <a:rPr lang="en-US" altLang="zh-CN" sz="4400" b="1" dirty="0" smtClean="0"/>
              <a:t>5.</a:t>
            </a:r>
            <a:r>
              <a:rPr lang="zh-CN" altLang="en-US" sz="4400" b="1" dirty="0" smtClean="0"/>
              <a:t>一个人总是挨官司。过年时，他对家人说：“今年谁都不能打官司。”并且贴了一幅对联，上面写着“今年好，晦气少，不得打官司。”只是没加标点。结果小儿子来探亲</a:t>
            </a:r>
          </a:p>
          <a:p>
            <a:pPr>
              <a:buNone/>
            </a:pPr>
            <a:r>
              <a:rPr lang="zh-CN" altLang="en-US" sz="4400" b="1" dirty="0" smtClean="0"/>
              <a:t>时读出了这幅对联，让全家十分惊讶。他读的是：“今年好晦气，少不得打官司。”</a:t>
            </a:r>
            <a:r>
              <a:rPr lang="zh-CN" altLang="en-US" sz="2600" dirty="0" smtClean="0"/>
              <a:t> </a:t>
            </a:r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p:transition>
    <p:fade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u=1551716362,1769011957&amp;fm=21&amp;gp=0[1]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7158" y="3286124"/>
            <a:ext cx="2571763" cy="2966100"/>
          </a:xfrm>
        </p:spPr>
      </p:pic>
      <p:sp>
        <p:nvSpPr>
          <p:cNvPr id="5" name="TextBox 4"/>
          <p:cNvSpPr txBox="1"/>
          <p:nvPr/>
        </p:nvSpPr>
        <p:spPr>
          <a:xfrm>
            <a:off x="3357554" y="4500570"/>
            <a:ext cx="52864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0070C0"/>
                </a:solidFill>
                <a:latin typeface="方正舒体" pitchFamily="2" charset="-122"/>
                <a:ea typeface="方正舒体" pitchFamily="2" charset="-122"/>
              </a:rPr>
              <a:t>支持原创，拒绝盗版，</a:t>
            </a:r>
            <a:endParaRPr lang="en-US" altLang="zh-CN" sz="4000" b="1" dirty="0" smtClean="0">
              <a:solidFill>
                <a:srgbClr val="0070C0"/>
              </a:solidFill>
              <a:latin typeface="方正舒体" pitchFamily="2" charset="-122"/>
              <a:ea typeface="方正舒体" pitchFamily="2" charset="-122"/>
            </a:endParaRPr>
          </a:p>
          <a:p>
            <a:r>
              <a:rPr lang="zh-CN" altLang="en-US" sz="4000" b="1" dirty="0" smtClean="0">
                <a:solidFill>
                  <a:srgbClr val="0070C0"/>
                </a:solidFill>
                <a:latin typeface="方正舒体" pitchFamily="2" charset="-122"/>
                <a:ea typeface="方正舒体" pitchFamily="2" charset="-122"/>
              </a:rPr>
              <a:t>飞哥万岁万岁万万岁！</a:t>
            </a:r>
            <a:endParaRPr lang="zh-CN" altLang="en-US" sz="4000" b="1" dirty="0">
              <a:solidFill>
                <a:srgbClr val="0070C0"/>
              </a:solidFill>
              <a:latin typeface="方正舒体" pitchFamily="2" charset="-122"/>
              <a:ea typeface="方正舒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538" y="857232"/>
            <a:ext cx="7500990" cy="1446550"/>
          </a:xfrm>
          <a:prstGeom prst="rect">
            <a:avLst/>
          </a:prstGeom>
          <a:noFill/>
          <a:scene3d>
            <a:camera prst="orthographicFront">
              <a:rot lat="0" lon="0" rev="20999999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zh-CN" altLang="en-US" sz="8800" b="1" dirty="0" smtClean="0">
                <a:latin typeface="华文彩云" pitchFamily="2" charset="-122"/>
                <a:ea typeface="华文彩云" pitchFamily="2" charset="-122"/>
              </a:rPr>
              <a:t>谢谢大家！！</a:t>
            </a:r>
            <a:endParaRPr lang="zh-CN" altLang="en-US" sz="8800" b="1" dirty="0">
              <a:latin typeface="华文彩云" pitchFamily="2" charset="-122"/>
              <a:ea typeface="华文彩云" pitchFamily="2" charset="-122"/>
            </a:endParaRPr>
          </a:p>
        </p:txBody>
      </p:sp>
    </p:spTree>
  </p:cSld>
  <p:clrMapOvr>
    <a:masterClrMapping/>
  </p:clrMapOvr>
  <p:transition>
    <p:fade/>
    <p:sndAc>
      <p:stSnd>
        <p:snd r:embed="rId2" name="applause.wav" builtIn="1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1246</Words>
  <PresentationFormat>全屏显示(4:3)</PresentationFormat>
  <Paragraphs>96</Paragraphs>
  <Slides>25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6" baseType="lpstr">
      <vt:lpstr>Office 主题</vt:lpstr>
      <vt:lpstr>幻灯片 1</vt:lpstr>
      <vt:lpstr>汉字的变异</vt:lpstr>
      <vt:lpstr>幻灯片 3</vt:lpstr>
      <vt:lpstr>书写变异</vt:lpstr>
      <vt:lpstr>1.生意人的数字书写</vt:lpstr>
      <vt:lpstr>幻灯片 6</vt:lpstr>
      <vt:lpstr>幻灯片 7</vt:lpstr>
      <vt:lpstr>2.以画代信</vt:lpstr>
      <vt:lpstr>幻灯片 9</vt:lpstr>
      <vt:lpstr>幻灯片 10</vt:lpstr>
      <vt:lpstr>3.写信画圈儿</vt:lpstr>
      <vt:lpstr>4.不写之写</vt:lpstr>
      <vt:lpstr>幻灯片 13</vt:lpstr>
      <vt:lpstr>5.组字画</vt:lpstr>
      <vt:lpstr>幻灯片 15</vt:lpstr>
      <vt:lpstr>6.将几个字写成一圈</vt:lpstr>
      <vt:lpstr>音义变异</vt:lpstr>
      <vt:lpstr>1.音节变异</vt:lpstr>
      <vt:lpstr>2.年龄和称呼的变异</vt:lpstr>
      <vt:lpstr>幻灯片 20</vt:lpstr>
      <vt:lpstr>幻灯片 21</vt:lpstr>
      <vt:lpstr>3.用一个字代表几个数字</vt:lpstr>
      <vt:lpstr>三.断句变异</vt:lpstr>
      <vt:lpstr>幻灯片 24</vt:lpstr>
      <vt:lpstr>幻灯片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汉字的变异</dc:title>
  <cp:lastModifiedBy>lenovo</cp:lastModifiedBy>
  <cp:revision>29</cp:revision>
  <dcterms:modified xsi:type="dcterms:W3CDTF">2017-10-04T00:44:30Z</dcterms:modified>
</cp:coreProperties>
</file>
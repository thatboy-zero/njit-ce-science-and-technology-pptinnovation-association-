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60" r:id="rId4"/>
    <p:sldId id="261" r:id="rId5"/>
    <p:sldId id="262" r:id="rId6"/>
    <p:sldId id="263" r:id="rId7"/>
    <p:sldId id="264" r:id="rId8"/>
    <p:sldId id="266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65225" y="1487805"/>
            <a:ext cx="9144000" cy="1333500"/>
          </a:xfrm>
        </p:spPr>
        <p:txBody>
          <a:bodyPr/>
          <a:p>
            <a:r>
              <a:rPr lang="zh-CN" altLang="en-US"/>
              <a:t>《在这世界的角落》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65225" y="3559493"/>
            <a:ext cx="9144000" cy="1655762"/>
          </a:xfrm>
        </p:spPr>
        <p:txBody>
          <a:bodyPr/>
          <a:p>
            <a:r>
              <a:rPr lang="zh-CN" altLang="en-US"/>
              <a:t>制作人：陈一良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620260" cy="888365"/>
          </a:xfrm>
        </p:spPr>
        <p:txBody>
          <a:bodyPr/>
          <a:p>
            <a:r>
              <a:rPr lang="zh-CN" altLang="en-US" sz="3600"/>
              <a:t>介绍</a:t>
            </a:r>
            <a:endParaRPr lang="zh-CN" altLang="en-US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53490"/>
            <a:ext cx="5808980" cy="4493895"/>
          </a:xfrm>
        </p:spPr>
        <p:txBody>
          <a:bodyPr>
            <a:normAutofit/>
          </a:bodyPr>
          <a:p>
            <a:pPr>
              <a:buFont typeface="Wingdings" panose="05000000000000000000" charset="0"/>
              <a:buChar char=""/>
            </a:pPr>
            <a:r>
              <a:rPr lang="zh-CN" altLang="en-US"/>
              <a:t>《在这世界的角落》是片渊须直执导的动画电影，由能年玲奈等担任配音，于2016年11月12日在日本公映。</a:t>
            </a:r>
            <a:endParaRPr lang="zh-CN" altLang="en-US"/>
          </a:p>
          <a:p>
            <a:endParaRPr lang="zh-CN" altLang="en-US"/>
          </a:p>
          <a:p>
            <a:pPr>
              <a:buFont typeface="Wingdings" panose="05000000000000000000" charset="0"/>
              <a:buChar char=""/>
            </a:pPr>
            <a:r>
              <a:rPr lang="zh-CN" altLang="en-US"/>
              <a:t>该片改编自河野史代的同名漫画，以二战末期的广岛为舞台，讲述女主人公小铃嫁到住在海军军港“吴市”的婆家后，经历几次空袭拼命生存、积极面对生活的故事。</a:t>
            </a:r>
            <a:endParaRPr lang="zh-CN" altLang="en-US"/>
          </a:p>
        </p:txBody>
      </p:sp>
      <p:pic>
        <p:nvPicPr>
          <p:cNvPr id="6" name="图片 5" descr="faf2b2119313b07e1ca0e2be05d7912397dd8c6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8020" y="1270000"/>
            <a:ext cx="4389755" cy="43186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p>
            <a:r>
              <a:rPr lang="zh-CN" altLang="en-US" sz="3600">
                <a:sym typeface="+mn-ea"/>
              </a:rPr>
              <a:t>幕后花絮</a:t>
            </a:r>
            <a:endParaRPr lang="zh-CN" altLang="en-US" sz="360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p>
            <a:pPr>
              <a:buFont typeface="Wingdings" panose="05000000000000000000" charset="0"/>
              <a:buChar char=""/>
            </a:pPr>
            <a:r>
              <a:rPr lang="zh-CN" altLang="en-US" sz="2400"/>
              <a:t>由于经费不足、缺少主流媒体支持，该片的制作费用砍到只有原先的6成，宣传也主要依靠社交网络。</a:t>
            </a:r>
            <a:endParaRPr lang="zh-CN" altLang="en-US" sz="2400"/>
          </a:p>
          <a:p>
            <a:pPr marL="0" indent="0">
              <a:buFont typeface="Wingdings" panose="05000000000000000000" charset="0"/>
              <a:buNone/>
            </a:pPr>
            <a:endParaRPr lang="zh-CN" altLang="en-US" sz="2400"/>
          </a:p>
          <a:p>
            <a:pPr>
              <a:buFont typeface="Wingdings" panose="05000000000000000000" charset="0"/>
              <a:buChar char=""/>
            </a:pPr>
            <a:r>
              <a:rPr lang="zh-CN" altLang="en-US" sz="2400"/>
              <a:t>片渊须直凭该片获得第59届蓝丝带奖导演奖，这是该奖第一次颁给动画片导演。</a:t>
            </a:r>
            <a:endParaRPr lang="zh-CN" altLang="en-US" sz="2400"/>
          </a:p>
          <a:p>
            <a:pPr marL="0" indent="0">
              <a:buFont typeface="Wingdings" panose="05000000000000000000" charset="0"/>
              <a:buNone/>
            </a:pPr>
            <a:endParaRPr lang="zh-CN" altLang="en-US" sz="2400"/>
          </a:p>
          <a:p>
            <a:pPr>
              <a:buFont typeface="Wingdings" panose="05000000000000000000" charset="0"/>
              <a:buChar char=""/>
            </a:pPr>
            <a:r>
              <a:rPr lang="zh-CN" altLang="en-US" sz="2400"/>
              <a:t>该片是继1988年《龙猫》之后，第二部名列日本旬报十佳之首的动画片。</a:t>
            </a:r>
            <a:endParaRPr lang="zh-CN" altLang="en-US" sz="2400"/>
          </a:p>
          <a:p>
            <a:pPr marL="0" indent="0">
              <a:buFont typeface="Wingdings" panose="05000000000000000000" charset="0"/>
              <a:buNone/>
            </a:pPr>
            <a:endParaRPr lang="zh-CN" altLang="en-US" sz="2400"/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400"/>
              <a:t>（日本旬报奖可谓很有权威、最具公众参与度的电影奖。去年为众人所熟知的《你的名字》没有进入前十）</a:t>
            </a:r>
            <a:endParaRPr lang="zh-CN" alt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/>
              <a:t>幕后制作</a:t>
            </a:r>
            <a:endParaRPr lang="zh-CN" altLang="en-US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8630" y="1577340"/>
            <a:ext cx="5177790" cy="4698365"/>
          </a:xfrm>
        </p:spPr>
        <p:txBody>
          <a:bodyPr/>
          <a:p>
            <a:pPr marL="0" indent="0">
              <a:lnSpc>
                <a:spcPct val="100000"/>
              </a:lnSpc>
              <a:buNone/>
            </a:pPr>
            <a:r>
              <a:rPr lang="en-US" altLang="zh-CN"/>
              <a:t>        </a:t>
            </a:r>
            <a:r>
              <a:rPr lang="zh-CN" altLang="en-US"/>
              <a:t>从2012年起，导演片渊须直就开始为该片进行筹划和准备工作。为了保证影片的真实感，他专门到广岛考察，花了大量时间研究历史细节。</a:t>
            </a:r>
            <a:endParaRPr lang="zh-CN" altLang="en-US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/>
              <a:t>         上映背景十分惨淡。由于经费不足、宣传费用不足等资金问题，制作方先后进行众筹。后来甚是将原片</a:t>
            </a:r>
            <a:r>
              <a:rPr lang="en-US" altLang="zh-CN"/>
              <a:t>150min</a:t>
            </a:r>
            <a:r>
              <a:rPr lang="zh-CN" altLang="en-US"/>
              <a:t>的计划砍去</a:t>
            </a:r>
            <a:r>
              <a:rPr lang="en-US" altLang="zh-CN"/>
              <a:t>30min</a:t>
            </a:r>
            <a:r>
              <a:rPr lang="zh-CN" altLang="en-US"/>
              <a:t>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 descr="12052359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285" y="1577340"/>
            <a:ext cx="3660775" cy="46170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48920"/>
            <a:ext cx="10515600" cy="1325563"/>
          </a:xfrm>
          <a:noFill/>
        </p:spPr>
        <p:txBody>
          <a:bodyPr/>
          <a:p>
            <a:r>
              <a:rPr lang="zh-CN" altLang="en-US" sz="3600"/>
              <a:t>影片评价</a:t>
            </a:r>
            <a:endParaRPr lang="zh-CN" altLang="en-US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91285"/>
            <a:ext cx="6017895" cy="5036185"/>
          </a:xfrm>
        </p:spPr>
        <p:txBody>
          <a:bodyPr>
            <a:normAutofit fontScale="90000" lnSpcReduction="10000"/>
          </a:bodyPr>
          <a:p>
            <a:pPr>
              <a:buFont typeface="Wingdings" panose="05000000000000000000" charset="0"/>
              <a:buChar char=""/>
            </a:pPr>
            <a:r>
              <a:rPr lang="zh-CN" altLang="en-US"/>
              <a:t>正面评价</a:t>
            </a:r>
            <a:r>
              <a:rPr lang="en-US" altLang="zh-CN"/>
              <a:t> </a:t>
            </a:r>
            <a:endParaRPr lang="en-US" altLang="zh-CN"/>
          </a:p>
          <a:p>
            <a:pPr marL="144145" indent="0" fontAlgn="auto">
              <a:lnSpc>
                <a:spcPct val="110000"/>
              </a:lnSpc>
              <a:buNone/>
            </a:pPr>
            <a:r>
              <a:rPr lang="zh-CN" altLang="en-US"/>
              <a:t>       </a:t>
            </a:r>
            <a:r>
              <a:rPr lang="zh-CN" altLang="en-US" sz="2400">
                <a:solidFill>
                  <a:schemeClr val="tx1"/>
                </a:solidFill>
                <a:uFillTx/>
              </a:rPr>
              <a:t>该片最初虽小规模公映，却收获了包括影评人在内的一致好评，通过SNS的口碑传播而广为人知。虽然动画的故事背景是战争时期，但片中并没有任何血腥镜头，而是着眼于那个时代平常人柴米油盐的朴素生活细节，是一个让人在贫穷生活中感受到生命丰饶、在残酷命运中感受到温暖人性的故事。</a:t>
            </a:r>
            <a:endParaRPr lang="zh-CN" altLang="en-US" sz="2400">
              <a:solidFill>
                <a:schemeClr val="tx1"/>
              </a:solidFill>
              <a:uFillTx/>
            </a:endParaRPr>
          </a:p>
          <a:p>
            <a:pPr>
              <a:buFont typeface="Wingdings" panose="05000000000000000000" charset="0"/>
              <a:buChar char=""/>
            </a:pPr>
            <a:r>
              <a:rPr lang="zh-CN" altLang="en-US" sz="2400">
                <a:sym typeface="+mn-ea"/>
              </a:rPr>
              <a:t>反面评价</a:t>
            </a:r>
            <a:endParaRPr lang="zh-CN" altLang="en-US" sz="2400"/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400">
                <a:sym typeface="+mn-ea"/>
              </a:rPr>
              <a:t>         该片秉承了日本传统的关于战争的思想，迎合了日本的政策，所谓“反战”可以说是“反对战败”并不是反对战争。影片中女主坚持战争胜利，至战败投降，内心愤怒不甘。</a:t>
            </a:r>
            <a:endParaRPr lang="zh-CN" altLang="en-US"/>
          </a:p>
        </p:txBody>
      </p:sp>
      <p:pic>
        <p:nvPicPr>
          <p:cNvPr id="4" name="图片 3" descr="8H[9G2_7L2IV8{4IHGP3Y5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6095" y="1724660"/>
            <a:ext cx="5097780" cy="44951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p>
            <a:r>
              <a:rPr lang="zh-CN" altLang="en-US" sz="3600"/>
              <a:t>个人看法</a:t>
            </a:r>
            <a:endParaRPr lang="zh-CN" altLang="en-US" sz="3600"/>
          </a:p>
        </p:txBody>
      </p:sp>
      <p:sp>
        <p:nvSpPr>
          <p:cNvPr id="5" name="内容占位符 4"/>
          <p:cNvSpPr/>
          <p:nvPr>
            <p:ph idx="1"/>
          </p:nvPr>
        </p:nvSpPr>
        <p:spPr>
          <a:xfrm>
            <a:off x="838200" y="1507490"/>
            <a:ext cx="10515600" cy="4669790"/>
          </a:xfrm>
        </p:spPr>
        <p:txBody>
          <a:bodyPr>
            <a:normAutofit lnSpcReduction="20000"/>
          </a:bodyPr>
          <a:p>
            <a:pPr marL="0" indent="0">
              <a:lnSpc>
                <a:spcPct val="100000"/>
              </a:lnSpc>
              <a:buNone/>
            </a:pPr>
            <a:r>
              <a:rPr lang="en-US" altLang="zh-CN" sz="2400"/>
              <a:t>       </a:t>
            </a:r>
            <a:r>
              <a:rPr lang="zh-CN" altLang="en-US" sz="2400"/>
              <a:t>有人认为</a:t>
            </a:r>
            <a:r>
              <a:rPr lang="zh-CN" altLang="en-US" sz="2400">
                <a:sym typeface="+mn-ea"/>
              </a:rPr>
              <a:t>《在这世界的角落》</a:t>
            </a:r>
            <a:r>
              <a:rPr lang="zh-CN" altLang="en-US" sz="2400"/>
              <a:t>积极乐观有温暖人性，有人则认为其漠视战争的原罪强加日本自身的受害观念。</a:t>
            </a:r>
            <a:endParaRPr lang="zh-CN" altLang="en-US" sz="240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/>
              <a:t>        梦里诗书说：</a:t>
            </a:r>
            <a:r>
              <a:rPr lang="en-US" altLang="zh-CN" sz="2400"/>
              <a:t>“如果《在这世界的角落》不是一部日本动画电影，那么无疑这是一部极为出色，妙用平淡普通的生活来着点反战这一深刻命题的佳作，但一切因为电影对日本二战背景的无视而变的迥然不同，那无知的视角何以能粉饰战争的原罪。”</a:t>
            </a:r>
            <a:endParaRPr lang="en-US" altLang="zh-CN" sz="240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/>
              <a:t>         我跟他的看法截然相反。二战定是一个历史的灾难，但灾难并不只是中国人的灾难。日本的百姓并不掌权，政治怎么能和百姓划上等号。就如影片中的小玲，如此平凡普通的一个人，在战争中所受的伤害，正是对战争危害的映射，难道在这样的灾难面前，我们却要说因为她是日本人，那就不叫灾难了吗。</a:t>
            </a:r>
            <a:endParaRPr lang="zh-CN" altLang="en-US" sz="240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/>
              <a:t>         抛开对战争灾难的非议，抛开国籍，从</a:t>
            </a:r>
            <a:r>
              <a:rPr lang="en-US" altLang="zh-CN" sz="2400"/>
              <a:t>“</a:t>
            </a:r>
            <a:r>
              <a:rPr lang="zh-CN" altLang="en-US" sz="2400"/>
              <a:t>战争危害</a:t>
            </a:r>
            <a:r>
              <a:rPr lang="en-US" altLang="zh-CN" sz="2400"/>
              <a:t>”</a:t>
            </a:r>
            <a:r>
              <a:rPr lang="zh-CN" altLang="en-US" sz="2400"/>
              <a:t>与乐观的角度</a:t>
            </a:r>
            <a:r>
              <a:rPr lang="zh-CN" altLang="en-US" sz="2400"/>
              <a:t>来看，此片值得一看。</a:t>
            </a:r>
            <a:endParaRPr lang="zh-CN" alt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295" y="1398270"/>
            <a:ext cx="10515600" cy="1325563"/>
          </a:xfrm>
          <a:noFill/>
        </p:spPr>
        <p:txBody>
          <a:bodyPr/>
          <a:p>
            <a:pPr algn="ctr"/>
            <a:r>
              <a:rPr lang="zh-CN" altLang="en-US" sz="6000"/>
              <a:t>谢谢观赏！</a:t>
            </a:r>
            <a:endParaRPr lang="zh-CN" altLang="en-US"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1063</Words>
  <Application>WPS 演示</Application>
  <PresentationFormat>宽屏</PresentationFormat>
  <Paragraphs>42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Calibri Light</vt:lpstr>
      <vt:lpstr>Calibri</vt:lpstr>
      <vt:lpstr>Microsoft YaHei</vt:lpstr>
      <vt:lpstr>Arial Unicode MS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幕后制作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kolus</dc:creator>
  <cp:lastModifiedBy>kolus</cp:lastModifiedBy>
  <cp:revision>1</cp:revision>
  <dcterms:created xsi:type="dcterms:W3CDTF">2017-10-04T04:52:16Z</dcterms:created>
  <dcterms:modified xsi:type="dcterms:W3CDTF">2017-10-04T07:34:38Z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2052-10.1.0.6876</vt:lpwstr>
  </property>
</Properties>
</file>
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61" r:id="rId7"/>
    <p:sldId id="264" r:id="rId8"/>
    <p:sldId id="267" r:id="rId9"/>
    <p:sldId id="268" r:id="rId10"/>
    <p:sldId id="269" r:id="rId11"/>
    <p:sldId id="270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85" autoAdjust="0"/>
    <p:restoredTop sz="94660"/>
  </p:normalViewPr>
  <p:slideViewPr>
    <p:cSldViewPr snapToGrid="0">
      <p:cViewPr varScale="1">
        <p:scale>
          <a:sx n="81" d="100"/>
          <a:sy n="81" d="100"/>
        </p:scale>
        <p:origin x="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A6E6D-2BCD-426B-B70D-650C3B9AE2B7}" type="datetimeFigureOut">
              <a:rPr lang="zh-CN" altLang="en-US" smtClean="0"/>
              <a:t>2017/10/3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81E86-AC87-47B7-B294-FFC2F9B1A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409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A6E6D-2BCD-426B-B70D-650C3B9AE2B7}" type="datetimeFigureOut">
              <a:rPr lang="zh-CN" altLang="en-US" smtClean="0"/>
              <a:t>2017/10/3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81E86-AC87-47B7-B294-FFC2F9B1A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24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A6E6D-2BCD-426B-B70D-650C3B9AE2B7}" type="datetimeFigureOut">
              <a:rPr lang="zh-CN" altLang="en-US" smtClean="0"/>
              <a:t>2017/10/3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81E86-AC87-47B7-B294-FFC2F9B1A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552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259746" y="3740751"/>
            <a:ext cx="334739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9585"/>
            <a:r>
              <a:rPr kumimoji="1" lang="zh-CN" altLang="en-US" sz="1333" dirty="0">
                <a:solidFill>
                  <a:prstClr val="black">
                    <a:lumMod val="75000"/>
                    <a:lumOff val="25000"/>
                  </a:prstClr>
                </a:solidFill>
              </a:rPr>
              <a:t>点击</a:t>
            </a:r>
            <a:r>
              <a:rPr kumimoji="1" lang="en-US" altLang="zh-CN" sz="1333" dirty="0">
                <a:solidFill>
                  <a:prstClr val="black">
                    <a:lumMod val="75000"/>
                    <a:lumOff val="25000"/>
                  </a:prstClr>
                </a:solidFill>
              </a:rPr>
              <a:t>Logo</a:t>
            </a:r>
            <a:r>
              <a:rPr kumimoji="1" lang="zh-CN" altLang="en-US" sz="1333" dirty="0">
                <a:solidFill>
                  <a:prstClr val="black">
                    <a:lumMod val="75000"/>
                    <a:lumOff val="25000"/>
                  </a:prstClr>
                </a:solidFill>
              </a:rPr>
              <a:t>获取更多优质模板（放映模式）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441" y="2657355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1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A6E6D-2BCD-426B-B70D-650C3B9AE2B7}" type="datetimeFigureOut">
              <a:rPr lang="zh-CN" altLang="en-US" smtClean="0"/>
              <a:t>2017/10/3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81E86-AC87-47B7-B294-FFC2F9B1A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34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AE%A2%E5%AE%B6%E8%8F%9C" TargetMode="External"/><Relationship Id="rId3" Type="http://schemas.openxmlformats.org/officeDocument/2006/relationships/hyperlink" Target="https://baike.baidu.com/item/%E5%B9%BF%E4%B8%9C%E8%8F%9C" TargetMode="External"/><Relationship Id="rId7" Type="http://schemas.openxmlformats.org/officeDocument/2006/relationships/hyperlink" Target="https://baike.baidu.com/item/%E4%B8%9C%E6%B1%9F%E8%8F%9C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5%B9%BF%E5%BA%9C%E8%8F%9C" TargetMode="External"/><Relationship Id="rId11" Type="http://schemas.openxmlformats.org/officeDocument/2006/relationships/hyperlink" Target="https://baike.baidu.com/item/%E6%B3%95%E5%9B%BD%E5%A4%A7%E9%A4%90/13987614" TargetMode="External"/><Relationship Id="rId5" Type="http://schemas.openxmlformats.org/officeDocument/2006/relationships/hyperlink" Target="https://baike.baidu.com/item/%E5%B9%BF%E5%B7%9E%E8%8F%9C" TargetMode="External"/><Relationship Id="rId10" Type="http://schemas.openxmlformats.org/officeDocument/2006/relationships/hyperlink" Target="https://baike.baidu.com/item/%E6%BD%AE%E6%B1%95%E8%8F%9C" TargetMode="External"/><Relationship Id="rId4" Type="http://schemas.openxmlformats.org/officeDocument/2006/relationships/hyperlink" Target="https://baike.baidu.com/item/%E5%B2%AD%E5%8D%97/4179053" TargetMode="External"/><Relationship Id="rId9" Type="http://schemas.openxmlformats.org/officeDocument/2006/relationships/hyperlink" Target="https://baike.baidu.com/item/%E6%BD%AE%E5%B7%9E%E8%8F%9C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7%89%9B%E8%82%89" TargetMode="External"/><Relationship Id="rId3" Type="http://schemas.openxmlformats.org/officeDocument/2006/relationships/hyperlink" Target="https://baike.baidu.com/item/%E7%96%8D%E6%B0%91" TargetMode="External"/><Relationship Id="rId7" Type="http://schemas.openxmlformats.org/officeDocument/2006/relationships/hyperlink" Target="https://baike.baidu.com/item/%E6%B5%B7%E8%9C%87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6%B5%AE%E7%9A%AE" TargetMode="External"/><Relationship Id="rId5" Type="http://schemas.openxmlformats.org/officeDocument/2006/relationships/hyperlink" Target="https://baike.baidu.com/item/%E6%B2%B9%E6%9D%A1" TargetMode="External"/><Relationship Id="rId4" Type="http://schemas.openxmlformats.org/officeDocument/2006/relationships/hyperlink" Target="https://baike.baidu.com/item/%E9%B1%BC%E8%82%89" TargetMode="External"/><Relationship Id="rId9" Type="http://schemas.openxmlformats.org/officeDocument/2006/relationships/hyperlink" Target="https://baike.baidu.com/item/%E9%B1%BF%E9%B1%BC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8%8C%B6%E6%A5%BC" TargetMode="External"/><Relationship Id="rId3" Type="http://schemas.openxmlformats.org/officeDocument/2006/relationships/hyperlink" Target="https://baike.baidu.com/item/%E5%B9%BF%E4%B8%9C" TargetMode="External"/><Relationship Id="rId7" Type="http://schemas.openxmlformats.org/officeDocument/2006/relationships/hyperlink" Target="https://baike.baidu.com/item/%E7%B2%9F%E7%B2%89" TargetMode="External"/><Relationship Id="rId12" Type="http://schemas.openxmlformats.org/officeDocument/2006/relationships/hyperlink" Target="https://baike.baidu.com/item/%E8%82%A0%E7%B2%89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6%BE%84%E9%9D%A2" TargetMode="External"/><Relationship Id="rId11" Type="http://schemas.openxmlformats.org/officeDocument/2006/relationships/hyperlink" Target="https://baike.baidu.com/item/%E7%8C%AA%E8%82%A0%E7%B2%89" TargetMode="External"/><Relationship Id="rId5" Type="http://schemas.openxmlformats.org/officeDocument/2006/relationships/hyperlink" Target="https://baike.baidu.com/item/%E6%8A%BD%E5%B1%89%E5%BC%8F%E8%82%A0%E7%B2%89" TargetMode="External"/><Relationship Id="rId10" Type="http://schemas.openxmlformats.org/officeDocument/2006/relationships/hyperlink" Target="https://baike.baidu.com/item/%E8%92%B8%E8%82%A0%E7%B2%89" TargetMode="External"/><Relationship Id="rId4" Type="http://schemas.openxmlformats.org/officeDocument/2006/relationships/hyperlink" Target="https://baike.baidu.com/item/%E5%B8%83%E6%8B%89%E8%82%A0%E7%B2%89" TargetMode="External"/><Relationship Id="rId9" Type="http://schemas.openxmlformats.org/officeDocument/2006/relationships/hyperlink" Target="https://baike.baidu.com/item/%E5%A4%9C%E5%B8%82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6%A2%85%E5%B7%9E" TargetMode="External"/><Relationship Id="rId13" Type="http://schemas.openxmlformats.org/officeDocument/2006/relationships/hyperlink" Target="https://baike.baidu.com/item/%E8%8B%97%E6%A0%97%E5%8E%BF" TargetMode="External"/><Relationship Id="rId18" Type="http://schemas.openxmlformats.org/officeDocument/2006/relationships/hyperlink" Target="https://baike.baidu.com/item/%E9%85%BF%E8%8B%A6%E7%93%9C" TargetMode="External"/><Relationship Id="rId26" Type="http://schemas.openxmlformats.org/officeDocument/2006/relationships/hyperlink" Target="https://baike.baidu.com/item/%E8%8A%8B%E5%AD%90%E5%8C%85" TargetMode="External"/><Relationship Id="rId3" Type="http://schemas.openxmlformats.org/officeDocument/2006/relationships/image" Target="../media/image8.jpg"/><Relationship Id="rId21" Type="http://schemas.openxmlformats.org/officeDocument/2006/relationships/hyperlink" Target="https://baike.baidu.com/item/%E6%B1%80%E5%B7%9E" TargetMode="External"/><Relationship Id="rId7" Type="http://schemas.openxmlformats.org/officeDocument/2006/relationships/hyperlink" Target="https://baike.baidu.com/item/%E6%B2%B3%E6%BA%90" TargetMode="External"/><Relationship Id="rId12" Type="http://schemas.openxmlformats.org/officeDocument/2006/relationships/hyperlink" Target="https://baike.baidu.com/item/%E6%96%B0%E7%AB%B9%E5%8E%BF" TargetMode="External"/><Relationship Id="rId17" Type="http://schemas.openxmlformats.org/officeDocument/2006/relationships/hyperlink" Target="https://baike.baidu.com/item/%E7%8C%AA%E8%82%9A%E5%8C%85%E9%B8%A1" TargetMode="External"/><Relationship Id="rId25" Type="http://schemas.openxmlformats.org/officeDocument/2006/relationships/hyperlink" Target="https://baike.baidu.com/item/%E5%9B%9B%E6%98%9F%E6%9C%9B%E6%9C%88" TargetMode="External"/><Relationship Id="rId33" Type="http://schemas.openxmlformats.org/officeDocument/2006/relationships/hyperlink" Target="https://baike.baidu.com/item/%E5%AE%A2%E5%AE%B6%E8%8F%9C" TargetMode="External"/><Relationship Id="rId2" Type="http://schemas.openxmlformats.org/officeDocument/2006/relationships/image" Target="../media/image7.jpeg"/><Relationship Id="rId16" Type="http://schemas.openxmlformats.org/officeDocument/2006/relationships/hyperlink" Target="https://baike.baidu.com/item/%E5%AE%A2%E5%AE%B6%E9%85%BF%E8%B1%86%E8%85%90" TargetMode="External"/><Relationship Id="rId20" Type="http://schemas.openxmlformats.org/officeDocument/2006/relationships/hyperlink" Target="https://baike.baidu.com/item/%E5%85%9C%E6%B1%A4" TargetMode="External"/><Relationship Id="rId29" Type="http://schemas.openxmlformats.org/officeDocument/2006/relationships/hyperlink" Target="https://baike.baidu.com/item/%E7%B2%A4%E8%8F%9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5%B7%9E" TargetMode="External"/><Relationship Id="rId11" Type="http://schemas.openxmlformats.org/officeDocument/2006/relationships/hyperlink" Target="https://baike.baidu.com/item/%E7%8E%89%E6%9E%97" TargetMode="External"/><Relationship Id="rId24" Type="http://schemas.openxmlformats.org/officeDocument/2006/relationships/hyperlink" Target="https://baike.baidu.com/item/%E7%9B%86%E8%8F%9C" TargetMode="External"/><Relationship Id="rId32" Type="http://schemas.openxmlformats.org/officeDocument/2006/relationships/image" Target="../media/image3.jpg"/><Relationship Id="rId5" Type="http://schemas.openxmlformats.org/officeDocument/2006/relationships/hyperlink" Target="https://baike.baidu.com/item/%E6%83%A0" TargetMode="External"/><Relationship Id="rId15" Type="http://schemas.openxmlformats.org/officeDocument/2006/relationships/hyperlink" Target="https://baike.baidu.com/item/%E7%9B%90%E7%84%97%E9%B8%A1" TargetMode="External"/><Relationship Id="rId23" Type="http://schemas.openxmlformats.org/officeDocument/2006/relationships/hyperlink" Target="https://baike.baidu.com/item/%E9%BA%92%E9%BA%9F%E8%84%B1%E8%83%8E" TargetMode="External"/><Relationship Id="rId28" Type="http://schemas.openxmlformats.org/officeDocument/2006/relationships/hyperlink" Target="https://baike.baidu.com/item/%E4%B8%89%E6%9D%AF%E9%B8%AD" TargetMode="External"/><Relationship Id="rId10" Type="http://schemas.openxmlformats.org/officeDocument/2006/relationships/hyperlink" Target="https://baike.baidu.com/item/%E8%B4%BA%E5%B7%9E" TargetMode="External"/><Relationship Id="rId19" Type="http://schemas.openxmlformats.org/officeDocument/2006/relationships/hyperlink" Target="https://baike.baidu.com/item/%E7%99%BD%E6%96%A9%E6%B2%B3%E7%94%B0%E9%B8%A1" TargetMode="External"/><Relationship Id="rId31" Type="http://schemas.openxmlformats.org/officeDocument/2006/relationships/hyperlink" Target="https://baike.baidu.com/item/%E7%8B%AC%E6%A0%91%E4%B8%80%E5%B8%9C" TargetMode="External"/><Relationship Id="rId4" Type="http://schemas.openxmlformats.org/officeDocument/2006/relationships/hyperlink" Target="https://baike.baidu.com/item/%E4%B8%AD%E5%9B%BD/1122445" TargetMode="External"/><Relationship Id="rId9" Type="http://schemas.openxmlformats.org/officeDocument/2006/relationships/hyperlink" Target="https://baike.baidu.com/item/%E8%B5%A3%E5%B7%9E" TargetMode="External"/><Relationship Id="rId14" Type="http://schemas.openxmlformats.org/officeDocument/2006/relationships/hyperlink" Target="https://baike.baidu.com/item/%E6%A2%85%E8%8F%9C%E6%89%A3%E8%82%89" TargetMode="External"/><Relationship Id="rId22" Type="http://schemas.openxmlformats.org/officeDocument/2006/relationships/hyperlink" Target="https://baike.baidu.com/item/%E4%BB%99%E4%BA%BA%E5%86%BB" TargetMode="External"/><Relationship Id="rId27" Type="http://schemas.openxmlformats.org/officeDocument/2006/relationships/hyperlink" Target="https://baike.baidu.com/item/%E8%8A%8B%E5%AD%90%E9%A5%BA" TargetMode="External"/><Relationship Id="rId30" Type="http://schemas.openxmlformats.org/officeDocument/2006/relationships/hyperlink" Target="https://baike.baidu.com/item/%E9%97%BD%E8%8F%9C%E7%B3%BB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BD%AE%E8%8F%9C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6%B1%95%E5%B0%BE%E8%8F%9C" TargetMode="External"/><Relationship Id="rId5" Type="http://schemas.openxmlformats.org/officeDocument/2006/relationships/hyperlink" Target="https://baike.baidu.com/item/%E6%BD%AE%E6%B1%95%E5%9C%B0%E5%8C%BA" TargetMode="External"/><Relationship Id="rId4" Type="http://schemas.openxmlformats.org/officeDocument/2006/relationships/hyperlink" Target="https://baike.baidu.com/item/%E6%89%93%E5%86%B7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7%A0%82%E9%94%85" TargetMode="External"/><Relationship Id="rId3" Type="http://schemas.openxmlformats.org/officeDocument/2006/relationships/hyperlink" Target="https://baike.baidu.com/item/%E6%BD%AE%E5%B7%9E/199502" TargetMode="External"/><Relationship Id="rId7" Type="http://schemas.openxmlformats.org/officeDocument/2006/relationships/hyperlink" Target="https://baike.baidu.com/item/%E6%BD%AE%E5%B7%9E%E8%8F%9C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6%B5%B7%E9%B2%9C/1318" TargetMode="External"/><Relationship Id="rId5" Type="http://schemas.openxmlformats.org/officeDocument/2006/relationships/hyperlink" Target="https://baike.baidu.com/item/%E7%B2%A4%E8%8F%9C" TargetMode="External"/><Relationship Id="rId4" Type="http://schemas.openxmlformats.org/officeDocument/2006/relationships/hyperlink" Target="https://baike.baidu.com/item/%E7%A0%82%E9%94%85%E7%B2%A5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99%BD%E8%82%89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aike.baidu.com/item/%E7%89%9B%E8%82%89%E4%B8%B8" TargetMode="External"/><Relationship Id="rId4" Type="http://schemas.openxmlformats.org/officeDocument/2006/relationships/hyperlink" Target="https://baike.baidu.com/item/%E6%89%8B%E6%8A%93%E8%82%89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平行四边形 4"/>
          <p:cNvSpPr/>
          <p:nvPr/>
        </p:nvSpPr>
        <p:spPr>
          <a:xfrm>
            <a:off x="4991101" y="-1095255"/>
            <a:ext cx="8667750" cy="7953255"/>
          </a:xfrm>
          <a:prstGeom prst="parallelogram">
            <a:avLst>
              <a:gd name="adj" fmla="val 47754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526" y="1964089"/>
            <a:ext cx="6843486" cy="4582625"/>
          </a:xfrm>
          <a:prstGeom prst="ellipse">
            <a:avLst/>
          </a:prstGeom>
        </p:spPr>
      </p:pic>
      <p:sp>
        <p:nvSpPr>
          <p:cNvPr id="6" name="平行四边形 5"/>
          <p:cNvSpPr/>
          <p:nvPr/>
        </p:nvSpPr>
        <p:spPr>
          <a:xfrm>
            <a:off x="-1016910" y="-14511"/>
            <a:ext cx="5645300" cy="6858000"/>
          </a:xfrm>
          <a:prstGeom prst="parallelogram">
            <a:avLst>
              <a:gd name="adj" fmla="val 63614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120630" y="945594"/>
            <a:ext cx="7311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2">
                    <a:lumMod val="75000"/>
                  </a:schemeClr>
                </a:solidFill>
              </a:rPr>
              <a:t>中国特色美食之广东篇</a:t>
            </a:r>
            <a:endParaRPr lang="en-US" altLang="zh-CN" sz="5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9C8C42-E7C9-418F-8397-47A7CE09BBD2}"/>
              </a:ext>
            </a:extLst>
          </p:cNvPr>
          <p:cNvSpPr txBox="1"/>
          <p:nvPr/>
        </p:nvSpPr>
        <p:spPr>
          <a:xfrm>
            <a:off x="9212094" y="5009745"/>
            <a:ext cx="2723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计算机</a:t>
            </a:r>
            <a:r>
              <a:rPr lang="en-US" altLang="zh-CN" dirty="0"/>
              <a:t>171</a:t>
            </a:r>
          </a:p>
          <a:p>
            <a:r>
              <a:rPr lang="zh-CN" altLang="en-US" dirty="0"/>
              <a:t>陈威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6611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052" y="-71840"/>
            <a:ext cx="9579428" cy="6915150"/>
          </a:xfrm>
          <a:prstGeom prst="rect">
            <a:avLst/>
          </a:prstGeom>
        </p:spPr>
      </p:pic>
      <p:sp>
        <p:nvSpPr>
          <p:cNvPr id="5" name="等腰三角形 4"/>
          <p:cNvSpPr/>
          <p:nvPr/>
        </p:nvSpPr>
        <p:spPr>
          <a:xfrm rot="5400000">
            <a:off x="1590675" y="-1666875"/>
            <a:ext cx="6457950" cy="9677400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9914761">
            <a:off x="2153324" y="-949804"/>
            <a:ext cx="4533900" cy="910264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732296" y="2125133"/>
            <a:ext cx="4144504" cy="692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1400" dirty="0">
                <a:latin typeface="微软雅黑"/>
              </a:rPr>
              <a:t>。</a:t>
            </a:r>
            <a:endParaRPr lang="en-US" altLang="zh-CN" sz="1400" kern="0" dirty="0"/>
          </a:p>
          <a:p>
            <a:pPr lvl="0">
              <a:lnSpc>
                <a:spcPct val="130000"/>
              </a:lnSpc>
            </a:pPr>
            <a:endParaRPr lang="en-US" altLang="zh-CN" sz="1600" kern="0" dirty="0"/>
          </a:p>
        </p:txBody>
      </p:sp>
      <p:sp>
        <p:nvSpPr>
          <p:cNvPr id="8" name="矩形 7"/>
          <p:cNvSpPr/>
          <p:nvPr/>
        </p:nvSpPr>
        <p:spPr>
          <a:xfrm>
            <a:off x="808494" y="2903307"/>
            <a:ext cx="1869302" cy="4824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(2)</a:t>
            </a:r>
            <a:r>
              <a:rPr lang="zh-CN" altLang="en-US" dirty="0"/>
              <a:t>客家菜介绍</a:t>
            </a:r>
            <a:endParaRPr lang="en-US" altLang="zh-CN" dirty="0"/>
          </a:p>
        </p:txBody>
      </p:sp>
      <p:sp>
        <p:nvSpPr>
          <p:cNvPr id="9" name="矩形 8"/>
          <p:cNvSpPr/>
          <p:nvPr/>
        </p:nvSpPr>
        <p:spPr>
          <a:xfrm>
            <a:off x="808494" y="2197553"/>
            <a:ext cx="1820404" cy="4824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(1)</a:t>
            </a:r>
            <a:r>
              <a:rPr lang="zh-CN" altLang="en-US" dirty="0"/>
              <a:t>粤菜介绍</a:t>
            </a:r>
            <a:endParaRPr lang="en-US" altLang="zh-CN" dirty="0"/>
          </a:p>
        </p:txBody>
      </p:sp>
      <p:sp>
        <p:nvSpPr>
          <p:cNvPr id="10" name="矩形 9"/>
          <p:cNvSpPr/>
          <p:nvPr/>
        </p:nvSpPr>
        <p:spPr>
          <a:xfrm>
            <a:off x="808494" y="3601519"/>
            <a:ext cx="1780669" cy="4824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(3)</a:t>
            </a:r>
            <a:r>
              <a:rPr lang="zh-CN" altLang="en-US" dirty="0"/>
              <a:t>潮州菜介绍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630967" y="855649"/>
            <a:ext cx="56304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/>
              <a:t>目录</a:t>
            </a:r>
            <a:endParaRPr lang="en-US" altLang="zh-CN" sz="6600" b="1" dirty="0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-323850" y="5524499"/>
            <a:ext cx="1044775" cy="7429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3962400" y="-120703"/>
            <a:ext cx="5278514" cy="35495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3673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46293"/>
            <a:ext cx="7060217" cy="4700029"/>
          </a:xfrm>
          <a:prstGeom prst="rect">
            <a:avLst/>
          </a:prstGeom>
        </p:spPr>
      </p:pic>
      <p:sp>
        <p:nvSpPr>
          <p:cNvPr id="5" name="平行四边形 4"/>
          <p:cNvSpPr/>
          <p:nvPr/>
        </p:nvSpPr>
        <p:spPr>
          <a:xfrm>
            <a:off x="6858000" y="-1"/>
            <a:ext cx="4514850" cy="6858001"/>
          </a:xfrm>
          <a:prstGeom prst="parallelogram">
            <a:avLst>
              <a:gd name="adj" fmla="val 65084"/>
            </a:avLst>
          </a:prstGeom>
          <a:solidFill>
            <a:schemeClr val="accent1"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0782300" y="895350"/>
            <a:ext cx="2933700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10515600" y="4610100"/>
            <a:ext cx="1401657" cy="32766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155712" y="656843"/>
            <a:ext cx="3626588" cy="7342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/>
              <a:t> </a:t>
            </a:r>
            <a:r>
              <a:rPr lang="zh-CN" altLang="en-US" sz="2400" dirty="0"/>
              <a:t>广东特色美食之一：粤菜</a:t>
            </a:r>
            <a:endParaRPr lang="zh-CN" altLang="en-US" sz="2400" b="1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7043173" y="1685543"/>
            <a:ext cx="4144504" cy="2305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/>
              <a:t>粤菜即</a:t>
            </a:r>
            <a:r>
              <a:rPr lang="zh-CN" altLang="en-US" sz="1600" dirty="0">
                <a:hlinkClick r:id="rId3"/>
              </a:rPr>
              <a:t>广东菜</a:t>
            </a:r>
            <a:r>
              <a:rPr lang="zh-CN" altLang="en-US" sz="1600" dirty="0"/>
              <a:t>，是中国传统四大菜系、八大菜系之一，发源于</a:t>
            </a:r>
            <a:r>
              <a:rPr lang="zh-CN" altLang="en-US" sz="1600" dirty="0">
                <a:hlinkClick r:id="rId4"/>
              </a:rPr>
              <a:t>岭南</a:t>
            </a:r>
            <a:r>
              <a:rPr lang="zh-CN" altLang="en-US" sz="1600" dirty="0"/>
              <a:t>。粤菜由</a:t>
            </a:r>
            <a:r>
              <a:rPr lang="zh-CN" altLang="en-US" sz="1600" dirty="0">
                <a:hlinkClick r:id="rId5"/>
              </a:rPr>
              <a:t>广州菜</a:t>
            </a:r>
            <a:r>
              <a:rPr lang="zh-CN" altLang="en-US" sz="1600" dirty="0"/>
              <a:t>（也称</a:t>
            </a:r>
            <a:r>
              <a:rPr lang="zh-CN" altLang="en-US" sz="1600" dirty="0">
                <a:hlinkClick r:id="rId6"/>
              </a:rPr>
              <a:t>广府菜</a:t>
            </a:r>
            <a:r>
              <a:rPr lang="zh-CN" altLang="en-US" sz="1600" dirty="0"/>
              <a:t>）、</a:t>
            </a:r>
            <a:r>
              <a:rPr lang="zh-CN" altLang="en-US" sz="1600" dirty="0">
                <a:hlinkClick r:id="rId7"/>
              </a:rPr>
              <a:t>东江菜</a:t>
            </a:r>
            <a:r>
              <a:rPr lang="zh-CN" altLang="en-US" sz="1600" dirty="0"/>
              <a:t>（也称</a:t>
            </a:r>
            <a:r>
              <a:rPr lang="zh-CN" altLang="en-US" sz="1600" dirty="0">
                <a:hlinkClick r:id="rId8"/>
              </a:rPr>
              <a:t>客家菜</a:t>
            </a:r>
            <a:r>
              <a:rPr lang="zh-CN" altLang="en-US" sz="1600" dirty="0"/>
              <a:t>）、</a:t>
            </a:r>
            <a:r>
              <a:rPr lang="zh-CN" altLang="en-US" sz="1600" dirty="0">
                <a:hlinkClick r:id="rId9"/>
              </a:rPr>
              <a:t>潮州菜</a:t>
            </a:r>
            <a:r>
              <a:rPr lang="zh-CN" altLang="en-US" sz="1600" dirty="0"/>
              <a:t>（也称</a:t>
            </a:r>
            <a:r>
              <a:rPr lang="zh-CN" altLang="en-US" sz="1600" dirty="0">
                <a:hlinkClick r:id="rId10"/>
              </a:rPr>
              <a:t>潮汕菜</a:t>
            </a:r>
            <a:r>
              <a:rPr lang="zh-CN" altLang="en-US" sz="1600" dirty="0"/>
              <a:t>）三种地方风味组成，三种风味各具特色</a:t>
            </a:r>
            <a:r>
              <a:rPr lang="en-US" altLang="zh-CN" sz="1600" baseline="30000" dirty="0"/>
              <a:t>[1]</a:t>
            </a:r>
            <a:r>
              <a:rPr lang="zh-CN" altLang="en-US" sz="1600" dirty="0"/>
              <a:t>  。在世界各地粤菜与</a:t>
            </a:r>
            <a:r>
              <a:rPr lang="zh-CN" altLang="en-US" sz="1600" dirty="0">
                <a:hlinkClick r:id="rId11"/>
              </a:rPr>
              <a:t>法国大餐</a:t>
            </a:r>
            <a:r>
              <a:rPr lang="zh-CN" altLang="en-US" sz="1600" dirty="0"/>
              <a:t>齐名，由于广东海外华侨数量占全国六成，因此世界各国的中菜馆多数是以粤菜为主</a:t>
            </a:r>
            <a:r>
              <a:rPr lang="en-US" altLang="zh-CN" sz="1600" baseline="30000" dirty="0"/>
              <a:t>[2</a:t>
            </a:r>
            <a:endParaRPr lang="en-US" altLang="zh-CN" sz="1600" kern="0" dirty="0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043173" y="3991429"/>
            <a:ext cx="4144504" cy="2625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hlinkClick r:id="rId5"/>
              </a:rPr>
              <a:t>粤菜</a:t>
            </a:r>
            <a:r>
              <a:rPr lang="zh-CN" altLang="en-US" sz="1600" dirty="0"/>
              <a:t>范围包括珠江三角洲和肇庆、韶关、湛江等地，用料丰富，选料精细，技艺精良，清而不淡，鲜而不俗，嫩而不生，油而不腻。擅长小炒，要求掌握火候和油温恰到好处。还兼容了许多西菜做法，讲究菜的气势、档次。潮州菜发源于潮汕地区，汇闽、粤两家之长，自成一派。以烹制海鲜见长，汤类、素菜、甜菜最具特色。刀工精细，口味清纯。</a:t>
            </a:r>
          </a:p>
        </p:txBody>
      </p:sp>
    </p:spTree>
    <p:extLst>
      <p:ext uri="{BB962C8B-B14F-4D97-AF65-F5344CB8AC3E}">
        <p14:creationId xmlns:p14="http://schemas.microsoft.com/office/powerpoint/2010/main" val="11861074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758" y="1195478"/>
            <a:ext cx="7060217" cy="5137227"/>
          </a:xfrm>
          <a:prstGeom prst="rect">
            <a:avLst/>
          </a:prstGeom>
        </p:spPr>
      </p:pic>
      <p:sp>
        <p:nvSpPr>
          <p:cNvPr id="5" name="平行四边形 4"/>
          <p:cNvSpPr/>
          <p:nvPr/>
        </p:nvSpPr>
        <p:spPr>
          <a:xfrm>
            <a:off x="6858000" y="-1"/>
            <a:ext cx="4514850" cy="6858001"/>
          </a:xfrm>
          <a:prstGeom prst="parallelogram">
            <a:avLst>
              <a:gd name="adj" fmla="val 65084"/>
            </a:avLst>
          </a:prstGeom>
          <a:solidFill>
            <a:schemeClr val="accent1"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0782300" y="895350"/>
            <a:ext cx="2933700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10515600" y="4610100"/>
            <a:ext cx="1401657" cy="32766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155712" y="656843"/>
            <a:ext cx="3626588" cy="7342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/>
              <a:t>           艇仔粥</a:t>
            </a:r>
            <a:endParaRPr lang="zh-CN" altLang="en-US" sz="3200" b="1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7043173" y="1685543"/>
            <a:ext cx="4144504" cy="102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/>
              <a:t>艇仔粥是由昔日珠江三角洲的水上游民</a:t>
            </a:r>
            <a:r>
              <a:rPr lang="en-US" altLang="zh-CN" sz="1600" dirty="0"/>
              <a:t>——</a:t>
            </a:r>
            <a:r>
              <a:rPr lang="zh-CN" altLang="en-US" sz="1600" dirty="0">
                <a:hlinkClick r:id="rId3"/>
              </a:rPr>
              <a:t>疍民</a:t>
            </a:r>
            <a:r>
              <a:rPr lang="zh-CN" altLang="en-US" sz="1600" dirty="0"/>
              <a:t>（又称水上人家）创造的，其后又在广州发扬光大</a:t>
            </a:r>
            <a:endParaRPr lang="en-US" altLang="zh-CN" sz="1600" dirty="0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043173" y="3991429"/>
            <a:ext cx="4144504" cy="1052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/>
              <a:t>艇仔粥的主要配料为</a:t>
            </a:r>
            <a:r>
              <a:rPr lang="zh-CN" altLang="en-US" sz="1600" dirty="0">
                <a:hlinkClick r:id="rId4"/>
              </a:rPr>
              <a:t>鱼肉</a:t>
            </a:r>
            <a:r>
              <a:rPr lang="zh-CN" altLang="en-US" sz="1600" dirty="0"/>
              <a:t>、瘦肉、</a:t>
            </a:r>
            <a:r>
              <a:rPr lang="zh-CN" altLang="en-US" sz="1600" dirty="0">
                <a:hlinkClick r:id="rId5"/>
              </a:rPr>
              <a:t>油条</a:t>
            </a:r>
            <a:r>
              <a:rPr lang="zh-CN" altLang="en-US" sz="1600" dirty="0"/>
              <a:t>、花生、葱花，亦有加入</a:t>
            </a:r>
            <a:r>
              <a:rPr lang="zh-CN" altLang="en-US" sz="1600" dirty="0">
                <a:hlinkClick r:id="rId6"/>
              </a:rPr>
              <a:t>浮皮</a:t>
            </a:r>
            <a:r>
              <a:rPr lang="zh-CN" altLang="en-US" sz="1600" dirty="0"/>
              <a:t>、</a:t>
            </a:r>
            <a:r>
              <a:rPr lang="zh-CN" altLang="en-US" sz="1600" dirty="0">
                <a:hlinkClick r:id="rId7"/>
              </a:rPr>
              <a:t>海蜇</a:t>
            </a:r>
            <a:r>
              <a:rPr lang="zh-CN" altLang="en-US" sz="1600" dirty="0"/>
              <a:t>、</a:t>
            </a:r>
            <a:r>
              <a:rPr lang="zh-CN" altLang="en-US" sz="1600" dirty="0">
                <a:hlinkClick r:id="rId8"/>
              </a:rPr>
              <a:t>牛肉</a:t>
            </a:r>
            <a:r>
              <a:rPr lang="zh-CN" altLang="en-US" sz="1600" dirty="0"/>
              <a:t>、</a:t>
            </a:r>
            <a:r>
              <a:rPr lang="zh-CN" altLang="en-US" sz="1600" dirty="0">
                <a:hlinkClick r:id="rId9"/>
              </a:rPr>
              <a:t>鱿鱼</a:t>
            </a:r>
            <a:r>
              <a:rPr lang="zh-CN" altLang="en-US" sz="1600" dirty="0"/>
              <a:t>等。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7C01A5-1831-4457-82DD-F24492EF306D}"/>
              </a:ext>
            </a:extLst>
          </p:cNvPr>
          <p:cNvSpPr/>
          <p:nvPr/>
        </p:nvSpPr>
        <p:spPr>
          <a:xfrm>
            <a:off x="7086600" y="2742657"/>
            <a:ext cx="4187758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dirty="0"/>
              <a:t>艇仔粥以新鲜的河虾或鱼片作配料，后来还增加了海蜇、炒花生仁、凉皮、葱花、姜等，吃前当即煮粥滚制，芳香扑鼻，热气腾腾，十分鲜甜。</a:t>
            </a:r>
            <a:endParaRPr lang="en-US" altLang="zh-CN" sz="1600" kern="0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7D5B11-CDE6-40DD-B3E0-273074470708}"/>
              </a:ext>
            </a:extLst>
          </p:cNvPr>
          <p:cNvSpPr txBox="1"/>
          <p:nvPr/>
        </p:nvSpPr>
        <p:spPr>
          <a:xfrm>
            <a:off x="7155712" y="5155660"/>
            <a:ext cx="421713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艇仔粥以粥滑无论在街头食肆，或如白天鹅宾馆那样的五星级酒楼，都可品尝到这种广州特有的粥品。在广州、香港、澳门以至海外各地的广东粥品店，艇仔粥都是必备的食品。艇仔粥在行内术语为“一弯”。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9390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1916" y="390427"/>
            <a:ext cx="7467196" cy="6207971"/>
          </a:xfrm>
          <a:prstGeom prst="ellipse">
            <a:avLst/>
          </a:prstGeom>
        </p:spPr>
      </p:pic>
      <p:sp>
        <p:nvSpPr>
          <p:cNvPr id="6" name="平行四边形 5"/>
          <p:cNvSpPr/>
          <p:nvPr/>
        </p:nvSpPr>
        <p:spPr>
          <a:xfrm>
            <a:off x="4381500" y="-1"/>
            <a:ext cx="8134350" cy="6858001"/>
          </a:xfrm>
          <a:prstGeom prst="parallelogram">
            <a:avLst>
              <a:gd name="adj" fmla="val 65084"/>
            </a:avLst>
          </a:prstGeom>
          <a:solidFill>
            <a:schemeClr val="accent1"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712331" y="61237"/>
            <a:ext cx="56304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/>
              <a:t>         肠粉</a:t>
            </a:r>
            <a:endParaRPr lang="en-US" altLang="zh-CN" sz="6600" b="1" dirty="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383886" y="1139533"/>
            <a:ext cx="4612920" cy="218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/>
          <a:p>
            <a:r>
              <a:rPr lang="zh-CN" altLang="en-US" dirty="0">
                <a:hlinkClick r:id="rId3"/>
              </a:rPr>
              <a:t>广东</a:t>
            </a:r>
            <a:r>
              <a:rPr lang="zh-CN" altLang="en-US" dirty="0"/>
              <a:t>肠粉主要流派有两种：一种是</a:t>
            </a:r>
            <a:r>
              <a:rPr lang="zh-CN" altLang="en-US" b="1" dirty="0">
                <a:hlinkClick r:id="rId4"/>
              </a:rPr>
              <a:t>布拉肠粉</a:t>
            </a:r>
            <a:r>
              <a:rPr lang="zh-CN" altLang="en-US" dirty="0"/>
              <a:t>，另一种是</a:t>
            </a:r>
            <a:r>
              <a:rPr lang="zh-CN" altLang="en-US" b="1" dirty="0">
                <a:hlinkClick r:id="rId5"/>
              </a:rPr>
              <a:t>抽屉式肠粉</a:t>
            </a:r>
            <a:r>
              <a:rPr lang="zh-CN" altLang="en-US" dirty="0"/>
              <a:t>，由于使用 的制作工具不同，所以导致做出的口味都不相同。</a:t>
            </a:r>
          </a:p>
          <a:p>
            <a:r>
              <a:rPr lang="zh-CN" altLang="en-US" sz="1600" b="1" dirty="0"/>
              <a:t>布拉肠粉艺</a:t>
            </a:r>
            <a:r>
              <a:rPr lang="zh-CN" altLang="en-US" sz="1600" dirty="0"/>
              <a:t>广州西关的尤为出名</a:t>
            </a:r>
            <a:r>
              <a:rPr lang="zh-CN" altLang="en-US" sz="1600" b="1" dirty="0"/>
              <a:t>，它</a:t>
            </a:r>
            <a:r>
              <a:rPr lang="zh-CN" altLang="en-US" sz="1600" dirty="0"/>
              <a:t>是以品尝馅料为主（肠粉浆大部分是使用粘米粉，再添加</a:t>
            </a:r>
            <a:r>
              <a:rPr lang="zh-CN" altLang="en-US" sz="1600" dirty="0">
                <a:hlinkClick r:id="rId6"/>
              </a:rPr>
              <a:t>澄面</a:t>
            </a:r>
            <a:r>
              <a:rPr lang="zh-CN" altLang="en-US" sz="1600" dirty="0"/>
              <a:t>、</a:t>
            </a:r>
            <a:r>
              <a:rPr lang="zh-CN" altLang="en-US" sz="1600" dirty="0">
                <a:hlinkClick r:id="rId7"/>
              </a:rPr>
              <a:t>粟粉</a:t>
            </a:r>
            <a:r>
              <a:rPr lang="zh-CN" altLang="en-US" sz="1600" dirty="0"/>
              <a:t>和生粉）。</a:t>
            </a:r>
            <a:r>
              <a:rPr lang="zh-CN" altLang="en-US" sz="1600" b="1" dirty="0"/>
              <a:t>抽屉式肠粉</a:t>
            </a:r>
            <a:r>
              <a:rPr lang="zh-CN" altLang="en-US" sz="1600" dirty="0"/>
              <a:t>（肠粉浆是使用纯米浆做成）主要品尝肠粉的粉质和酱汁调料。</a:t>
            </a:r>
          </a:p>
          <a:p>
            <a:pPr>
              <a:lnSpc>
                <a:spcPct val="130000"/>
              </a:lnSpc>
            </a:pPr>
            <a:endParaRPr lang="en-US" altLang="zh-CN" sz="1400" kern="0" dirty="0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8191500" y="114300"/>
            <a:ext cx="4498026" cy="695324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F59ABEC-5FA9-451C-BB3B-F276AB9EF279}"/>
              </a:ext>
            </a:extLst>
          </p:cNvPr>
          <p:cNvSpPr txBox="1"/>
          <p:nvPr/>
        </p:nvSpPr>
        <p:spPr>
          <a:xfrm>
            <a:off x="5461099" y="2969253"/>
            <a:ext cx="445849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肠粉是广州</a:t>
            </a:r>
            <a:r>
              <a:rPr lang="zh-CN" altLang="en-US" dirty="0">
                <a:hlinkClick r:id="rId8"/>
              </a:rPr>
              <a:t>茶楼</a:t>
            </a:r>
            <a:r>
              <a:rPr lang="zh-CN" altLang="en-US" dirty="0"/>
              <a:t>、酒家早茶</a:t>
            </a:r>
            <a:r>
              <a:rPr lang="zh-CN" altLang="en-US" dirty="0">
                <a:hlinkClick r:id="rId9"/>
              </a:rPr>
              <a:t>夜市</a:t>
            </a:r>
            <a:r>
              <a:rPr lang="zh-CN" altLang="en-US" dirty="0"/>
              <a:t>的必备之品，同时也是很多市民早餐的必选之品，老广记忆中的美食之一。</a:t>
            </a:r>
            <a:endParaRPr lang="en-US" altLang="zh-CN" dirty="0"/>
          </a:p>
          <a:p>
            <a:r>
              <a:rPr lang="zh-CN" altLang="en-US" b="1" dirty="0">
                <a:hlinkClick r:id="rId4"/>
              </a:rPr>
              <a:t>布拉肠粉</a:t>
            </a:r>
            <a:r>
              <a:rPr lang="zh-CN" altLang="en-US" dirty="0"/>
              <a:t>是将米浆置于布上蒸成，又叫布拉</a:t>
            </a:r>
            <a:r>
              <a:rPr lang="zh-CN" altLang="en-US" dirty="0">
                <a:hlinkClick r:id="rId10"/>
              </a:rPr>
              <a:t>蒸肠粉</a:t>
            </a:r>
            <a:r>
              <a:rPr lang="zh-CN" altLang="en-US" dirty="0"/>
              <a:t>。以往经常由流动小贩在街角出售斋肠，大部份已转为铺位经营，一般会将肠粉切断，吃时再加入芝麻、甜酱及辣酱调味。注意，</a:t>
            </a:r>
            <a:r>
              <a:rPr lang="zh-CN" altLang="en-US" dirty="0">
                <a:hlinkClick r:id="rId11"/>
              </a:rPr>
              <a:t>猪肠粉</a:t>
            </a:r>
            <a:r>
              <a:rPr lang="zh-CN" altLang="en-US" dirty="0"/>
              <a:t>与</a:t>
            </a:r>
            <a:r>
              <a:rPr lang="zh-CN" altLang="en-US" dirty="0">
                <a:hlinkClick r:id="rId12"/>
              </a:rPr>
              <a:t>肠粉</a:t>
            </a:r>
            <a:r>
              <a:rPr lang="zh-CN" altLang="en-US" dirty="0"/>
              <a:t>并非同一类食物，但某些食客会将之混淆。猪肠粉虽然同是米浆制作，但是却与肠粉不同，味淡的猪肠粉并无馅料，是由米浆卷成卷状然后切粒，每粒的横切面有如树木的年轮般成不规则的圈状，配以不同风味的酱油而成</a:t>
            </a:r>
            <a:r>
              <a:rPr lang="zh-CN" altLang="en-US" sz="1600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98216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 flipH="1" flipV="1">
            <a:off x="4610100" y="0"/>
            <a:ext cx="7581900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0996">
            <a:off x="9642780" y="784302"/>
            <a:ext cx="4889059" cy="4889059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V="1">
            <a:off x="8401050" y="0"/>
            <a:ext cx="3073195" cy="32288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454620" y="58994"/>
            <a:ext cx="38928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/>
              <a:t>DELICIOUS</a:t>
            </a:r>
            <a:endParaRPr lang="zh-CN" altLang="en-US" sz="6000" dirty="0"/>
          </a:p>
        </p:txBody>
      </p:sp>
      <p:sp>
        <p:nvSpPr>
          <p:cNvPr id="14" name="矩形 13"/>
          <p:cNvSpPr/>
          <p:nvPr/>
        </p:nvSpPr>
        <p:spPr>
          <a:xfrm>
            <a:off x="6967543" y="984953"/>
            <a:ext cx="2590280" cy="11237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广东美食之一：客家菜</a:t>
            </a:r>
            <a:endParaRPr lang="en-US" altLang="zh-CN" sz="2400" b="1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542" y="551462"/>
            <a:ext cx="4111371" cy="3686485"/>
          </a:xfrm>
          <a:prstGeom prst="triangle">
            <a:avLst>
              <a:gd name="adj" fmla="val 0"/>
            </a:avLst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C7AB34D-EC15-4C51-9757-68B2D0B1C5EA}"/>
              </a:ext>
            </a:extLst>
          </p:cNvPr>
          <p:cNvSpPr txBox="1"/>
          <p:nvPr/>
        </p:nvSpPr>
        <p:spPr>
          <a:xfrm>
            <a:off x="255120" y="943583"/>
            <a:ext cx="43863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客家菜是</a:t>
            </a:r>
            <a:r>
              <a:rPr lang="zh-CN" altLang="en-US" dirty="0">
                <a:hlinkClick r:id="rId4"/>
              </a:rPr>
              <a:t>中国</a:t>
            </a:r>
            <a:r>
              <a:rPr lang="zh-CN" altLang="en-US" dirty="0"/>
              <a:t>饮食文化重要组成部分，主要流行于广东的</a:t>
            </a:r>
            <a:r>
              <a:rPr lang="zh-CN" altLang="en-US" dirty="0">
                <a:hlinkClick r:id="rId5"/>
              </a:rPr>
              <a:t>惠</a:t>
            </a:r>
            <a:r>
              <a:rPr lang="zh-CN" altLang="en-US" dirty="0">
                <a:hlinkClick r:id="rId6"/>
              </a:rPr>
              <a:t>州</a:t>
            </a:r>
            <a:r>
              <a:rPr lang="zh-CN" altLang="en-US" dirty="0"/>
              <a:t>、</a:t>
            </a:r>
            <a:r>
              <a:rPr lang="zh-CN" altLang="en-US" dirty="0">
                <a:hlinkClick r:id="rId7"/>
              </a:rPr>
              <a:t>河源</a:t>
            </a:r>
            <a:r>
              <a:rPr lang="zh-CN" altLang="en-US" dirty="0"/>
              <a:t>、</a:t>
            </a:r>
            <a:r>
              <a:rPr lang="zh-CN" altLang="en-US" dirty="0">
                <a:hlinkClick r:id="rId8"/>
              </a:rPr>
              <a:t>梅州</a:t>
            </a:r>
            <a:r>
              <a:rPr lang="zh-CN" altLang="en-US" dirty="0"/>
              <a:t>；江西的</a:t>
            </a:r>
            <a:r>
              <a:rPr lang="zh-CN" altLang="en-US" dirty="0">
                <a:hlinkClick r:id="rId9"/>
              </a:rPr>
              <a:t>赣州</a:t>
            </a:r>
            <a:r>
              <a:rPr lang="zh-CN" altLang="en-US" dirty="0"/>
              <a:t>；福建的龙岩、汀州；广西的</a:t>
            </a:r>
            <a:r>
              <a:rPr lang="zh-CN" altLang="en-US" dirty="0">
                <a:hlinkClick r:id="rId10"/>
              </a:rPr>
              <a:t>贺州</a:t>
            </a:r>
            <a:r>
              <a:rPr lang="zh-CN" altLang="en-US" dirty="0"/>
              <a:t>、</a:t>
            </a:r>
            <a:r>
              <a:rPr lang="zh-CN" altLang="en-US" dirty="0">
                <a:hlinkClick r:id="rId11"/>
              </a:rPr>
              <a:t>玉林</a:t>
            </a:r>
            <a:r>
              <a:rPr lang="zh-CN" altLang="en-US" dirty="0"/>
              <a:t>；台湾</a:t>
            </a:r>
            <a:r>
              <a:rPr lang="zh-CN" altLang="en-US" dirty="0">
                <a:hlinkClick r:id="rId12"/>
              </a:rPr>
              <a:t>新竹县</a:t>
            </a:r>
            <a:r>
              <a:rPr lang="zh-CN" altLang="en-US" dirty="0"/>
              <a:t>、</a:t>
            </a:r>
            <a:r>
              <a:rPr lang="zh-CN" altLang="en-US" dirty="0">
                <a:hlinkClick r:id="rId13"/>
              </a:rPr>
              <a:t>苗栗县</a:t>
            </a:r>
            <a:r>
              <a:rPr lang="zh-CN" altLang="en-US" dirty="0"/>
              <a:t>等地。客家菜传统的客家招牌菜是：</a:t>
            </a:r>
            <a:r>
              <a:rPr lang="zh-CN" altLang="en-US" dirty="0">
                <a:hlinkClick r:id="rId14"/>
              </a:rPr>
              <a:t>梅菜扣肉</a:t>
            </a:r>
            <a:r>
              <a:rPr lang="zh-CN" altLang="en-US" dirty="0"/>
              <a:t>、</a:t>
            </a:r>
            <a:r>
              <a:rPr lang="zh-CN" altLang="en-US" dirty="0">
                <a:hlinkClick r:id="rId15"/>
              </a:rPr>
              <a:t>盐焗鸡</a:t>
            </a:r>
            <a:r>
              <a:rPr lang="zh-CN" altLang="en-US" dirty="0"/>
              <a:t>、</a:t>
            </a:r>
            <a:r>
              <a:rPr lang="zh-CN" altLang="en-US" dirty="0">
                <a:hlinkClick r:id="rId16"/>
              </a:rPr>
              <a:t>客家酿豆腐</a:t>
            </a:r>
            <a:r>
              <a:rPr lang="zh-CN" altLang="en-US" dirty="0"/>
              <a:t>、</a:t>
            </a:r>
            <a:r>
              <a:rPr lang="zh-CN" altLang="en-US" dirty="0">
                <a:hlinkClick r:id="rId17"/>
              </a:rPr>
              <a:t>猪肚包鸡</a:t>
            </a:r>
            <a:r>
              <a:rPr lang="zh-CN" altLang="en-US" dirty="0"/>
              <a:t>、</a:t>
            </a:r>
            <a:r>
              <a:rPr lang="zh-CN" altLang="en-US" dirty="0">
                <a:hlinkClick r:id="rId18"/>
              </a:rPr>
              <a:t>酿苦瓜</a:t>
            </a:r>
            <a:r>
              <a:rPr lang="zh-CN" altLang="en-US" dirty="0"/>
              <a:t>、</a:t>
            </a:r>
            <a:r>
              <a:rPr lang="zh-CN" altLang="en-US" dirty="0">
                <a:hlinkClick r:id="rId19"/>
              </a:rPr>
              <a:t>白斩河田鸡</a:t>
            </a:r>
            <a:r>
              <a:rPr lang="zh-CN" altLang="en-US" dirty="0"/>
              <a:t>、</a:t>
            </a:r>
            <a:r>
              <a:rPr lang="zh-CN" altLang="en-US" dirty="0">
                <a:hlinkClick r:id="rId20"/>
              </a:rPr>
              <a:t>兜汤</a:t>
            </a:r>
            <a:r>
              <a:rPr lang="zh-CN" altLang="en-US" dirty="0"/>
              <a:t>、</a:t>
            </a:r>
            <a:r>
              <a:rPr lang="zh-CN" altLang="en-US" dirty="0">
                <a:hlinkClick r:id="rId21"/>
              </a:rPr>
              <a:t>汀州</a:t>
            </a:r>
            <a:r>
              <a:rPr lang="zh-CN" altLang="en-US" dirty="0"/>
              <a:t>泡猪腰、</a:t>
            </a:r>
            <a:r>
              <a:rPr lang="zh-CN" altLang="en-US" dirty="0">
                <a:hlinkClick r:id="rId22"/>
              </a:rPr>
              <a:t>仙人冻</a:t>
            </a:r>
            <a:r>
              <a:rPr lang="zh-CN" altLang="en-US" dirty="0"/>
              <a:t>、</a:t>
            </a:r>
            <a:r>
              <a:rPr lang="zh-CN" altLang="en-US" dirty="0">
                <a:hlinkClick r:id="rId23"/>
              </a:rPr>
              <a:t>麒麟脱胎</a:t>
            </a:r>
            <a:r>
              <a:rPr lang="zh-CN" altLang="en-US" dirty="0"/>
              <a:t>、</a:t>
            </a:r>
            <a:r>
              <a:rPr lang="zh-CN" altLang="en-US" dirty="0">
                <a:hlinkClick r:id="rId24"/>
              </a:rPr>
              <a:t>盆菜</a:t>
            </a:r>
            <a:r>
              <a:rPr lang="zh-CN" altLang="en-US" dirty="0"/>
              <a:t>、</a:t>
            </a:r>
            <a:r>
              <a:rPr lang="zh-CN" altLang="en-US" dirty="0">
                <a:hlinkClick r:id="rId25"/>
              </a:rPr>
              <a:t>四星望月</a:t>
            </a:r>
            <a:r>
              <a:rPr lang="zh-CN" altLang="en-US" dirty="0"/>
              <a:t>、</a:t>
            </a:r>
            <a:r>
              <a:rPr lang="zh-CN" altLang="en-US" dirty="0">
                <a:hlinkClick r:id="rId26"/>
              </a:rPr>
              <a:t>芋子包</a:t>
            </a:r>
            <a:r>
              <a:rPr lang="zh-CN" altLang="en-US" dirty="0"/>
              <a:t>、</a:t>
            </a:r>
            <a:r>
              <a:rPr lang="zh-CN" altLang="en-US" dirty="0">
                <a:hlinkClick r:id="rId27"/>
              </a:rPr>
              <a:t>芋子饺</a:t>
            </a:r>
            <a:r>
              <a:rPr lang="zh-CN" altLang="en-US" dirty="0"/>
              <a:t>、</a:t>
            </a:r>
            <a:r>
              <a:rPr lang="zh-CN" altLang="en-US" dirty="0">
                <a:hlinkClick r:id="rId28"/>
              </a:rPr>
              <a:t>三杯鸭</a:t>
            </a:r>
            <a:r>
              <a:rPr lang="zh-CN" altLang="en-US" dirty="0"/>
              <a:t>等与潮州菜比较，客家菜的口感偏重“肥、咸、熟”，在</a:t>
            </a:r>
            <a:r>
              <a:rPr lang="zh-CN" altLang="en-US" dirty="0">
                <a:hlinkClick r:id="rId29"/>
              </a:rPr>
              <a:t>粤菜</a:t>
            </a:r>
            <a:r>
              <a:rPr lang="zh-CN" altLang="en-US" dirty="0"/>
              <a:t>或</a:t>
            </a:r>
            <a:r>
              <a:rPr lang="zh-CN" altLang="en-US" dirty="0">
                <a:hlinkClick r:id="rId30"/>
              </a:rPr>
              <a:t>闽菜系</a:t>
            </a:r>
            <a:r>
              <a:rPr lang="zh-CN" altLang="en-US" dirty="0"/>
              <a:t>中</a:t>
            </a:r>
            <a:r>
              <a:rPr lang="zh-CN" altLang="en-US" dirty="0">
                <a:hlinkClick r:id="rId31"/>
              </a:rPr>
              <a:t>独树一帜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DD5568-B734-4A94-8C4B-BD20B143E1CF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" t="11713" r="-268" b="41639"/>
          <a:stretch/>
        </p:blipFill>
        <p:spPr>
          <a:xfrm>
            <a:off x="228421" y="4356452"/>
            <a:ext cx="6393153" cy="232664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59A0CFA-51F2-4838-8966-3EF78835643C}"/>
              </a:ext>
            </a:extLst>
          </p:cNvPr>
          <p:cNvSpPr txBox="1"/>
          <p:nvPr/>
        </p:nvSpPr>
        <p:spPr>
          <a:xfrm>
            <a:off x="6732015" y="4016284"/>
            <a:ext cx="31221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b="1" dirty="0"/>
          </a:p>
          <a:p>
            <a:r>
              <a:rPr lang="zh-CN" altLang="en-US" dirty="0">
                <a:hlinkClick r:id="rId33"/>
              </a:rPr>
              <a:t>客家菜</a:t>
            </a:r>
            <a:r>
              <a:rPr lang="zh-CN" altLang="en-US" dirty="0"/>
              <a:t>的基本特色是，用料以肉类为主，水产品较少；突出主料，原汁原味，讲求酥软香浓；注重火功，以炖、烤、煲、酿见长，尤以砂锅菜闻名；造型古朴，乡土风貌明显。现今保留于农家或饭店酒家的客家烹饪技艺，仍有许多奇妙的手工作法</a:t>
            </a:r>
          </a:p>
        </p:txBody>
      </p:sp>
    </p:spTree>
    <p:extLst>
      <p:ext uri="{BB962C8B-B14F-4D97-AF65-F5344CB8AC3E}">
        <p14:creationId xmlns:p14="http://schemas.microsoft.com/office/powerpoint/2010/main" val="38196544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600800" y="154566"/>
            <a:ext cx="550251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/>
              <a:t>客家</a:t>
            </a:r>
            <a:r>
              <a:rPr lang="zh-CN" altLang="en-US" sz="6000" b="1" dirty="0"/>
              <a:t>特色</a:t>
            </a:r>
            <a:r>
              <a:rPr lang="zh-CN" altLang="en-US" sz="6600" b="1" dirty="0"/>
              <a:t>美食</a:t>
            </a:r>
            <a:endParaRPr lang="en-US" altLang="zh-CN" sz="6600" b="1" dirty="0"/>
          </a:p>
          <a:p>
            <a:endParaRPr lang="en-US" altLang="zh-CN" sz="6600" b="1" dirty="0"/>
          </a:p>
        </p:txBody>
      </p:sp>
      <p:sp>
        <p:nvSpPr>
          <p:cNvPr id="12" name="平行四边形 11"/>
          <p:cNvSpPr/>
          <p:nvPr/>
        </p:nvSpPr>
        <p:spPr>
          <a:xfrm>
            <a:off x="5456342" y="0"/>
            <a:ext cx="5073445" cy="6858001"/>
          </a:xfrm>
          <a:prstGeom prst="parallelogram">
            <a:avLst>
              <a:gd name="adj" fmla="val 37758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957763" y="1393700"/>
            <a:ext cx="2281465" cy="524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0" b="1" dirty="0"/>
              <a:t> </a:t>
            </a:r>
            <a:r>
              <a:rPr lang="zh-CN" altLang="en-US" sz="4000" b="1" dirty="0"/>
              <a:t>盐焗鸡</a:t>
            </a:r>
            <a:endParaRPr lang="en-US" altLang="zh-CN" sz="4000" b="1" dirty="0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5600800" y="1991894"/>
            <a:ext cx="5949515" cy="261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/>
              <a:t>盐焗鸡是中国各大菜系最具特色的烹调技艺。起初，，强壮起来，并参加科举考试，中了状元。后来这种菜肴家喻户晓，成为每位客家妇女都能烹制的拿手菜肴。为方便烹调，适应大量生产，经客家厨客家人将宰净后的原只鸡先用盐堆腌制、封存，要食用时，直接蒸熟即可，即现在的“客家咸鸡”。据传，有一位客家妇女儿女成群，其中一位小孩体弱多病，因当时缺乏各种营养食品，就将用盐腌制后的鸡，用纸包好放入炒热的盐中用砂煲煨熟，小孩食用后，身体逐渐恢复师不断改良创新，创制出另一种风味的东江盐焗鸡</a:t>
            </a:r>
          </a:p>
          <a:p>
            <a:pPr>
              <a:lnSpc>
                <a:spcPct val="130000"/>
              </a:lnSpc>
            </a:pPr>
            <a:r>
              <a:rPr lang="zh-CN" altLang="zh-CN" sz="1400" dirty="0">
                <a:solidFill>
                  <a:schemeClr val="accent2"/>
                </a:solidFill>
                <a:latin typeface="微软雅黑"/>
              </a:rPr>
              <a:t>、</a:t>
            </a:r>
            <a:endParaRPr lang="en-US" altLang="zh-CN" sz="1600" kern="0" dirty="0">
              <a:solidFill>
                <a:schemeClr val="accent2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FE75BD-1B60-4A48-B097-33C6779EC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56" y="154566"/>
            <a:ext cx="4515996" cy="348912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723B5CD-ED96-4540-BBA5-D2FDE896C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15" y="3643693"/>
            <a:ext cx="4554737" cy="309567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FEDF04F-01A6-40DE-9B00-E5EF62A97429}"/>
              </a:ext>
            </a:extLst>
          </p:cNvPr>
          <p:cNvSpPr txBox="1"/>
          <p:nvPr/>
        </p:nvSpPr>
        <p:spPr>
          <a:xfrm>
            <a:off x="5675548" y="4729863"/>
            <a:ext cx="58000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菜品特色：制法独特，味香浓郁，皮爽肉滑，色泽微黄，皮脆肉嫩，骨肉鲜香，风味诱人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72383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2" y="950686"/>
            <a:ext cx="9579428" cy="5568255"/>
          </a:xfrm>
          <a:prstGeom prst="rect">
            <a:avLst/>
          </a:prstGeom>
        </p:spPr>
      </p:pic>
      <p:sp>
        <p:nvSpPr>
          <p:cNvPr id="5" name="等腰三角形 4"/>
          <p:cNvSpPr/>
          <p:nvPr/>
        </p:nvSpPr>
        <p:spPr>
          <a:xfrm rot="5400000">
            <a:off x="1590675" y="-1666875"/>
            <a:ext cx="6457950" cy="9677400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特色美食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 rot="19914761">
            <a:off x="2988499" y="-816510"/>
            <a:ext cx="4533900" cy="910264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732296" y="2125133"/>
            <a:ext cx="4144504" cy="692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1400" dirty="0">
                <a:latin typeface="微软雅黑"/>
              </a:rPr>
              <a:t>。</a:t>
            </a:r>
            <a:endParaRPr lang="en-US" altLang="zh-CN" sz="1400" kern="0" dirty="0"/>
          </a:p>
          <a:p>
            <a:pPr lvl="0">
              <a:lnSpc>
                <a:spcPct val="130000"/>
              </a:lnSpc>
            </a:pPr>
            <a:endParaRPr lang="en-US" altLang="zh-CN" sz="1600" kern="0" dirty="0"/>
          </a:p>
        </p:txBody>
      </p:sp>
      <p:sp>
        <p:nvSpPr>
          <p:cNvPr id="11" name="文本框 10"/>
          <p:cNvSpPr txBox="1"/>
          <p:nvPr/>
        </p:nvSpPr>
        <p:spPr>
          <a:xfrm>
            <a:off x="178100" y="744511"/>
            <a:ext cx="62187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广东特色美食：潮州菜</a:t>
            </a:r>
            <a:endParaRPr lang="en-US" altLang="zh-CN" sz="4400" b="1" dirty="0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-323850" y="5524499"/>
            <a:ext cx="1044775" cy="7429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3962400" y="-120703"/>
            <a:ext cx="5278514" cy="35495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7D17DDC-9485-438E-AC55-2D05A1D5EEAB}"/>
              </a:ext>
            </a:extLst>
          </p:cNvPr>
          <p:cNvSpPr txBox="1"/>
          <p:nvPr/>
        </p:nvSpPr>
        <p:spPr>
          <a:xfrm>
            <a:off x="156429" y="1715742"/>
            <a:ext cx="52962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潮州菜，简称</a:t>
            </a:r>
            <a:r>
              <a:rPr lang="zh-CN" altLang="en-US" dirty="0">
                <a:hlinkClick r:id="rId3"/>
              </a:rPr>
              <a:t>潮菜</a:t>
            </a:r>
            <a:r>
              <a:rPr lang="zh-CN" altLang="en-US" dirty="0"/>
              <a:t>，也称潮汕菜，潮州菜和汕尾材菜在香港称做“</a:t>
            </a:r>
            <a:r>
              <a:rPr lang="zh-CN" altLang="en-US" dirty="0">
                <a:hlinkClick r:id="rId4"/>
              </a:rPr>
              <a:t>打冷</a:t>
            </a:r>
            <a:r>
              <a:rPr lang="zh-CN" altLang="en-US" dirty="0"/>
              <a:t>”。是广东省</a:t>
            </a:r>
            <a:r>
              <a:rPr lang="zh-CN" altLang="en-US" dirty="0">
                <a:hlinkClick r:id="rId5"/>
              </a:rPr>
              <a:t>潮汕地区</a:t>
            </a:r>
            <a:r>
              <a:rPr lang="zh-CN" altLang="en-US" dirty="0"/>
              <a:t>为发源地的中国菜，是中国南方传统饮食文化的重要组成部分，和</a:t>
            </a:r>
            <a:r>
              <a:rPr lang="zh-CN" altLang="en-US" dirty="0">
                <a:hlinkClick r:id="rId6"/>
              </a:rPr>
              <a:t>汕尾菜</a:t>
            </a:r>
            <a:r>
              <a:rPr lang="zh-CN" altLang="en-US" dirty="0"/>
              <a:t>同属中国八大菜系中的粤菜。</a:t>
            </a:r>
          </a:p>
          <a:p>
            <a:r>
              <a:rPr lang="zh-CN" altLang="en-US" dirty="0"/>
              <a:t>潮州菜以昂贵著称，其选料考究、刀工精细，且烹调方式多样，着意追求色香味俱全，有中国最高端菜系之称。潮州菜烹饪的最大特点是借重海鲜、主要烹调法有：焖、炖、煎、炸、炊（蒸）、炒、焗、爆、焯、烹、泡、扣、卤、熏、淋、烧等数十种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6991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48066">
            <a:off x="2806114" y="1799846"/>
            <a:ext cx="5804177" cy="4060382"/>
          </a:xfrm>
          <a:prstGeom prst="rect">
            <a:avLst/>
          </a:prstGeom>
        </p:spPr>
      </p:pic>
      <p:sp>
        <p:nvSpPr>
          <p:cNvPr id="9" name="平行四边形 8"/>
          <p:cNvSpPr/>
          <p:nvPr/>
        </p:nvSpPr>
        <p:spPr>
          <a:xfrm>
            <a:off x="0" y="-1"/>
            <a:ext cx="4910385" cy="6858000"/>
          </a:xfrm>
          <a:prstGeom prst="parallelogram">
            <a:avLst>
              <a:gd name="adj" fmla="val 66459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D89BA5-9259-4F86-8797-64E89B6B7CD1}"/>
              </a:ext>
            </a:extLst>
          </p:cNvPr>
          <p:cNvSpPr txBox="1"/>
          <p:nvPr/>
        </p:nvSpPr>
        <p:spPr>
          <a:xfrm>
            <a:off x="3735809" y="452916"/>
            <a:ext cx="7023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C00000"/>
                </a:solidFill>
                <a:hlinkClick r:id="rId3"/>
              </a:rPr>
              <a:t>潮州</a:t>
            </a:r>
            <a:r>
              <a:rPr lang="zh-CN" altLang="en-US" sz="6000" dirty="0">
                <a:solidFill>
                  <a:srgbClr val="C00000"/>
                </a:solidFill>
                <a:hlinkClick r:id="rId4"/>
              </a:rPr>
              <a:t>砂锅粥</a:t>
            </a:r>
            <a:endParaRPr lang="en-US" altLang="zh-CN" sz="6000" dirty="0">
              <a:solidFill>
                <a:srgbClr val="C00000"/>
              </a:solidFill>
            </a:endParaRPr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64E7371D-AEF3-4353-9F58-017B0497F845}"/>
              </a:ext>
            </a:extLst>
          </p:cNvPr>
          <p:cNvSpPr/>
          <p:nvPr/>
        </p:nvSpPr>
        <p:spPr>
          <a:xfrm>
            <a:off x="6858000" y="-1"/>
            <a:ext cx="4514850" cy="6858001"/>
          </a:xfrm>
          <a:prstGeom prst="parallelogram">
            <a:avLst>
              <a:gd name="adj" fmla="val 65084"/>
            </a:avLst>
          </a:prstGeom>
          <a:solidFill>
            <a:schemeClr val="accent1"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78C29D-9696-408C-A181-3BE6664EF4C8}"/>
              </a:ext>
            </a:extLst>
          </p:cNvPr>
          <p:cNvSpPr txBox="1"/>
          <p:nvPr/>
        </p:nvSpPr>
        <p:spPr>
          <a:xfrm>
            <a:off x="243105" y="2968511"/>
            <a:ext cx="28771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潮州砂锅粥是一道色香味俱全的名点，属于</a:t>
            </a:r>
            <a:r>
              <a:rPr lang="zh-CN" altLang="en-US" sz="2000" dirty="0">
                <a:solidFill>
                  <a:srgbClr val="C00000"/>
                </a:solidFill>
                <a:hlinkClick r:id="rId5"/>
              </a:rPr>
              <a:t>粤菜</a:t>
            </a:r>
            <a:r>
              <a:rPr lang="zh-CN" altLang="en-US" sz="2000" dirty="0">
                <a:solidFill>
                  <a:srgbClr val="C00000"/>
                </a:solidFill>
              </a:rPr>
              <a:t>系。因为潮州地区是沿海一带的地方，所以</a:t>
            </a:r>
            <a:r>
              <a:rPr lang="zh-CN" altLang="en-US" sz="2000" dirty="0">
                <a:solidFill>
                  <a:srgbClr val="C00000"/>
                </a:solidFill>
                <a:hlinkClick r:id="rId6"/>
              </a:rPr>
              <a:t>海鲜</a:t>
            </a:r>
            <a:r>
              <a:rPr lang="zh-CN" altLang="en-US" sz="2000" dirty="0">
                <a:solidFill>
                  <a:srgbClr val="C00000"/>
                </a:solidFill>
              </a:rPr>
              <a:t>丰富，连煮粥的时候都以海鲜为原材料，再加入</a:t>
            </a:r>
            <a:r>
              <a:rPr lang="zh-CN" altLang="en-US" sz="2000" dirty="0">
                <a:solidFill>
                  <a:srgbClr val="C00000"/>
                </a:solidFill>
                <a:hlinkClick r:id="rId7"/>
              </a:rPr>
              <a:t>潮州菜</a:t>
            </a:r>
            <a:r>
              <a:rPr lang="zh-CN" altLang="en-US" sz="2000" dirty="0">
                <a:solidFill>
                  <a:srgbClr val="C00000"/>
                </a:solidFill>
              </a:rPr>
              <a:t>的独特配料，风格独树一帜，在各地都颇受欢迎</a:t>
            </a:r>
            <a:endParaRPr lang="en-US" altLang="zh-CN" sz="2000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4A2C4B-75C1-4C3D-8AFC-EF44BAA10DD0}"/>
              </a:ext>
            </a:extLst>
          </p:cNvPr>
          <p:cNvSpPr txBox="1"/>
          <p:nvPr/>
        </p:nvSpPr>
        <p:spPr>
          <a:xfrm>
            <a:off x="243105" y="1332511"/>
            <a:ext cx="30091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hlinkClick r:id="rId3"/>
              </a:rPr>
              <a:t>潮州</a:t>
            </a:r>
            <a:r>
              <a:rPr lang="zh-CN" altLang="en-US" dirty="0">
                <a:solidFill>
                  <a:srgbClr val="C00000"/>
                </a:solidFill>
                <a:hlinkClick r:id="rId4"/>
              </a:rPr>
              <a:t>砂锅粥</a:t>
            </a:r>
            <a:r>
              <a:rPr lang="zh-CN" altLang="en-US" dirty="0">
                <a:solidFill>
                  <a:srgbClr val="C00000"/>
                </a:solidFill>
              </a:rPr>
              <a:t>是专用</a:t>
            </a:r>
            <a:r>
              <a:rPr lang="zh-CN" altLang="en-US" dirty="0">
                <a:solidFill>
                  <a:srgbClr val="C00000"/>
                </a:solidFill>
                <a:hlinkClick r:id="rId8"/>
              </a:rPr>
              <a:t>砂锅</a:t>
            </a:r>
            <a:r>
              <a:rPr lang="zh-CN" altLang="en-US" dirty="0">
                <a:solidFill>
                  <a:srgbClr val="C00000"/>
                </a:solidFill>
              </a:rPr>
              <a:t>煮出来的咸香粥，粥是主料，配料一般有河海鲜、禽类、蛇、蛙、龟等。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4B7701-D92C-4233-8BAE-F9969A9FAC32}"/>
              </a:ext>
            </a:extLst>
          </p:cNvPr>
          <p:cNvSpPr txBox="1"/>
          <p:nvPr/>
        </p:nvSpPr>
        <p:spPr>
          <a:xfrm>
            <a:off x="8799853" y="1711131"/>
            <a:ext cx="317218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潮州咸粥又细分为两种：潮州泡粥和潮州砂锅粥。泡粥是用白饭来煮泡的粥，例如蚝仔肉碎粥、鲍鱼肉碎粥、什会泡粥等，通常用料在两种以上。粥如其名，用砂锅、生米明火煲粥，粥七成熟的时候，放原料再加配料煮成。经典的粥品有砂锅生鱼粥、砂锅海虾粥、砂锅膏蟹粥等。在这里，师傅分别介绍颇有代表性的两款咸粥，以及独特配料的配方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29570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9148" y="325013"/>
            <a:ext cx="6267366" cy="6207971"/>
          </a:xfrm>
          <a:prstGeom prst="ellipse">
            <a:avLst/>
          </a:prstGeom>
        </p:spPr>
      </p:pic>
      <p:sp>
        <p:nvSpPr>
          <p:cNvPr id="6" name="平行四边形 5"/>
          <p:cNvSpPr/>
          <p:nvPr/>
        </p:nvSpPr>
        <p:spPr>
          <a:xfrm>
            <a:off x="4381500" y="-1"/>
            <a:ext cx="8134350" cy="6858001"/>
          </a:xfrm>
          <a:prstGeom prst="parallelogram">
            <a:avLst>
              <a:gd name="adj" fmla="val 65084"/>
            </a:avLst>
          </a:prstGeom>
          <a:solidFill>
            <a:schemeClr val="accent1"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207824" y="269455"/>
            <a:ext cx="56304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/>
              <a:t>    汕头牛肉丸</a:t>
            </a:r>
            <a:endParaRPr lang="en-US" altLang="zh-CN" sz="6600" b="1" dirty="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800225" y="1277770"/>
            <a:ext cx="5114583" cy="1723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/>
          <a:p>
            <a:r>
              <a:rPr lang="zh-CN" altLang="en-US" dirty="0"/>
              <a:t>潮汕牛肉丸是潮汕小食中的一种，制作原料主要有牛肉、淀粉等，也是广东有名的小食，讲究手工制作，口感爽脆，可分为牛肉丸、牛筋丸两种，其中牛肉丸肉质较为细嫩，牛筋丸则是在牛肉丸里加进一些嫩筋以提升嚼劲。</a:t>
            </a:r>
            <a:endParaRPr lang="en-US" altLang="zh-CN" dirty="0"/>
          </a:p>
          <a:p>
            <a:endParaRPr lang="zh-CN" altLang="en-US" sz="1600" dirty="0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8191500" y="114300"/>
            <a:ext cx="4498026" cy="695324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F59ABEC-5FA9-451C-BB3B-F276AB9EF279}"/>
              </a:ext>
            </a:extLst>
          </p:cNvPr>
          <p:cNvSpPr txBox="1"/>
          <p:nvPr/>
        </p:nvSpPr>
        <p:spPr>
          <a:xfrm>
            <a:off x="4800225" y="2473468"/>
            <a:ext cx="53651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zh-CN" altLang="en-US" dirty="0"/>
              <a:t>传统制法是选用新鲜的牛腿包肉作料，去筋后切成块，放在大砧板上，用特制的方形锤刀两把（重量</a:t>
            </a:r>
            <a:r>
              <a:rPr lang="en-US" altLang="zh-CN" dirty="0"/>
              <a:t>3</a:t>
            </a:r>
            <a:r>
              <a:rPr lang="zh-CN" altLang="en-US" dirty="0"/>
              <a:t>公斤左右），上下不停地用力把牛腿肉槌成肉酱，加入少量雪粉、精盐、上等鱼露和味精，继续再槌</a:t>
            </a:r>
            <a:r>
              <a:rPr lang="en-US" altLang="zh-CN" dirty="0"/>
              <a:t>15</a:t>
            </a:r>
            <a:r>
              <a:rPr lang="zh-CN" altLang="en-US" dirty="0"/>
              <a:t>分钟，随后用大钵盛装，加入方鱼末、</a:t>
            </a:r>
            <a:r>
              <a:rPr lang="zh-CN" altLang="en-US" dirty="0">
                <a:hlinkClick r:id="rId3"/>
              </a:rPr>
              <a:t>白肉</a:t>
            </a:r>
            <a:r>
              <a:rPr lang="zh-CN" altLang="en-US" dirty="0"/>
              <a:t>粒和味精，拌匀，用手使劲搅挞，至肉浆粘手不掉下为止，然后用</a:t>
            </a:r>
            <a:r>
              <a:rPr lang="zh-CN" altLang="en-US" dirty="0">
                <a:hlinkClick r:id="rId4"/>
              </a:rPr>
              <a:t>手抓肉</a:t>
            </a:r>
            <a:r>
              <a:rPr lang="zh-CN" altLang="en-US" dirty="0"/>
              <a:t>浆，握紧拳挤成丸，用羹匙掏进温水盆里，再用慢火煮丸约</a:t>
            </a:r>
            <a:r>
              <a:rPr lang="en-US" altLang="zh-CN" dirty="0"/>
              <a:t>8</a:t>
            </a:r>
            <a:r>
              <a:rPr lang="zh-CN" altLang="en-US" dirty="0"/>
              <a:t>分钟，捞起</a:t>
            </a:r>
            <a:r>
              <a:rPr lang="zh-CN" altLang="en-US" dirty="0">
                <a:hlinkClick r:id="rId5"/>
              </a:rPr>
              <a:t>牛肉丸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5DCDBC-9F04-4184-92F6-D2F4546795AC}"/>
              </a:ext>
            </a:extLst>
          </p:cNvPr>
          <p:cNvSpPr txBox="1"/>
          <p:nvPr/>
        </p:nvSpPr>
        <p:spPr>
          <a:xfrm>
            <a:off x="4809301" y="5054160"/>
            <a:ext cx="50964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时用原汤和牛肉丸下锅煮至初沸（煮时水不能太沸，否则牛肉丸不爽滑），加入适量味精、芝麻油、胡椒粉和芹菜粒，配上沙茶酱或辣椒酱佐食。吃牛肉丸有不少人蘸辣椒酱，不过还是蘸本地特产沙茶酱最为地道</a:t>
            </a:r>
          </a:p>
        </p:txBody>
      </p:sp>
    </p:spTree>
    <p:extLst>
      <p:ext uri="{BB962C8B-B14F-4D97-AF65-F5344CB8AC3E}">
        <p14:creationId xmlns:p14="http://schemas.microsoft.com/office/powerpoint/2010/main" val="21295953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7CD9AAF-EEA0-4AB1-85BE-CF0051FEE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" y="0"/>
            <a:ext cx="121260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21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边形 8"/>
          <p:cNvSpPr/>
          <p:nvPr/>
        </p:nvSpPr>
        <p:spPr>
          <a:xfrm>
            <a:off x="0" y="-1"/>
            <a:ext cx="8134350" cy="6858001"/>
          </a:xfrm>
          <a:prstGeom prst="parallelogram">
            <a:avLst>
              <a:gd name="adj" fmla="val 65084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540" y="1771533"/>
            <a:ext cx="6858000" cy="4364181"/>
          </a:xfrm>
          <a:prstGeom prst="ellipse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62284" y="717151"/>
            <a:ext cx="5199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accent2">
                    <a:lumMod val="75000"/>
                  </a:schemeClr>
                </a:solidFill>
              </a:rPr>
              <a:t>           谢谢</a:t>
            </a:r>
          </a:p>
        </p:txBody>
      </p:sp>
      <p:sp>
        <p:nvSpPr>
          <p:cNvPr id="10" name="平行四边形 9"/>
          <p:cNvSpPr/>
          <p:nvPr/>
        </p:nvSpPr>
        <p:spPr>
          <a:xfrm>
            <a:off x="7274480" y="-1"/>
            <a:ext cx="4746070" cy="6858001"/>
          </a:xfrm>
          <a:prstGeom prst="parallelogram">
            <a:avLst>
              <a:gd name="adj" fmla="val 87963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782A3E-AA74-46D2-8BD5-C071491BABD1}"/>
              </a:ext>
            </a:extLst>
          </p:cNvPr>
          <p:cNvSpPr txBox="1"/>
          <p:nvPr/>
        </p:nvSpPr>
        <p:spPr>
          <a:xfrm>
            <a:off x="9281808" y="5343436"/>
            <a:ext cx="2537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  </a:t>
            </a:r>
            <a:r>
              <a:rPr lang="zh-CN" altLang="en-US" dirty="0">
                <a:solidFill>
                  <a:srgbClr val="FF0000"/>
                </a:solidFill>
              </a:rPr>
              <a:t>参考资料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         </a:t>
            </a:r>
            <a:r>
              <a:rPr lang="zh-CN" altLang="en-US" dirty="0"/>
              <a:t>百度百科</a:t>
            </a:r>
            <a:endParaRPr lang="en-US" altLang="zh-CN" dirty="0"/>
          </a:p>
          <a:p>
            <a:r>
              <a:rPr lang="en-US" altLang="zh-CN" dirty="0"/>
              <a:t>             </a:t>
            </a:r>
            <a:r>
              <a:rPr lang="zh-CN" altLang="en-US" dirty="0"/>
              <a:t>百度图片</a:t>
            </a:r>
          </a:p>
        </p:txBody>
      </p:sp>
    </p:spTree>
    <p:extLst>
      <p:ext uri="{BB962C8B-B14F-4D97-AF65-F5344CB8AC3E}">
        <p14:creationId xmlns:p14="http://schemas.microsoft.com/office/powerpoint/2010/main" val="4081641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自定义 3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FFC000"/>
      </a:accent2>
      <a:accent3>
        <a:srgbClr val="80C72B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plus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Words>1757</Words>
  <Application>Microsoft Office PowerPoint</Application>
  <PresentationFormat>宽屏</PresentationFormat>
  <Paragraphs>49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威</cp:lastModifiedBy>
  <cp:revision>35</cp:revision>
  <dcterms:created xsi:type="dcterms:W3CDTF">2015-09-01T07:17:57Z</dcterms:created>
  <dcterms:modified xsi:type="dcterms:W3CDTF">2017-10-02T23:30:28Z</dcterms:modified>
</cp:coreProperties>
</file>
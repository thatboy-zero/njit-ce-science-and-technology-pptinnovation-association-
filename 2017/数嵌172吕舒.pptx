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3" r:id="rId9"/>
    <p:sldId id="269" r:id="rId10"/>
    <p:sldId id="270" r:id="rId11"/>
    <p:sldId id="272" r:id="rId12"/>
    <p:sldId id="27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7.xml"/><Relationship Id="rId3" Type="http://schemas.openxmlformats.org/officeDocument/2006/relationships/slide" Target="slide6.xml"/><Relationship Id="rId2" Type="http://schemas.openxmlformats.org/officeDocument/2006/relationships/slide" Target="slide5.xml"/><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11.pn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slide" Target="slide3.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20.png"/><Relationship Id="rId4" Type="http://schemas.openxmlformats.org/officeDocument/2006/relationships/image" Target="../media/image19.jpeg"/><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slide" Target="slide3.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9.GIF"/><Relationship Id="rId4" Type="http://schemas.openxmlformats.org/officeDocument/2006/relationships/hyperlink" Target="http://www.iqiyi.com/w_19rvm5qkmx.html" TargetMode="External"/><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3.jpeg"/><Relationship Id="rId4" Type="http://schemas.openxmlformats.org/officeDocument/2006/relationships/image" Target="../media/image32.jpeg"/><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hyperlink" Target="http://www.iqiyi.com/w_19rrtnej11.html"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download"/>
          <p:cNvPicPr>
            <a:picLocks noChangeAspect="1"/>
          </p:cNvPicPr>
          <p:nvPr/>
        </p:nvPicPr>
        <p:blipFill>
          <a:blip r:embed="rId1"/>
          <a:stretch>
            <a:fillRect/>
          </a:stretch>
        </p:blipFill>
        <p:spPr>
          <a:xfrm>
            <a:off x="635" y="-4445"/>
            <a:ext cx="12419965" cy="6854190"/>
          </a:xfrm>
          <a:prstGeom prst="rect">
            <a:avLst/>
          </a:prstGeom>
        </p:spPr>
      </p:pic>
      <p:sp>
        <p:nvSpPr>
          <p:cNvPr id="2" name="标题 1"/>
          <p:cNvSpPr>
            <a:spLocks noGrp="1"/>
          </p:cNvSpPr>
          <p:nvPr>
            <p:ph type="ctrTitle"/>
          </p:nvPr>
        </p:nvSpPr>
        <p:spPr>
          <a:xfrm>
            <a:off x="-187960" y="1920240"/>
            <a:ext cx="8093710" cy="1456055"/>
          </a:xfrm>
        </p:spPr>
        <p:txBody>
          <a:bodyPr>
            <a:normAutofit/>
          </a:bodyPr>
          <a:p>
            <a:r>
              <a:rPr lang="en-US" altLang="zh-CN">
                <a:ln w="12700">
                  <a:solidFill>
                    <a:schemeClr val="accent5"/>
                  </a:solidFill>
                  <a:prstDash val="solid"/>
                </a:ln>
                <a:pattFill prst="ltDnDiag">
                  <a:fgClr>
                    <a:schemeClr val="accent5">
                      <a:lumMod val="60000"/>
                      <a:lumOff val="40000"/>
                    </a:schemeClr>
                  </a:fgClr>
                  <a:bgClr>
                    <a:schemeClr val="bg1"/>
                  </a:bgClr>
                </a:pattFill>
                <a:effectLst/>
              </a:rPr>
              <a:t>       </a:t>
            </a:r>
            <a:r>
              <a:rPr lang="zh-CN" altLang="en-US">
                <a:ln w="12700">
                  <a:solidFill>
                    <a:schemeClr val="accent5"/>
                  </a:solidFill>
                  <a:prstDash val="solid"/>
                </a:ln>
                <a:pattFill prst="ltDnDiag">
                  <a:fgClr>
                    <a:schemeClr val="accent5">
                      <a:lumMod val="60000"/>
                      <a:lumOff val="40000"/>
                    </a:schemeClr>
                  </a:fgClr>
                  <a:bgClr>
                    <a:schemeClr val="bg1"/>
                  </a:bgClr>
                </a:pattFill>
                <a:effectLst/>
              </a:rPr>
              <a:t>旅游地简介</a:t>
            </a:r>
            <a:endParaRPr lang="zh-CN" altLang="en-US">
              <a:ln w="12700">
                <a:solidFill>
                  <a:schemeClr val="accent5"/>
                </a:solidFill>
                <a:prstDash val="solid"/>
              </a:ln>
              <a:pattFill prst="ltDnDiag">
                <a:fgClr>
                  <a:schemeClr val="accent5">
                    <a:lumMod val="60000"/>
                    <a:lumOff val="40000"/>
                  </a:schemeClr>
                </a:fgClr>
                <a:bgClr>
                  <a:schemeClr val="bg1"/>
                </a:bgClr>
              </a:pattFill>
              <a:effectLst/>
            </a:endParaRPr>
          </a:p>
        </p:txBody>
      </p:sp>
      <p:sp>
        <p:nvSpPr>
          <p:cNvPr id="3" name="副标题 2"/>
          <p:cNvSpPr>
            <a:spLocks noGrp="1"/>
          </p:cNvSpPr>
          <p:nvPr>
            <p:ph type="subTitle" idx="1"/>
          </p:nvPr>
        </p:nvSpPr>
        <p:spPr>
          <a:xfrm>
            <a:off x="6591935" y="4598035"/>
            <a:ext cx="3810635" cy="1008380"/>
          </a:xfrm>
        </p:spPr>
        <p:txBody>
          <a:bodyPr/>
          <a:p>
            <a:r>
              <a:rPr lang="zh-CN" altLang="en-US" sz="2000"/>
              <a:t>制作人：吕舒</a:t>
            </a:r>
            <a:endParaRPr lang="zh-CN" altLang="en-US" sz="2000"/>
          </a:p>
          <a:p>
            <a:r>
              <a:rPr lang="zh-CN" altLang="en-US" sz="2000"/>
              <a:t>班级：数嵌</a:t>
            </a:r>
            <a:r>
              <a:rPr lang="en-US" altLang="zh-CN" sz="2000"/>
              <a:t>172</a:t>
            </a:r>
            <a:endParaRPr lang="en-US" altLang="zh-CN"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2" name="图片 11" descr="2"/>
          <p:cNvPicPr>
            <a:picLocks noChangeAspect="1"/>
          </p:cNvPicPr>
          <p:nvPr/>
        </p:nvPicPr>
        <p:blipFill>
          <a:blip r:embed="rId1"/>
          <a:stretch>
            <a:fillRect/>
          </a:stretch>
        </p:blipFill>
        <p:spPr>
          <a:xfrm>
            <a:off x="474345" y="284480"/>
            <a:ext cx="3152140" cy="2431415"/>
          </a:xfrm>
          <a:prstGeom prst="rect">
            <a:avLst/>
          </a:prstGeom>
        </p:spPr>
      </p:pic>
      <p:pic>
        <p:nvPicPr>
          <p:cNvPr id="14" name="内容占位符 13" descr="3"/>
          <p:cNvPicPr>
            <a:picLocks noChangeAspect="1"/>
          </p:cNvPicPr>
          <p:nvPr>
            <p:ph idx="1"/>
          </p:nvPr>
        </p:nvPicPr>
        <p:blipFill>
          <a:blip r:embed="rId2"/>
          <a:stretch>
            <a:fillRect/>
          </a:stretch>
        </p:blipFill>
        <p:spPr>
          <a:xfrm>
            <a:off x="4091940" y="285750"/>
            <a:ext cx="3362960" cy="2430780"/>
          </a:xfrm>
          <a:prstGeom prst="rect">
            <a:avLst/>
          </a:prstGeom>
        </p:spPr>
      </p:pic>
      <p:pic>
        <p:nvPicPr>
          <p:cNvPr id="15" name="图片 14" descr="4"/>
          <p:cNvPicPr>
            <a:picLocks noChangeAspect="1"/>
          </p:cNvPicPr>
          <p:nvPr/>
        </p:nvPicPr>
        <p:blipFill>
          <a:blip r:embed="rId3"/>
          <a:stretch>
            <a:fillRect/>
          </a:stretch>
        </p:blipFill>
        <p:spPr>
          <a:xfrm>
            <a:off x="7833360" y="284480"/>
            <a:ext cx="3529330" cy="2432050"/>
          </a:xfrm>
          <a:prstGeom prst="rect">
            <a:avLst/>
          </a:prstGeom>
        </p:spPr>
      </p:pic>
      <p:pic>
        <p:nvPicPr>
          <p:cNvPr id="16" name="图片 15" descr="5"/>
          <p:cNvPicPr>
            <a:picLocks noChangeAspect="1"/>
          </p:cNvPicPr>
          <p:nvPr/>
        </p:nvPicPr>
        <p:blipFill>
          <a:blip r:embed="rId4"/>
          <a:stretch>
            <a:fillRect/>
          </a:stretch>
        </p:blipFill>
        <p:spPr>
          <a:xfrm>
            <a:off x="474345" y="2905125"/>
            <a:ext cx="5670550" cy="3766185"/>
          </a:xfrm>
          <a:prstGeom prst="rect">
            <a:avLst/>
          </a:prstGeom>
        </p:spPr>
      </p:pic>
      <p:pic>
        <p:nvPicPr>
          <p:cNvPr id="17" name="图片 16" descr="6"/>
          <p:cNvPicPr>
            <a:picLocks noChangeAspect="1"/>
          </p:cNvPicPr>
          <p:nvPr/>
        </p:nvPicPr>
        <p:blipFill>
          <a:blip r:embed="rId5"/>
          <a:stretch>
            <a:fillRect/>
          </a:stretch>
        </p:blipFill>
        <p:spPr>
          <a:xfrm>
            <a:off x="6223635" y="2905125"/>
            <a:ext cx="5579110" cy="37661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checker/>
      </p:transition>
    </mc:Choice>
    <mc:Fallback>
      <p:transition>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diamond(in)">
                                      <p:cBhvr>
                                        <p:cTn id="13" dur="20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ppt_w</p:attrName>
                                        </p:attrNameLst>
                                      </p:cBhvr>
                                      <p:tavLst>
                                        <p:tav tm="0">
                                          <p:val>
                                            <p:fltVal val="0"/>
                                          </p:val>
                                        </p:tav>
                                        <p:tav tm="100000">
                                          <p:val>
                                            <p:strVal val="#ppt_w"/>
                                          </p:val>
                                        </p:tav>
                                      </p:tavLst>
                                    </p:anim>
                                    <p:anim calcmode="lin" valueType="num">
                                      <p:cBhvr>
                                        <p:cTn id="19"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dissolv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p:cTn id="29" dur="500" fill="hold"/>
                                        <p:tgtEl>
                                          <p:spTgt spid="17"/>
                                        </p:tgtEl>
                                        <p:attrNameLst>
                                          <p:attrName>ppt_w</p:attrName>
                                        </p:attrNameLst>
                                      </p:cBhvr>
                                      <p:tavLst>
                                        <p:tav tm="0">
                                          <p:val>
                                            <p:fltVal val="0"/>
                                          </p:val>
                                        </p:tav>
                                        <p:tav tm="100000">
                                          <p:val>
                                            <p:strVal val="#ppt_w"/>
                                          </p:val>
                                        </p:tav>
                                      </p:tavLst>
                                    </p:anim>
                                    <p:anim calcmode="lin" valueType="num">
                                      <p:cBhvr>
                                        <p:cTn id="30" dur="500" fill="hold"/>
                                        <p:tgtEl>
                                          <p:spTgt spid="17"/>
                                        </p:tgtEl>
                                        <p:attrNameLst>
                                          <p:attrName>ppt_h</p:attrName>
                                        </p:attrNameLst>
                                      </p:cBhvr>
                                      <p:tavLst>
                                        <p:tav tm="0">
                                          <p:val>
                                            <p:fltVal val="0"/>
                                          </p:val>
                                        </p:tav>
                                        <p:tav tm="100000">
                                          <p:val>
                                            <p:strVal val="#ppt_h"/>
                                          </p:val>
                                        </p:tav>
                                      </p:tavLst>
                                    </p:anim>
                                    <p:animEffect transition="in" filter="fade">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5"/>
          <p:cNvPicPr>
            <a:picLocks noChangeAspect="1"/>
          </p:cNvPicPr>
          <p:nvPr/>
        </p:nvPicPr>
        <p:blipFill>
          <a:blip r:embed="rId1"/>
          <a:stretch>
            <a:fillRect/>
          </a:stretch>
        </p:blipFill>
        <p:spPr>
          <a:xfrm>
            <a:off x="838200" y="-5715"/>
            <a:ext cx="11336020" cy="6880860"/>
          </a:xfrm>
          <a:prstGeom prst="rect">
            <a:avLst/>
          </a:prstGeom>
        </p:spPr>
      </p:pic>
      <p:sp>
        <p:nvSpPr>
          <p:cNvPr id="2" name="标题 1"/>
          <p:cNvSpPr>
            <a:spLocks noGrp="1"/>
          </p:cNvSpPr>
          <p:nvPr>
            <p:ph type="title"/>
          </p:nvPr>
        </p:nvSpPr>
        <p:spPr/>
        <p:txBody>
          <a:bodyPr/>
          <a:p>
            <a:r>
              <a:rPr lang="zh-CN" altLang="en-US"/>
              <a:t>世界十大旅游胜地</a:t>
            </a:r>
            <a:endParaRPr lang="zh-CN" altLang="en-US"/>
          </a:p>
        </p:txBody>
      </p:sp>
      <p:sp>
        <p:nvSpPr>
          <p:cNvPr id="3" name="内容占位符 2"/>
          <p:cNvSpPr>
            <a:spLocks noGrp="1"/>
          </p:cNvSpPr>
          <p:nvPr>
            <p:ph idx="1"/>
          </p:nvPr>
        </p:nvSpPr>
        <p:spPr/>
        <p:txBody>
          <a:bodyPr>
            <a:normAutofit fontScale="90000" lnSpcReduction="10000"/>
          </a:bodyPr>
          <a:p>
            <a:r>
              <a:rPr lang="zh-CN" altLang="en-US">
                <a:hlinkClick r:id="" action="ppaction://hlinkshowjump?jump=nextslide"/>
              </a:rPr>
              <a:t>最经典</a:t>
            </a:r>
            <a:r>
              <a:rPr lang="en-US" altLang="zh-CN">
                <a:hlinkClick r:id="" action="ppaction://hlinkshowjump?jump=nextslide"/>
              </a:rPr>
              <a:t>-----</a:t>
            </a:r>
            <a:r>
              <a:rPr lang="zh-CN" altLang="en-US">
                <a:hlinkClick r:id="" action="ppaction://hlinkshowjump?jump=nextslide"/>
              </a:rPr>
              <a:t>马尔代夫</a:t>
            </a:r>
            <a:endParaRPr lang="zh-CN" altLang="en-US">
              <a:hlinkClick r:id="" action="ppaction://hlinkshowjump?jump=nextslide"/>
            </a:endParaRPr>
          </a:p>
          <a:p>
            <a:r>
              <a:rPr lang="zh-CN" altLang="en-US"/>
              <a:t>最私密</a:t>
            </a:r>
            <a:r>
              <a:rPr lang="en-US" altLang="zh-CN"/>
              <a:t>-----</a:t>
            </a:r>
            <a:r>
              <a:rPr lang="zh-CN" altLang="en-US"/>
              <a:t>塞舌尔</a:t>
            </a:r>
            <a:endParaRPr lang="zh-CN" altLang="en-US"/>
          </a:p>
          <a:p>
            <a:r>
              <a:rPr lang="zh-CN" altLang="en-US">
                <a:hlinkClick r:id="rId2" action="ppaction://hlinksldjump"/>
              </a:rPr>
              <a:t>最多元</a:t>
            </a:r>
            <a:r>
              <a:rPr lang="en-US" altLang="zh-CN">
                <a:hlinkClick r:id="rId2" action="ppaction://hlinksldjump"/>
              </a:rPr>
              <a:t>-----</a:t>
            </a:r>
            <a:r>
              <a:rPr lang="zh-CN" altLang="en-US">
                <a:hlinkClick r:id="rId2" action="ppaction://hlinksldjump"/>
              </a:rPr>
              <a:t>毛里求斯</a:t>
            </a:r>
            <a:endParaRPr lang="zh-CN" altLang="en-US"/>
          </a:p>
          <a:p>
            <a:r>
              <a:rPr lang="zh-CN" altLang="en-US"/>
              <a:t>最原生态</a:t>
            </a:r>
            <a:r>
              <a:rPr lang="en-US" altLang="zh-CN"/>
              <a:t>-----</a:t>
            </a:r>
            <a:r>
              <a:rPr lang="zh-CN" altLang="en-US"/>
              <a:t>马来西亚</a:t>
            </a:r>
            <a:endParaRPr lang="zh-CN" altLang="en-US"/>
          </a:p>
          <a:p>
            <a:r>
              <a:rPr lang="zh-CN" altLang="en-US">
                <a:hlinkClick r:id="rId3" action="ppaction://hlinksldjump"/>
              </a:rPr>
              <a:t>最奢华</a:t>
            </a:r>
            <a:r>
              <a:rPr lang="en-US" altLang="zh-CN">
                <a:hlinkClick r:id="rId3" action="ppaction://hlinksldjump"/>
              </a:rPr>
              <a:t>-----</a:t>
            </a:r>
            <a:r>
              <a:rPr lang="zh-CN" altLang="en-US">
                <a:hlinkClick r:id="rId3" action="ppaction://hlinksldjump"/>
              </a:rPr>
              <a:t>阿联酋</a:t>
            </a:r>
            <a:endParaRPr lang="zh-CN" altLang="en-US"/>
          </a:p>
          <a:p>
            <a:r>
              <a:rPr lang="zh-CN" altLang="en-US"/>
              <a:t>最壮美</a:t>
            </a:r>
            <a:r>
              <a:rPr lang="en-US" altLang="zh-CN"/>
              <a:t>-----</a:t>
            </a:r>
            <a:r>
              <a:rPr lang="zh-CN" altLang="en-US"/>
              <a:t>肯尼亚</a:t>
            </a:r>
            <a:endParaRPr lang="zh-CN" altLang="en-US"/>
          </a:p>
          <a:p>
            <a:r>
              <a:rPr lang="zh-CN" altLang="en-US"/>
              <a:t>最文艺</a:t>
            </a:r>
            <a:r>
              <a:rPr lang="en-US" altLang="zh-CN"/>
              <a:t>-----</a:t>
            </a:r>
            <a:r>
              <a:rPr lang="zh-CN" altLang="en-US"/>
              <a:t>意大利</a:t>
            </a:r>
            <a:endParaRPr lang="zh-CN" altLang="en-US"/>
          </a:p>
          <a:p>
            <a:r>
              <a:rPr lang="zh-CN" altLang="en-US">
                <a:hlinkClick r:id="rId4" action="ppaction://hlinksldjump"/>
              </a:rPr>
              <a:t>最典雅</a:t>
            </a:r>
            <a:r>
              <a:rPr lang="en-US" altLang="zh-CN">
                <a:hlinkClick r:id="rId4" action="ppaction://hlinksldjump"/>
              </a:rPr>
              <a:t>-----</a:t>
            </a:r>
            <a:r>
              <a:rPr lang="zh-CN" altLang="en-US">
                <a:hlinkClick r:id="rId4" action="ppaction://hlinksldjump"/>
              </a:rPr>
              <a:t>爱尔兰</a:t>
            </a:r>
            <a:endParaRPr lang="zh-CN" altLang="en-US"/>
          </a:p>
          <a:p>
            <a:r>
              <a:rPr lang="zh-CN" altLang="en-US"/>
              <a:t>最迷人</a:t>
            </a:r>
            <a:r>
              <a:rPr lang="en-US" altLang="zh-CN"/>
              <a:t>-----</a:t>
            </a:r>
            <a:r>
              <a:rPr lang="zh-CN" altLang="en-US"/>
              <a:t>泰国</a:t>
            </a:r>
            <a:endParaRPr lang="zh-CN" altLang="en-US"/>
          </a:p>
          <a:p>
            <a:r>
              <a:rPr lang="zh-CN" altLang="en-US">
                <a:hlinkClick r:id="rId5" action="ppaction://hlinksldjump"/>
              </a:rPr>
              <a:t>最生动</a:t>
            </a:r>
            <a:r>
              <a:rPr lang="en-US" altLang="zh-CN">
                <a:hlinkClick r:id="rId5" action="ppaction://hlinksldjump"/>
              </a:rPr>
              <a:t>-----</a:t>
            </a:r>
            <a:r>
              <a:rPr lang="zh-CN" altLang="en-US">
                <a:hlinkClick r:id="rId5" action="ppaction://hlinksldjump"/>
              </a:rPr>
              <a:t>南非</a:t>
            </a:r>
            <a:endParaRPr lang="zh-CN" altLang="en-US"/>
          </a:p>
          <a:p>
            <a:endParaRPr lang="zh-CN" altLang="en-US"/>
          </a:p>
        </p:txBody>
      </p:sp>
    </p:spTree>
  </p:cSld>
  <p:clrMapOvr>
    <a:masterClrMapping/>
  </p:clrMapOvr>
  <p:transition>
    <p:checke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p:sp>
        <p:nvSpPr>
          <p:cNvPr id="2" name="标题 1"/>
          <p:cNvSpPr>
            <a:spLocks noGrp="1"/>
          </p:cNvSpPr>
          <p:nvPr>
            <p:ph type="title"/>
          </p:nvPr>
        </p:nvSpPr>
        <p:spPr/>
        <p:txBody>
          <a:bodyPr/>
          <a:p>
            <a:r>
              <a:rPr lang="zh-CN" altLang="en-US"/>
              <a:t>最经典</a:t>
            </a:r>
            <a:r>
              <a:rPr lang="en-US" altLang="zh-CN"/>
              <a:t>-----</a:t>
            </a:r>
            <a:r>
              <a:rPr lang="zh-CN" altLang="en-US"/>
              <a:t>马尔代夫</a:t>
            </a:r>
            <a:endParaRPr lang="zh-CN" altLang="en-US"/>
          </a:p>
        </p:txBody>
      </p:sp>
      <p:pic>
        <p:nvPicPr>
          <p:cNvPr id="4" name="内容占位符 3" descr="1"/>
          <p:cNvPicPr>
            <a:picLocks noChangeAspect="1"/>
          </p:cNvPicPr>
          <p:nvPr>
            <p:ph idx="1"/>
          </p:nvPr>
        </p:nvPicPr>
        <p:blipFill>
          <a:blip r:embed="rId1"/>
          <a:stretch>
            <a:fillRect/>
          </a:stretch>
        </p:blipFill>
        <p:spPr>
          <a:xfrm>
            <a:off x="381000" y="1409700"/>
            <a:ext cx="3480435" cy="2391410"/>
          </a:xfrm>
          <a:prstGeom prst="rect">
            <a:avLst/>
          </a:prstGeom>
        </p:spPr>
      </p:pic>
      <p:pic>
        <p:nvPicPr>
          <p:cNvPr id="5" name="图片 4" descr="2"/>
          <p:cNvPicPr>
            <a:picLocks noChangeAspect="1"/>
          </p:cNvPicPr>
          <p:nvPr/>
        </p:nvPicPr>
        <p:blipFill>
          <a:blip r:embed="rId2"/>
          <a:stretch>
            <a:fillRect/>
          </a:stretch>
        </p:blipFill>
        <p:spPr>
          <a:xfrm>
            <a:off x="4239260" y="1409700"/>
            <a:ext cx="3714115" cy="2390775"/>
          </a:xfrm>
          <a:prstGeom prst="rect">
            <a:avLst/>
          </a:prstGeom>
        </p:spPr>
      </p:pic>
      <p:pic>
        <p:nvPicPr>
          <p:cNvPr id="6" name="图片 5" descr="3"/>
          <p:cNvPicPr>
            <a:picLocks noChangeAspect="1"/>
          </p:cNvPicPr>
          <p:nvPr/>
        </p:nvPicPr>
        <p:blipFill>
          <a:blip r:embed="rId3"/>
          <a:stretch>
            <a:fillRect/>
          </a:stretch>
        </p:blipFill>
        <p:spPr>
          <a:xfrm>
            <a:off x="8388985" y="1409065"/>
            <a:ext cx="3433445" cy="2391410"/>
          </a:xfrm>
          <a:prstGeom prst="rect">
            <a:avLst/>
          </a:prstGeom>
        </p:spPr>
      </p:pic>
      <p:sp>
        <p:nvSpPr>
          <p:cNvPr id="7" name="文本框 6"/>
          <p:cNvSpPr txBox="1"/>
          <p:nvPr/>
        </p:nvSpPr>
        <p:spPr>
          <a:xfrm>
            <a:off x="363220" y="4028440"/>
            <a:ext cx="11437620" cy="2030095"/>
          </a:xfrm>
          <a:prstGeom prst="rect">
            <a:avLst/>
          </a:prstGeom>
          <a:noFill/>
        </p:spPr>
        <p:txBody>
          <a:bodyPr wrap="square" rtlCol="0">
            <a:spAutoFit/>
          </a:bodyPr>
          <a:p>
            <a:r>
              <a:rPr lang="zh-CN" altLang="en-US">
                <a:latin typeface="仿宋" panose="02010609060101010101" charset="-122"/>
                <a:ea typeface="仿宋" panose="02010609060101010101" charset="-122"/>
              </a:rPr>
              <a:t>马尔代夫</a:t>
            </a:r>
            <a:r>
              <a:rPr lang="en-US" altLang="zh-CN">
                <a:latin typeface="仿宋" panose="02010609060101010101" charset="-122"/>
                <a:ea typeface="仿宋" panose="02010609060101010101" charset="-122"/>
              </a:rPr>
              <a:t>——</a:t>
            </a:r>
            <a:r>
              <a:rPr lang="zh-CN" altLang="en-US">
                <a:latin typeface="仿宋" panose="02010609060101010101" charset="-122"/>
                <a:ea typeface="仿宋" panose="02010609060101010101" charset="-122"/>
              </a:rPr>
              <a:t>位于南亚印度洋上，是世界上最大的珊瑚群岛，同时是亚洲最小的国家。</a:t>
            </a:r>
            <a:endParaRPr lang="zh-CN" altLang="en-US">
              <a:latin typeface="仿宋" panose="02010609060101010101" charset="-122"/>
              <a:ea typeface="仿宋" panose="02010609060101010101" charset="-122"/>
            </a:endParaRPr>
          </a:p>
          <a:p>
            <a:r>
              <a:rPr lang="zh-CN" altLang="en-US">
                <a:latin typeface="仿宋" panose="02010609060101010101" charset="-122"/>
                <a:ea typeface="仿宋" panose="02010609060101010101" charset="-122"/>
              </a:rPr>
              <a:t>                          马尔代夫拥有热季与热雨两种气候类型，全年雨水充沛，年温差小年均气温为</a:t>
            </a:r>
            <a:r>
              <a:rPr lang="en-US" altLang="zh-CN">
                <a:latin typeface="仿宋" panose="02010609060101010101" charset="-122"/>
                <a:ea typeface="仿宋" panose="02010609060101010101" charset="-122"/>
              </a:rPr>
              <a:t>28℃</a:t>
            </a:r>
            <a:r>
              <a:rPr lang="zh-CN" altLang="en-US">
                <a:latin typeface="仿宋" panose="02010609060101010101" charset="-122"/>
                <a:ea typeface="仿宋" panose="02010609060101010101" charset="-122"/>
              </a:rPr>
              <a:t>。</a:t>
            </a:r>
            <a:endParaRPr lang="zh-CN" altLang="en-US">
              <a:latin typeface="仿宋" panose="02010609060101010101" charset="-122"/>
              <a:ea typeface="仿宋" panose="02010609060101010101" charset="-122"/>
            </a:endParaRPr>
          </a:p>
          <a:p>
            <a:r>
              <a:rPr lang="zh-CN" altLang="en-US">
                <a:latin typeface="仿宋" panose="02010609060101010101" charset="-122"/>
                <a:ea typeface="仿宋" panose="02010609060101010101" charset="-122"/>
              </a:rPr>
              <a:t>                          马尔代夫及周围水域拥有</a:t>
            </a:r>
            <a:r>
              <a:rPr lang="en-US" altLang="zh-CN">
                <a:latin typeface="仿宋" panose="02010609060101010101" charset="-122"/>
                <a:ea typeface="仿宋" panose="02010609060101010101" charset="-122"/>
              </a:rPr>
              <a:t>700</a:t>
            </a:r>
            <a:r>
              <a:rPr lang="zh-CN" altLang="en-US">
                <a:latin typeface="仿宋" panose="02010609060101010101" charset="-122"/>
                <a:ea typeface="仿宋" panose="02010609060101010101" charset="-122"/>
              </a:rPr>
              <a:t>多种热带鱼类以及各种海龟、玳瑁、珊瑚、贝壳。</a:t>
            </a:r>
            <a:endParaRPr lang="zh-CN" altLang="en-US">
              <a:latin typeface="仿宋" panose="02010609060101010101" charset="-122"/>
              <a:ea typeface="仿宋" panose="02010609060101010101" charset="-122"/>
            </a:endParaRPr>
          </a:p>
          <a:p>
            <a:endParaRPr lang="zh-CN" altLang="en-US"/>
          </a:p>
          <a:p>
            <a:endParaRPr lang="zh-CN" altLang="en-US"/>
          </a:p>
          <a:p>
            <a:r>
              <a:rPr lang="zh-CN" altLang="en-US">
                <a:latin typeface="仿宋" panose="02010609060101010101" charset="-122"/>
                <a:ea typeface="仿宋" panose="02010609060101010101" charset="-122"/>
              </a:rPr>
              <a:t>正是因为其独特的地理位置、适宜的气候、丰富的海洋资源，马尔代夫才能成为极负盛名的旅游胜地。碧水蓝天也成为了经典。</a:t>
            </a:r>
            <a:endParaRPr lang="zh-CN" altLang="en-US">
              <a:latin typeface="仿宋" panose="02010609060101010101" charset="-122"/>
              <a:ea typeface="仿宋" panose="02010609060101010101" charset="-122"/>
            </a:endParaRPr>
          </a:p>
        </p:txBody>
      </p:sp>
      <p:pic>
        <p:nvPicPr>
          <p:cNvPr id="9" name="图片 8" descr="0df3d7ca7bcb0a467b9c04366b63f6246b60af07"/>
          <p:cNvPicPr>
            <a:picLocks noChangeAspect="1"/>
          </p:cNvPicPr>
          <p:nvPr/>
        </p:nvPicPr>
        <p:blipFill>
          <a:blip r:embed="rId4"/>
          <a:stretch>
            <a:fillRect/>
          </a:stretch>
        </p:blipFill>
        <p:spPr>
          <a:xfrm>
            <a:off x="5838190" y="558800"/>
            <a:ext cx="867410" cy="683260"/>
          </a:xfrm>
          <a:prstGeom prst="rect">
            <a:avLst/>
          </a:prstGeom>
        </p:spPr>
      </p:pic>
      <p:sp>
        <p:nvSpPr>
          <p:cNvPr id="8" name="右箭头 7">
            <a:hlinkClick r:id="rId5" action="ppaction://hlinksldjump"/>
          </p:cNvPr>
          <p:cNvSpPr/>
          <p:nvPr/>
        </p:nvSpPr>
        <p:spPr>
          <a:xfrm>
            <a:off x="11142980" y="6257925"/>
            <a:ext cx="438150" cy="31432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p:tgtEl>
                                          <p:spTgt spid="4"/>
                                        </p:tgtEl>
                                        <p:attrNameLst>
                                          <p:attrName>ppt_y</p:attrName>
                                        </p:attrNameLst>
                                      </p:cBhvr>
                                      <p:tavLst>
                                        <p:tav tm="0">
                                          <p:val>
                                            <p:strVal val="#ppt_y+#ppt_h*1.125000"/>
                                          </p:val>
                                        </p:tav>
                                        <p:tav tm="100000">
                                          <p:val>
                                            <p:strVal val="#ppt_y"/>
                                          </p:val>
                                        </p:tav>
                                      </p:tavLst>
                                    </p:anim>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p:tgtEl>
                                          <p:spTgt spid="5"/>
                                        </p:tgtEl>
                                        <p:attrNameLst>
                                          <p:attrName>ppt_y</p:attrName>
                                        </p:attrNameLst>
                                      </p:cBhvr>
                                      <p:tavLst>
                                        <p:tav tm="0">
                                          <p:val>
                                            <p:strVal val="#ppt_y+#ppt_h*1.125000"/>
                                          </p:val>
                                        </p:tav>
                                        <p:tav tm="100000">
                                          <p:val>
                                            <p:strVal val="#ppt_y"/>
                                          </p:val>
                                        </p:tav>
                                      </p:tavLst>
                                    </p:anim>
                                    <p:animEffect transition="in" filter="wipe(up)">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p:tgtEl>
                                          <p:spTgt spid="6"/>
                                        </p:tgtEl>
                                        <p:attrNameLst>
                                          <p:attrName>ppt_y</p:attrName>
                                        </p:attrNameLst>
                                      </p:cBhvr>
                                      <p:tavLst>
                                        <p:tav tm="0">
                                          <p:val>
                                            <p:strVal val="#ppt_y+#ppt_h*1.125000"/>
                                          </p:val>
                                        </p:tav>
                                        <p:tav tm="100000">
                                          <p:val>
                                            <p:strVal val="#ppt_y"/>
                                          </p:val>
                                        </p:tav>
                                      </p:tavLst>
                                    </p:anim>
                                    <p:animEffect transition="in" filter="wipe(up)">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32" dur="500"/>
                                        <p:tgtEl>
                                          <p:spTgt spid="7">
                                            <p:txEl>
                                              <p:pRg st="0" end="0"/>
                                            </p:txEl>
                                          </p:spTgt>
                                        </p:tgtEl>
                                      </p:cBhvr>
                                    </p:animEffect>
                                  </p:childTnLst>
                                </p:cTn>
                              </p:par>
                              <p:par>
                                <p:cTn id="33" presetID="12" presetClass="entr" presetSubtype="4" fill="hold" nodeType="withEffect">
                                  <p:stCondLst>
                                    <p:cond delay="0"/>
                                  </p:stCondLst>
                                  <p:childTnLst>
                                    <p:set>
                                      <p:cBhvr>
                                        <p:cTn id="34" dur="1" fill="hold">
                                          <p:stCondLst>
                                            <p:cond delay="0"/>
                                          </p:stCondLst>
                                        </p:cTn>
                                        <p:tgtEl>
                                          <p:spTgt spid="7">
                                            <p:txEl>
                                              <p:pRg st="1" end="1"/>
                                            </p:txEl>
                                          </p:spTgt>
                                        </p:tgtEl>
                                        <p:attrNameLst>
                                          <p:attrName>style.visibility</p:attrName>
                                        </p:attrNameLst>
                                      </p:cBhvr>
                                      <p:to>
                                        <p:strVal val="visible"/>
                                      </p:to>
                                    </p:set>
                                    <p:anim calcmode="lin" valueType="num">
                                      <p:cBhvr additive="base">
                                        <p:cTn id="35" dur="500"/>
                                        <p:tgtEl>
                                          <p:spTgt spid="7">
                                            <p:txEl>
                                              <p:pRg st="1" end="1"/>
                                            </p:txEl>
                                          </p:spTgt>
                                        </p:tgtEl>
                                        <p:attrNameLst>
                                          <p:attrName>ppt_y</p:attrName>
                                        </p:attrNameLst>
                                      </p:cBhvr>
                                      <p:tavLst>
                                        <p:tav tm="0">
                                          <p:val>
                                            <p:strVal val="#ppt_y+#ppt_h*1.125000"/>
                                          </p:val>
                                        </p:tav>
                                        <p:tav tm="100000">
                                          <p:val>
                                            <p:strVal val="#ppt_y"/>
                                          </p:val>
                                        </p:tav>
                                      </p:tavLst>
                                    </p:anim>
                                    <p:animEffect transition="in" filter="wipe(up)">
                                      <p:cBhvr>
                                        <p:cTn id="36" dur="500"/>
                                        <p:tgtEl>
                                          <p:spTgt spid="7">
                                            <p:txEl>
                                              <p:pRg st="1" end="1"/>
                                            </p:txEl>
                                          </p:spTgt>
                                        </p:tgtEl>
                                      </p:cBhvr>
                                    </p:animEffect>
                                  </p:childTnLst>
                                </p:cTn>
                              </p:par>
                              <p:par>
                                <p:cTn id="37" presetID="12" presetClass="entr" presetSubtype="4" fill="hold" nodeType="with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anim calcmode="lin" valueType="num">
                                      <p:cBhvr additive="base">
                                        <p:cTn id="39" dur="500"/>
                                        <p:tgtEl>
                                          <p:spTgt spid="7">
                                            <p:txEl>
                                              <p:pRg st="2" end="2"/>
                                            </p:txEl>
                                          </p:spTgt>
                                        </p:tgtEl>
                                        <p:attrNameLst>
                                          <p:attrName>ppt_y</p:attrName>
                                        </p:attrNameLst>
                                      </p:cBhvr>
                                      <p:tavLst>
                                        <p:tav tm="0">
                                          <p:val>
                                            <p:strVal val="#ppt_y+#ppt_h*1.125000"/>
                                          </p:val>
                                        </p:tav>
                                        <p:tav tm="100000">
                                          <p:val>
                                            <p:strVal val="#ppt_y"/>
                                          </p:val>
                                        </p:tav>
                                      </p:tavLst>
                                    </p:anim>
                                    <p:animEffect transition="in" filter="wipe(up)">
                                      <p:cBhvr>
                                        <p:cTn id="40" dur="500"/>
                                        <p:tgtEl>
                                          <p:spTgt spid="7">
                                            <p:txEl>
                                              <p:pRg st="2" end="2"/>
                                            </p:txEl>
                                          </p:spTgt>
                                        </p:tgtEl>
                                      </p:cBhvr>
                                    </p:animEffect>
                                  </p:childTnLst>
                                </p:cTn>
                              </p:par>
                              <p:par>
                                <p:cTn id="41" presetID="12" presetClass="entr" presetSubtype="4" fill="hold" nodeType="with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anim calcmode="lin" valueType="num">
                                      <p:cBhvr additive="base">
                                        <p:cTn id="43" dur="500"/>
                                        <p:tgtEl>
                                          <p:spTgt spid="7">
                                            <p:txEl>
                                              <p:pRg st="5" end="5"/>
                                            </p:txEl>
                                          </p:spTgt>
                                        </p:tgtEl>
                                        <p:attrNameLst>
                                          <p:attrName>ppt_y</p:attrName>
                                        </p:attrNameLst>
                                      </p:cBhvr>
                                      <p:tavLst>
                                        <p:tav tm="0">
                                          <p:val>
                                            <p:strVal val="#ppt_y+#ppt_h*1.125000"/>
                                          </p:val>
                                        </p:tav>
                                        <p:tav tm="100000">
                                          <p:val>
                                            <p:strVal val="#ppt_y"/>
                                          </p:val>
                                        </p:tav>
                                      </p:tavLst>
                                    </p:anim>
                                    <p:animEffect transition="in" filter="wipe(up)">
                                      <p:cBhvr>
                                        <p:cTn id="44"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pct25">
          <a:fgClr>
            <a:schemeClr val="bg2"/>
          </a:fgClr>
          <a:bgClr>
            <a:schemeClr val="bg1"/>
          </a:bgClr>
        </a:pattFill>
        <a:effectLst/>
      </p:bgPr>
    </p:bg>
    <p:spTree>
      <p:nvGrpSpPr>
        <p:cNvPr id="1" name=""/>
        <p:cNvGrpSpPr/>
        <p:nvPr/>
      </p:nvGrpSpPr>
      <p:grpSpPr/>
      <p:sp>
        <p:nvSpPr>
          <p:cNvPr id="2" name="标题 1"/>
          <p:cNvSpPr>
            <a:spLocks noGrp="1"/>
          </p:cNvSpPr>
          <p:nvPr>
            <p:ph type="title"/>
          </p:nvPr>
        </p:nvSpPr>
        <p:spPr>
          <a:xfrm>
            <a:off x="17780" y="158115"/>
            <a:ext cx="5066665" cy="822325"/>
          </a:xfrm>
        </p:spPr>
        <p:txBody>
          <a:bodyPr>
            <a:normAutofit/>
          </a:bodyPr>
          <a:p>
            <a:r>
              <a:rPr lang="zh-CN" altLang="en-US"/>
              <a:t>最多元</a:t>
            </a:r>
            <a:r>
              <a:rPr lang="en-US" altLang="zh-CN"/>
              <a:t>-----</a:t>
            </a:r>
            <a:r>
              <a:rPr lang="zh-CN" altLang="en-US"/>
              <a:t>毛里求斯</a:t>
            </a:r>
            <a:endParaRPr lang="zh-CN" altLang="en-US"/>
          </a:p>
        </p:txBody>
      </p:sp>
      <p:pic>
        <p:nvPicPr>
          <p:cNvPr id="4" name="内容占位符 3" descr="1"/>
          <p:cNvPicPr>
            <a:picLocks noChangeAspect="1"/>
          </p:cNvPicPr>
          <p:nvPr>
            <p:ph idx="1"/>
          </p:nvPr>
        </p:nvPicPr>
        <p:blipFill>
          <a:blip r:embed="rId1"/>
          <a:stretch>
            <a:fillRect/>
          </a:stretch>
        </p:blipFill>
        <p:spPr>
          <a:xfrm>
            <a:off x="17780" y="809625"/>
            <a:ext cx="3392170" cy="1817370"/>
          </a:xfrm>
          <a:prstGeom prst="rect">
            <a:avLst/>
          </a:prstGeom>
        </p:spPr>
      </p:pic>
      <p:pic>
        <p:nvPicPr>
          <p:cNvPr id="5" name="图片 4" descr="55f9fa039245d6888b05481fa1c27d1ed21b240e"/>
          <p:cNvPicPr>
            <a:picLocks noChangeAspect="1"/>
          </p:cNvPicPr>
          <p:nvPr/>
        </p:nvPicPr>
        <p:blipFill>
          <a:blip r:embed="rId2"/>
          <a:stretch>
            <a:fillRect/>
          </a:stretch>
        </p:blipFill>
        <p:spPr>
          <a:xfrm>
            <a:off x="17780" y="2626995"/>
            <a:ext cx="3392170" cy="1865630"/>
          </a:xfrm>
          <a:prstGeom prst="rect">
            <a:avLst/>
          </a:prstGeom>
        </p:spPr>
      </p:pic>
      <p:pic>
        <p:nvPicPr>
          <p:cNvPr id="6" name="图片 5" descr="0441d088d43f8794c5f8b295d71b0ef41bd53a0e"/>
          <p:cNvPicPr>
            <a:picLocks noChangeAspect="1"/>
          </p:cNvPicPr>
          <p:nvPr/>
        </p:nvPicPr>
        <p:blipFill>
          <a:blip r:embed="rId3"/>
          <a:stretch>
            <a:fillRect/>
          </a:stretch>
        </p:blipFill>
        <p:spPr>
          <a:xfrm>
            <a:off x="17780" y="4492625"/>
            <a:ext cx="3392170" cy="2280920"/>
          </a:xfrm>
          <a:prstGeom prst="rect">
            <a:avLst/>
          </a:prstGeom>
        </p:spPr>
      </p:pic>
      <p:sp>
        <p:nvSpPr>
          <p:cNvPr id="7" name="文本框 6"/>
          <p:cNvSpPr txBox="1"/>
          <p:nvPr/>
        </p:nvSpPr>
        <p:spPr>
          <a:xfrm>
            <a:off x="3409950" y="904240"/>
            <a:ext cx="8364220" cy="4246245"/>
          </a:xfrm>
          <a:prstGeom prst="rect">
            <a:avLst/>
          </a:prstGeom>
          <a:noFill/>
        </p:spPr>
        <p:txBody>
          <a:bodyPr wrap="square" rtlCol="0">
            <a:spAutoFit/>
          </a:bodyPr>
          <a:p>
            <a:pPr algn="l"/>
            <a:r>
              <a:rPr lang="zh-CN" altLang="en-US">
                <a:latin typeface="楷体" panose="02010609060101010101" charset="-122"/>
                <a:ea typeface="楷体" panose="02010609060101010101" charset="-122"/>
              </a:rPr>
              <a:t>毛里求斯</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位于非洲东部，虽然距马尔代夫十分近，同处印度洋上，但其与马</a:t>
            </a:r>
            <a:endParaRPr lang="zh-CN" altLang="en-US">
              <a:latin typeface="楷体" panose="02010609060101010101" charset="-122"/>
              <a:ea typeface="楷体" panose="02010609060101010101" charset="-122"/>
            </a:endParaRPr>
          </a:p>
          <a:p>
            <a:pPr algn="l"/>
            <a:r>
              <a:rPr lang="zh-CN" altLang="en-US">
                <a:latin typeface="楷体" panose="02010609060101010101" charset="-122"/>
                <a:ea typeface="楷体" panose="02010609060101010101" charset="-122"/>
              </a:rPr>
              <a:t>             尔代夫珊瑚岛不同，毛里求斯是一座火山岛，中间高四周低。中部</a:t>
            </a:r>
            <a:endParaRPr lang="zh-CN" altLang="en-US">
              <a:latin typeface="楷体" panose="02010609060101010101" charset="-122"/>
              <a:ea typeface="楷体" panose="02010609060101010101" charset="-122"/>
            </a:endParaRPr>
          </a:p>
          <a:p>
            <a:pPr algn="l"/>
            <a:r>
              <a:rPr lang="zh-CN" altLang="en-US">
                <a:latin typeface="楷体" panose="02010609060101010101" charset="-122"/>
                <a:ea typeface="楷体" panose="02010609060101010101" charset="-122"/>
              </a:rPr>
              <a:t>             的高原山地沿海的狭窄平原共同构成了毛里求斯千姿百态的地貌。</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             每年的</a:t>
            </a:r>
            <a:r>
              <a:rPr lang="en-US" altLang="zh-CN">
                <a:latin typeface="楷体" panose="02010609060101010101" charset="-122"/>
                <a:ea typeface="楷体" panose="02010609060101010101" charset="-122"/>
              </a:rPr>
              <a:t>6~11</a:t>
            </a:r>
            <a:r>
              <a:rPr lang="zh-CN" altLang="en-US">
                <a:latin typeface="楷体" panose="02010609060101010101" charset="-122"/>
                <a:ea typeface="楷体" panose="02010609060101010101" charset="-122"/>
              </a:rPr>
              <a:t>月份毛里求斯凉爽少雨，是最适宜的旅游季节。因为其</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             亚热带海洋性气候，全年有旱雨两季，所以</a:t>
            </a:r>
            <a:r>
              <a:rPr lang="en-US" altLang="zh-CN">
                <a:latin typeface="楷体" panose="02010609060101010101" charset="-122"/>
                <a:ea typeface="楷体" panose="02010609060101010101" charset="-122"/>
              </a:rPr>
              <a:t>1~3</a:t>
            </a:r>
            <a:r>
              <a:rPr lang="zh-CN" altLang="en-US">
                <a:latin typeface="楷体" panose="02010609060101010101" charset="-122"/>
                <a:ea typeface="楷体" panose="02010609060101010101" charset="-122"/>
              </a:rPr>
              <a:t>月的毛里求斯炎热</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             潮湿并伴有龙卷风，反而不适宜度假。</a:t>
            </a:r>
            <a:endParaRPr lang="zh-CN" altLang="en-US">
              <a:latin typeface="楷体" panose="02010609060101010101" charset="-122"/>
              <a:ea typeface="楷体" panose="02010609060101010101" charset="-122"/>
            </a:endParaRPr>
          </a:p>
          <a:p>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             除了度假胜地的标配碧水蓝天，毛里求斯有南半球最古老的庞波慕</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             斯区植物园，有热情奔放的民族舞蹈－－塞卡舞，还有更令人惊艳</a:t>
            </a:r>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             的七色土壤。</a:t>
            </a:r>
            <a:endParaRPr lang="zh-CN" altLang="en-US">
              <a:latin typeface="楷体" panose="02010609060101010101" charset="-122"/>
              <a:ea typeface="楷体" panose="02010609060101010101" charset="-122"/>
            </a:endParaRPr>
          </a:p>
          <a:p>
            <a:endParaRPr lang="zh-CN" altLang="en-US">
              <a:latin typeface="楷体" panose="02010609060101010101" charset="-122"/>
              <a:ea typeface="楷体" panose="02010609060101010101" charset="-122"/>
            </a:endParaRPr>
          </a:p>
          <a:p>
            <a:endParaRPr lang="zh-CN" altLang="en-US">
              <a:latin typeface="楷体" panose="02010609060101010101" charset="-122"/>
              <a:ea typeface="楷体" panose="02010609060101010101" charset="-122"/>
            </a:endParaRPr>
          </a:p>
          <a:p>
            <a:r>
              <a:rPr lang="zh-CN" altLang="en-US">
                <a:latin typeface="楷体" panose="02010609060101010101" charset="-122"/>
                <a:ea typeface="楷体" panose="02010609060101010101" charset="-122"/>
              </a:rPr>
              <a:t>独特的自然与人文风情使</a:t>
            </a:r>
            <a:r>
              <a:rPr lang="zh-CN" altLang="en-US">
                <a:latin typeface="楷体" panose="02010609060101010101" charset="-122"/>
                <a:ea typeface="楷体" panose="02010609060101010101" charset="-122"/>
                <a:sym typeface="+mn-ea"/>
              </a:rPr>
              <a:t>毛里求斯别具一格，给人以满满的生活气息和多元文化的美。</a:t>
            </a:r>
            <a:endParaRPr lang="zh-CN" altLang="en-US">
              <a:latin typeface="楷体" panose="02010609060101010101" charset="-122"/>
              <a:ea typeface="楷体" panose="02010609060101010101" charset="-122"/>
              <a:sym typeface="+mn-ea"/>
            </a:endParaRPr>
          </a:p>
        </p:txBody>
      </p:sp>
      <p:sp>
        <p:nvSpPr>
          <p:cNvPr id="3" name="右箭头 2">
            <a:hlinkClick r:id="rId4" action="ppaction://hlinksldjump"/>
          </p:cNvPr>
          <p:cNvSpPr/>
          <p:nvPr/>
        </p:nvSpPr>
        <p:spPr>
          <a:xfrm>
            <a:off x="11153775" y="5619750"/>
            <a:ext cx="447675" cy="266700"/>
          </a:xfrm>
          <a:prstGeom prst="rightArrow">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8" name="图片 7" descr="u=3091852823,1146588392&amp;fm=27&amp;gp=0"/>
          <p:cNvPicPr>
            <a:picLocks noChangeAspect="1"/>
          </p:cNvPicPr>
          <p:nvPr/>
        </p:nvPicPr>
        <p:blipFill>
          <a:blip r:embed="rId5"/>
          <a:stretch>
            <a:fillRect/>
          </a:stretch>
        </p:blipFill>
        <p:spPr>
          <a:xfrm>
            <a:off x="4813300" y="62865"/>
            <a:ext cx="1444625" cy="746760"/>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 calcmode="lin" valueType="num">
                                      <p:cBhvr additive="base">
                                        <p:cTn id="25"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26" dur="500"/>
                                        <p:tgtEl>
                                          <p:spTgt spid="7">
                                            <p:txEl>
                                              <p:pRg st="0" end="0"/>
                                            </p:txEl>
                                          </p:spTgt>
                                        </p:tgtEl>
                                      </p:cBhvr>
                                    </p:animEffect>
                                  </p:childTnLst>
                                </p:cTn>
                              </p:par>
                              <p:par>
                                <p:cTn id="27" presetID="12" presetClass="entr" presetSubtype="4" fill="hold" nodeType="with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anim calcmode="lin" valueType="num">
                                      <p:cBhvr additive="base">
                                        <p:cTn id="29" dur="500"/>
                                        <p:tgtEl>
                                          <p:spTgt spid="7">
                                            <p:txEl>
                                              <p:pRg st="1" end="1"/>
                                            </p:txEl>
                                          </p:spTgt>
                                        </p:tgtEl>
                                        <p:attrNameLst>
                                          <p:attrName>ppt_y</p:attrName>
                                        </p:attrNameLst>
                                      </p:cBhvr>
                                      <p:tavLst>
                                        <p:tav tm="0">
                                          <p:val>
                                            <p:strVal val="#ppt_y+#ppt_h*1.125000"/>
                                          </p:val>
                                        </p:tav>
                                        <p:tav tm="100000">
                                          <p:val>
                                            <p:strVal val="#ppt_y"/>
                                          </p:val>
                                        </p:tav>
                                      </p:tavLst>
                                    </p:anim>
                                    <p:animEffect transition="in" filter="wipe(up)">
                                      <p:cBhvr>
                                        <p:cTn id="30" dur="500"/>
                                        <p:tgtEl>
                                          <p:spTgt spid="7">
                                            <p:txEl>
                                              <p:pRg st="1" end="1"/>
                                            </p:txEl>
                                          </p:spTgt>
                                        </p:tgtEl>
                                      </p:cBhvr>
                                    </p:animEffect>
                                  </p:childTnLst>
                                </p:cTn>
                              </p:par>
                              <p:par>
                                <p:cTn id="31" presetID="12" presetClass="entr" presetSubtype="4" fill="hold" nodeType="with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 calcmode="lin" valueType="num">
                                      <p:cBhvr additive="base">
                                        <p:cTn id="33" dur="500"/>
                                        <p:tgtEl>
                                          <p:spTgt spid="7">
                                            <p:txEl>
                                              <p:pRg st="2" end="2"/>
                                            </p:txEl>
                                          </p:spTgt>
                                        </p:tgtEl>
                                        <p:attrNameLst>
                                          <p:attrName>ppt_y</p:attrName>
                                        </p:attrNameLst>
                                      </p:cBhvr>
                                      <p:tavLst>
                                        <p:tav tm="0">
                                          <p:val>
                                            <p:strVal val="#ppt_y+#ppt_h*1.125000"/>
                                          </p:val>
                                        </p:tav>
                                        <p:tav tm="100000">
                                          <p:val>
                                            <p:strVal val="#ppt_y"/>
                                          </p:val>
                                        </p:tav>
                                      </p:tavLst>
                                    </p:anim>
                                    <p:animEffect transition="in" filter="wipe(up)">
                                      <p:cBhvr>
                                        <p:cTn id="34" dur="500"/>
                                        <p:tgtEl>
                                          <p:spTgt spid="7">
                                            <p:txEl>
                                              <p:pRg st="2" end="2"/>
                                            </p:txEl>
                                          </p:spTgt>
                                        </p:tgtEl>
                                      </p:cBhvr>
                                    </p:animEffect>
                                  </p:childTnLst>
                                </p:cTn>
                              </p:par>
                              <p:par>
                                <p:cTn id="35" presetID="12" presetClass="entr" presetSubtype="4" fill="hold" nodeType="with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anim calcmode="lin" valueType="num">
                                      <p:cBhvr additive="base">
                                        <p:cTn id="37" dur="500"/>
                                        <p:tgtEl>
                                          <p:spTgt spid="7">
                                            <p:txEl>
                                              <p:pRg st="3" end="3"/>
                                            </p:txEl>
                                          </p:spTgt>
                                        </p:tgtEl>
                                        <p:attrNameLst>
                                          <p:attrName>ppt_y</p:attrName>
                                        </p:attrNameLst>
                                      </p:cBhvr>
                                      <p:tavLst>
                                        <p:tav tm="0">
                                          <p:val>
                                            <p:strVal val="#ppt_y+#ppt_h*1.125000"/>
                                          </p:val>
                                        </p:tav>
                                        <p:tav tm="100000">
                                          <p:val>
                                            <p:strVal val="#ppt_y"/>
                                          </p:val>
                                        </p:tav>
                                      </p:tavLst>
                                    </p:anim>
                                    <p:animEffect transition="in" filter="wipe(up)">
                                      <p:cBhvr>
                                        <p:cTn id="38" dur="500"/>
                                        <p:tgtEl>
                                          <p:spTgt spid="7">
                                            <p:txEl>
                                              <p:pRg st="3" end="3"/>
                                            </p:txEl>
                                          </p:spTgt>
                                        </p:tgtEl>
                                      </p:cBhvr>
                                    </p:animEffect>
                                  </p:childTnLst>
                                </p:cTn>
                              </p:par>
                              <p:par>
                                <p:cTn id="39" presetID="12" presetClass="entr" presetSubtype="4" fill="hold" nodeType="withEffect">
                                  <p:stCondLst>
                                    <p:cond delay="0"/>
                                  </p:stCondLst>
                                  <p:childTnLst>
                                    <p:set>
                                      <p:cBhvr>
                                        <p:cTn id="40" dur="1" fill="hold">
                                          <p:stCondLst>
                                            <p:cond delay="0"/>
                                          </p:stCondLst>
                                        </p:cTn>
                                        <p:tgtEl>
                                          <p:spTgt spid="7">
                                            <p:txEl>
                                              <p:pRg st="4" end="4"/>
                                            </p:txEl>
                                          </p:spTgt>
                                        </p:tgtEl>
                                        <p:attrNameLst>
                                          <p:attrName>style.visibility</p:attrName>
                                        </p:attrNameLst>
                                      </p:cBhvr>
                                      <p:to>
                                        <p:strVal val="visible"/>
                                      </p:to>
                                    </p:set>
                                    <p:anim calcmode="lin" valueType="num">
                                      <p:cBhvr additive="base">
                                        <p:cTn id="41" dur="500"/>
                                        <p:tgtEl>
                                          <p:spTgt spid="7">
                                            <p:txEl>
                                              <p:pRg st="4" end="4"/>
                                            </p:txEl>
                                          </p:spTgt>
                                        </p:tgtEl>
                                        <p:attrNameLst>
                                          <p:attrName>ppt_y</p:attrName>
                                        </p:attrNameLst>
                                      </p:cBhvr>
                                      <p:tavLst>
                                        <p:tav tm="0">
                                          <p:val>
                                            <p:strVal val="#ppt_y+#ppt_h*1.125000"/>
                                          </p:val>
                                        </p:tav>
                                        <p:tav tm="100000">
                                          <p:val>
                                            <p:strVal val="#ppt_y"/>
                                          </p:val>
                                        </p:tav>
                                      </p:tavLst>
                                    </p:anim>
                                    <p:animEffect transition="in" filter="wipe(up)">
                                      <p:cBhvr>
                                        <p:cTn id="42" dur="500"/>
                                        <p:tgtEl>
                                          <p:spTgt spid="7">
                                            <p:txEl>
                                              <p:pRg st="4" end="4"/>
                                            </p:txEl>
                                          </p:spTgt>
                                        </p:tgtEl>
                                      </p:cBhvr>
                                    </p:animEffect>
                                  </p:childTnLst>
                                </p:cTn>
                              </p:par>
                              <p:par>
                                <p:cTn id="43" presetID="12" presetClass="entr" presetSubtype="4" fill="hold" nodeType="withEffect">
                                  <p:stCondLst>
                                    <p:cond delay="0"/>
                                  </p:stCondLst>
                                  <p:childTnLst>
                                    <p:set>
                                      <p:cBhvr>
                                        <p:cTn id="44" dur="1" fill="hold">
                                          <p:stCondLst>
                                            <p:cond delay="0"/>
                                          </p:stCondLst>
                                        </p:cTn>
                                        <p:tgtEl>
                                          <p:spTgt spid="7">
                                            <p:txEl>
                                              <p:pRg st="5" end="5"/>
                                            </p:txEl>
                                          </p:spTgt>
                                        </p:tgtEl>
                                        <p:attrNameLst>
                                          <p:attrName>style.visibility</p:attrName>
                                        </p:attrNameLst>
                                      </p:cBhvr>
                                      <p:to>
                                        <p:strVal val="visible"/>
                                      </p:to>
                                    </p:set>
                                    <p:anim calcmode="lin" valueType="num">
                                      <p:cBhvr additive="base">
                                        <p:cTn id="45" dur="500"/>
                                        <p:tgtEl>
                                          <p:spTgt spid="7">
                                            <p:txEl>
                                              <p:pRg st="5" end="5"/>
                                            </p:txEl>
                                          </p:spTgt>
                                        </p:tgtEl>
                                        <p:attrNameLst>
                                          <p:attrName>ppt_y</p:attrName>
                                        </p:attrNameLst>
                                      </p:cBhvr>
                                      <p:tavLst>
                                        <p:tav tm="0">
                                          <p:val>
                                            <p:strVal val="#ppt_y+#ppt_h*1.125000"/>
                                          </p:val>
                                        </p:tav>
                                        <p:tav tm="100000">
                                          <p:val>
                                            <p:strVal val="#ppt_y"/>
                                          </p:val>
                                        </p:tav>
                                      </p:tavLst>
                                    </p:anim>
                                    <p:animEffect transition="in" filter="wipe(up)">
                                      <p:cBhvr>
                                        <p:cTn id="46" dur="500"/>
                                        <p:tgtEl>
                                          <p:spTgt spid="7">
                                            <p:txEl>
                                              <p:pRg st="5" end="5"/>
                                            </p:txEl>
                                          </p:spTgt>
                                        </p:tgtEl>
                                      </p:cBhvr>
                                    </p:animEffect>
                                  </p:childTnLst>
                                </p:cTn>
                              </p:par>
                              <p:par>
                                <p:cTn id="47" presetID="12" presetClass="entr" presetSubtype="4" fill="hold" nodeType="with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 calcmode="lin" valueType="num">
                                      <p:cBhvr additive="base">
                                        <p:cTn id="49" dur="500"/>
                                        <p:tgtEl>
                                          <p:spTgt spid="7">
                                            <p:txEl>
                                              <p:pRg st="6" end="6"/>
                                            </p:txEl>
                                          </p:spTgt>
                                        </p:tgtEl>
                                        <p:attrNameLst>
                                          <p:attrName>ppt_y</p:attrName>
                                        </p:attrNameLst>
                                      </p:cBhvr>
                                      <p:tavLst>
                                        <p:tav tm="0">
                                          <p:val>
                                            <p:strVal val="#ppt_y+#ppt_h*1.125000"/>
                                          </p:val>
                                        </p:tav>
                                        <p:tav tm="100000">
                                          <p:val>
                                            <p:strVal val="#ppt_y"/>
                                          </p:val>
                                        </p:tav>
                                      </p:tavLst>
                                    </p:anim>
                                    <p:animEffect transition="in" filter="wipe(up)">
                                      <p:cBhvr>
                                        <p:cTn id="50" dur="500"/>
                                        <p:tgtEl>
                                          <p:spTgt spid="7">
                                            <p:txEl>
                                              <p:pRg st="6" end="6"/>
                                            </p:txEl>
                                          </p:spTgt>
                                        </p:tgtEl>
                                      </p:cBhvr>
                                    </p:animEffect>
                                  </p:childTnLst>
                                </p:cTn>
                              </p:par>
                              <p:par>
                                <p:cTn id="51" presetID="12" presetClass="entr" presetSubtype="4" fill="hold" nodeType="withEffect">
                                  <p:stCondLst>
                                    <p:cond delay="0"/>
                                  </p:stCondLst>
                                  <p:childTnLst>
                                    <p:set>
                                      <p:cBhvr>
                                        <p:cTn id="52" dur="1" fill="hold">
                                          <p:stCondLst>
                                            <p:cond delay="0"/>
                                          </p:stCondLst>
                                        </p:cTn>
                                        <p:tgtEl>
                                          <p:spTgt spid="7">
                                            <p:txEl>
                                              <p:pRg st="8" end="8"/>
                                            </p:txEl>
                                          </p:spTgt>
                                        </p:tgtEl>
                                        <p:attrNameLst>
                                          <p:attrName>style.visibility</p:attrName>
                                        </p:attrNameLst>
                                      </p:cBhvr>
                                      <p:to>
                                        <p:strVal val="visible"/>
                                      </p:to>
                                    </p:set>
                                    <p:anim calcmode="lin" valueType="num">
                                      <p:cBhvr additive="base">
                                        <p:cTn id="53" dur="500"/>
                                        <p:tgtEl>
                                          <p:spTgt spid="7">
                                            <p:txEl>
                                              <p:pRg st="8" end="8"/>
                                            </p:txEl>
                                          </p:spTgt>
                                        </p:tgtEl>
                                        <p:attrNameLst>
                                          <p:attrName>ppt_y</p:attrName>
                                        </p:attrNameLst>
                                      </p:cBhvr>
                                      <p:tavLst>
                                        <p:tav tm="0">
                                          <p:val>
                                            <p:strVal val="#ppt_y+#ppt_h*1.125000"/>
                                          </p:val>
                                        </p:tav>
                                        <p:tav tm="100000">
                                          <p:val>
                                            <p:strVal val="#ppt_y"/>
                                          </p:val>
                                        </p:tav>
                                      </p:tavLst>
                                    </p:anim>
                                    <p:animEffect transition="in" filter="wipe(up)">
                                      <p:cBhvr>
                                        <p:cTn id="54" dur="500"/>
                                        <p:tgtEl>
                                          <p:spTgt spid="7">
                                            <p:txEl>
                                              <p:pRg st="8" end="8"/>
                                            </p:txEl>
                                          </p:spTgt>
                                        </p:tgtEl>
                                      </p:cBhvr>
                                    </p:animEffect>
                                  </p:childTnLst>
                                </p:cTn>
                              </p:par>
                              <p:par>
                                <p:cTn id="55" presetID="12" presetClass="entr" presetSubtype="4" fill="hold" nodeType="withEffect">
                                  <p:stCondLst>
                                    <p:cond delay="0"/>
                                  </p:stCondLst>
                                  <p:childTnLst>
                                    <p:set>
                                      <p:cBhvr>
                                        <p:cTn id="56" dur="1" fill="hold">
                                          <p:stCondLst>
                                            <p:cond delay="0"/>
                                          </p:stCondLst>
                                        </p:cTn>
                                        <p:tgtEl>
                                          <p:spTgt spid="7">
                                            <p:txEl>
                                              <p:pRg st="9" end="9"/>
                                            </p:txEl>
                                          </p:spTgt>
                                        </p:tgtEl>
                                        <p:attrNameLst>
                                          <p:attrName>style.visibility</p:attrName>
                                        </p:attrNameLst>
                                      </p:cBhvr>
                                      <p:to>
                                        <p:strVal val="visible"/>
                                      </p:to>
                                    </p:set>
                                    <p:anim calcmode="lin" valueType="num">
                                      <p:cBhvr additive="base">
                                        <p:cTn id="57" dur="500"/>
                                        <p:tgtEl>
                                          <p:spTgt spid="7">
                                            <p:txEl>
                                              <p:pRg st="9" end="9"/>
                                            </p:txEl>
                                          </p:spTgt>
                                        </p:tgtEl>
                                        <p:attrNameLst>
                                          <p:attrName>ppt_y</p:attrName>
                                        </p:attrNameLst>
                                      </p:cBhvr>
                                      <p:tavLst>
                                        <p:tav tm="0">
                                          <p:val>
                                            <p:strVal val="#ppt_y+#ppt_h*1.125000"/>
                                          </p:val>
                                        </p:tav>
                                        <p:tav tm="100000">
                                          <p:val>
                                            <p:strVal val="#ppt_y"/>
                                          </p:val>
                                        </p:tav>
                                      </p:tavLst>
                                    </p:anim>
                                    <p:animEffect transition="in" filter="wipe(up)">
                                      <p:cBhvr>
                                        <p:cTn id="58" dur="500"/>
                                        <p:tgtEl>
                                          <p:spTgt spid="7">
                                            <p:txEl>
                                              <p:pRg st="9" end="9"/>
                                            </p:txEl>
                                          </p:spTgt>
                                        </p:tgtEl>
                                      </p:cBhvr>
                                    </p:animEffect>
                                  </p:childTnLst>
                                </p:cTn>
                              </p:par>
                              <p:par>
                                <p:cTn id="59" presetID="12" presetClass="entr" presetSubtype="4" fill="hold" nodeType="withEffect">
                                  <p:stCondLst>
                                    <p:cond delay="0"/>
                                  </p:stCondLst>
                                  <p:childTnLst>
                                    <p:set>
                                      <p:cBhvr>
                                        <p:cTn id="60" dur="1" fill="hold">
                                          <p:stCondLst>
                                            <p:cond delay="0"/>
                                          </p:stCondLst>
                                        </p:cTn>
                                        <p:tgtEl>
                                          <p:spTgt spid="7">
                                            <p:txEl>
                                              <p:pRg st="10" end="10"/>
                                            </p:txEl>
                                          </p:spTgt>
                                        </p:tgtEl>
                                        <p:attrNameLst>
                                          <p:attrName>style.visibility</p:attrName>
                                        </p:attrNameLst>
                                      </p:cBhvr>
                                      <p:to>
                                        <p:strVal val="visible"/>
                                      </p:to>
                                    </p:set>
                                    <p:anim calcmode="lin" valueType="num">
                                      <p:cBhvr additive="base">
                                        <p:cTn id="61" dur="500"/>
                                        <p:tgtEl>
                                          <p:spTgt spid="7">
                                            <p:txEl>
                                              <p:pRg st="10" end="10"/>
                                            </p:txEl>
                                          </p:spTgt>
                                        </p:tgtEl>
                                        <p:attrNameLst>
                                          <p:attrName>ppt_y</p:attrName>
                                        </p:attrNameLst>
                                      </p:cBhvr>
                                      <p:tavLst>
                                        <p:tav tm="0">
                                          <p:val>
                                            <p:strVal val="#ppt_y+#ppt_h*1.125000"/>
                                          </p:val>
                                        </p:tav>
                                        <p:tav tm="100000">
                                          <p:val>
                                            <p:strVal val="#ppt_y"/>
                                          </p:val>
                                        </p:tav>
                                      </p:tavLst>
                                    </p:anim>
                                    <p:animEffect transition="in" filter="wipe(up)">
                                      <p:cBhvr>
                                        <p:cTn id="62" dur="500"/>
                                        <p:tgtEl>
                                          <p:spTgt spid="7">
                                            <p:txEl>
                                              <p:pRg st="10" end="10"/>
                                            </p:txEl>
                                          </p:spTgt>
                                        </p:tgtEl>
                                      </p:cBhvr>
                                    </p:animEffect>
                                  </p:childTnLst>
                                </p:cTn>
                              </p:par>
                              <p:par>
                                <p:cTn id="63" presetID="12" presetClass="entr" presetSubtype="4" fill="hold" nodeType="withEffect">
                                  <p:stCondLst>
                                    <p:cond delay="0"/>
                                  </p:stCondLst>
                                  <p:childTnLst>
                                    <p:set>
                                      <p:cBhvr>
                                        <p:cTn id="64" dur="1" fill="hold">
                                          <p:stCondLst>
                                            <p:cond delay="0"/>
                                          </p:stCondLst>
                                        </p:cTn>
                                        <p:tgtEl>
                                          <p:spTgt spid="7">
                                            <p:txEl>
                                              <p:pRg st="13" end="13"/>
                                            </p:txEl>
                                          </p:spTgt>
                                        </p:tgtEl>
                                        <p:attrNameLst>
                                          <p:attrName>style.visibility</p:attrName>
                                        </p:attrNameLst>
                                      </p:cBhvr>
                                      <p:to>
                                        <p:strVal val="visible"/>
                                      </p:to>
                                    </p:set>
                                    <p:anim calcmode="lin" valueType="num">
                                      <p:cBhvr additive="base">
                                        <p:cTn id="65" dur="500"/>
                                        <p:tgtEl>
                                          <p:spTgt spid="7">
                                            <p:txEl>
                                              <p:pRg st="13" end="13"/>
                                            </p:txEl>
                                          </p:spTgt>
                                        </p:tgtEl>
                                        <p:attrNameLst>
                                          <p:attrName>ppt_y</p:attrName>
                                        </p:attrNameLst>
                                      </p:cBhvr>
                                      <p:tavLst>
                                        <p:tav tm="0">
                                          <p:val>
                                            <p:strVal val="#ppt_y+#ppt_h*1.125000"/>
                                          </p:val>
                                        </p:tav>
                                        <p:tav tm="100000">
                                          <p:val>
                                            <p:strVal val="#ppt_y"/>
                                          </p:val>
                                        </p:tav>
                                      </p:tavLst>
                                    </p:anim>
                                    <p:animEffect transition="in" filter="wipe(up)">
                                      <p:cBhvr>
                                        <p:cTn id="66"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p:sp>
        <p:nvSpPr>
          <p:cNvPr id="2" name="标题 1"/>
          <p:cNvSpPr>
            <a:spLocks noGrp="1"/>
          </p:cNvSpPr>
          <p:nvPr>
            <p:ph type="title"/>
          </p:nvPr>
        </p:nvSpPr>
        <p:spPr>
          <a:xfrm>
            <a:off x="9525" y="50800"/>
            <a:ext cx="10210165" cy="774065"/>
          </a:xfrm>
        </p:spPr>
        <p:txBody>
          <a:bodyPr>
            <a:normAutofit/>
          </a:bodyPr>
          <a:p>
            <a:r>
              <a:rPr lang="en-US" altLang="zh-CN"/>
              <a:t>                         </a:t>
            </a:r>
            <a:r>
              <a:rPr lang="zh-CN" altLang="en-US">
                <a:latin typeface="楷体" panose="02010609060101010101" charset="-122"/>
                <a:ea typeface="楷体" panose="02010609060101010101" charset="-122"/>
              </a:rPr>
              <a:t>最奢华</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阿联酋</a:t>
            </a:r>
            <a:endParaRPr lang="zh-CN" altLang="en-US">
              <a:latin typeface="楷体" panose="02010609060101010101" charset="-122"/>
              <a:ea typeface="楷体" panose="02010609060101010101" charset="-122"/>
            </a:endParaRPr>
          </a:p>
        </p:txBody>
      </p:sp>
      <p:pic>
        <p:nvPicPr>
          <p:cNvPr id="4" name="内容占位符 3" descr="6"/>
          <p:cNvPicPr>
            <a:picLocks noChangeAspect="1"/>
          </p:cNvPicPr>
          <p:nvPr>
            <p:ph idx="1"/>
          </p:nvPr>
        </p:nvPicPr>
        <p:blipFill>
          <a:blip r:embed="rId1"/>
          <a:stretch>
            <a:fillRect/>
          </a:stretch>
        </p:blipFill>
        <p:spPr>
          <a:xfrm>
            <a:off x="9525" y="715010"/>
            <a:ext cx="3399790" cy="2515235"/>
          </a:xfrm>
          <a:prstGeom prst="rect">
            <a:avLst/>
          </a:prstGeom>
        </p:spPr>
      </p:pic>
      <p:pic>
        <p:nvPicPr>
          <p:cNvPr id="5" name="图片 4" descr="3"/>
          <p:cNvPicPr>
            <a:picLocks noChangeAspect="1"/>
          </p:cNvPicPr>
          <p:nvPr/>
        </p:nvPicPr>
        <p:blipFill>
          <a:blip r:embed="rId2"/>
          <a:stretch>
            <a:fillRect/>
          </a:stretch>
        </p:blipFill>
        <p:spPr>
          <a:xfrm>
            <a:off x="9525" y="3706495"/>
            <a:ext cx="3400425" cy="2628900"/>
          </a:xfrm>
          <a:prstGeom prst="rect">
            <a:avLst/>
          </a:prstGeom>
        </p:spPr>
      </p:pic>
      <p:pic>
        <p:nvPicPr>
          <p:cNvPr id="6" name="图片 5" descr="7"/>
          <p:cNvPicPr>
            <a:picLocks noChangeAspect="1"/>
          </p:cNvPicPr>
          <p:nvPr/>
        </p:nvPicPr>
        <p:blipFill>
          <a:blip r:embed="rId3"/>
          <a:stretch>
            <a:fillRect/>
          </a:stretch>
        </p:blipFill>
        <p:spPr>
          <a:xfrm>
            <a:off x="8306435" y="715645"/>
            <a:ext cx="3904615" cy="2514600"/>
          </a:xfrm>
          <a:prstGeom prst="rect">
            <a:avLst/>
          </a:prstGeom>
        </p:spPr>
      </p:pic>
      <p:pic>
        <p:nvPicPr>
          <p:cNvPr id="7" name="图片 6" descr="1"/>
          <p:cNvPicPr>
            <a:picLocks noChangeAspect="1"/>
          </p:cNvPicPr>
          <p:nvPr/>
        </p:nvPicPr>
        <p:blipFill>
          <a:blip r:embed="rId4"/>
          <a:stretch>
            <a:fillRect/>
          </a:stretch>
        </p:blipFill>
        <p:spPr>
          <a:xfrm>
            <a:off x="8307070" y="3706495"/>
            <a:ext cx="3903980" cy="2628900"/>
          </a:xfrm>
          <a:prstGeom prst="rect">
            <a:avLst/>
          </a:prstGeom>
        </p:spPr>
      </p:pic>
      <p:pic>
        <p:nvPicPr>
          <p:cNvPr id="9" name="图片 8" descr="b31a65a494c6f582024877d398dedeea"/>
          <p:cNvPicPr>
            <a:picLocks noChangeAspect="1"/>
          </p:cNvPicPr>
          <p:nvPr/>
        </p:nvPicPr>
        <p:blipFill>
          <a:blip r:embed="rId5"/>
          <a:stretch>
            <a:fillRect/>
          </a:stretch>
        </p:blipFill>
        <p:spPr>
          <a:xfrm>
            <a:off x="8200390" y="50800"/>
            <a:ext cx="620395" cy="664210"/>
          </a:xfrm>
          <a:prstGeom prst="rect">
            <a:avLst/>
          </a:prstGeom>
        </p:spPr>
      </p:pic>
      <p:sp>
        <p:nvSpPr>
          <p:cNvPr id="3" name="文本框 2"/>
          <p:cNvSpPr txBox="1"/>
          <p:nvPr/>
        </p:nvSpPr>
        <p:spPr>
          <a:xfrm>
            <a:off x="3738880" y="736600"/>
            <a:ext cx="4359910" cy="5569585"/>
          </a:xfrm>
          <a:prstGeom prst="rect">
            <a:avLst/>
          </a:prstGeom>
          <a:noFill/>
        </p:spPr>
        <p:txBody>
          <a:bodyPr wrap="square" rtlCol="0">
            <a:spAutoFit/>
          </a:bodyPr>
          <a:p>
            <a:r>
              <a:rPr lang="zh-CN" altLang="en-US">
                <a:latin typeface="仿宋" panose="02010609060101010101" charset="-122"/>
                <a:ea typeface="仿宋" panose="02010609060101010101" charset="-122"/>
              </a:rPr>
              <a:t>阿联酋</a:t>
            </a:r>
            <a:r>
              <a:rPr lang="en-US" altLang="zh-CN">
                <a:latin typeface="仿宋" panose="02010609060101010101" charset="-122"/>
                <a:ea typeface="仿宋" panose="02010609060101010101" charset="-122"/>
              </a:rPr>
              <a:t>-----</a:t>
            </a:r>
            <a:r>
              <a:rPr lang="zh-CN" altLang="en-US">
                <a:latin typeface="仿宋" panose="02010609060101010101" charset="-122"/>
                <a:ea typeface="仿宋" panose="02010609060101010101" charset="-122"/>
              </a:rPr>
              <a:t>位于阿拉伯半岛东南部，为</a:t>
            </a:r>
            <a:endParaRPr lang="zh-CN" altLang="en-US">
              <a:latin typeface="仿宋" panose="02010609060101010101" charset="-122"/>
              <a:ea typeface="仿宋" panose="02010609060101010101" charset="-122"/>
            </a:endParaRPr>
          </a:p>
          <a:p>
            <a:r>
              <a:rPr lang="zh-CN" altLang="en-US">
                <a:latin typeface="仿宋" panose="02010609060101010101" charset="-122"/>
                <a:ea typeface="仿宋" panose="02010609060101010101" charset="-122"/>
              </a:rPr>
              <a:t>           典型的热带沙漠气候，境内</a:t>
            </a:r>
            <a:endParaRPr lang="zh-CN" altLang="en-US">
              <a:latin typeface="仿宋" panose="02010609060101010101" charset="-122"/>
              <a:ea typeface="仿宋" panose="02010609060101010101" charset="-122"/>
            </a:endParaRPr>
          </a:p>
          <a:p>
            <a:r>
              <a:rPr lang="zh-CN" altLang="en-US">
                <a:latin typeface="仿宋" panose="02010609060101010101" charset="-122"/>
                <a:ea typeface="仿宋" panose="02010609060101010101" charset="-122"/>
              </a:rPr>
              <a:t>           以荒漠、洼地、盐滩为主。</a:t>
            </a:r>
            <a:endParaRPr lang="zh-CN" altLang="en-US">
              <a:latin typeface="仿宋" panose="02010609060101010101" charset="-122"/>
              <a:ea typeface="仿宋" panose="02010609060101010101" charset="-122"/>
            </a:endParaRPr>
          </a:p>
          <a:p>
            <a:endParaRPr lang="zh-CN" altLang="en-US">
              <a:latin typeface="仿宋" panose="02010609060101010101" charset="-122"/>
              <a:ea typeface="仿宋" panose="02010609060101010101" charset="-122"/>
            </a:endParaRPr>
          </a:p>
          <a:p>
            <a:r>
              <a:rPr lang="zh-CN" altLang="en-US">
                <a:latin typeface="仿宋" panose="02010609060101010101" charset="-122"/>
                <a:ea typeface="仿宋" panose="02010609060101010101" charset="-122"/>
              </a:rPr>
              <a:t>           虽然大多数地区十分荒芜，</a:t>
            </a:r>
            <a:endParaRPr lang="zh-CN" altLang="en-US">
              <a:latin typeface="仿宋" panose="02010609060101010101" charset="-122"/>
              <a:ea typeface="仿宋" panose="02010609060101010101" charset="-122"/>
            </a:endParaRPr>
          </a:p>
          <a:p>
            <a:r>
              <a:rPr lang="zh-CN" altLang="en-US">
                <a:latin typeface="仿宋" panose="02010609060101010101" charset="-122"/>
                <a:ea typeface="仿宋" panose="02010609060101010101" charset="-122"/>
              </a:rPr>
              <a:t>           但仍有城市十分发达而奢华，</a:t>
            </a:r>
            <a:endParaRPr lang="zh-CN" altLang="en-US">
              <a:latin typeface="仿宋" panose="02010609060101010101" charset="-122"/>
              <a:ea typeface="仿宋" panose="02010609060101010101" charset="-122"/>
            </a:endParaRPr>
          </a:p>
          <a:p>
            <a:r>
              <a:rPr lang="zh-CN" altLang="en-US">
                <a:latin typeface="仿宋" panose="02010609060101010101" charset="-122"/>
                <a:ea typeface="仿宋" panose="02010609060101010101" charset="-122"/>
              </a:rPr>
              <a:t>           例如迪拜。</a:t>
            </a:r>
            <a:endParaRPr lang="zh-CN" altLang="en-US">
              <a:latin typeface="仿宋" panose="02010609060101010101" charset="-122"/>
              <a:ea typeface="仿宋" panose="02010609060101010101" charset="-122"/>
            </a:endParaRPr>
          </a:p>
          <a:p>
            <a:endParaRPr lang="zh-CN" altLang="en-US">
              <a:latin typeface="仿宋" panose="02010609060101010101" charset="-122"/>
              <a:ea typeface="仿宋" panose="02010609060101010101" charset="-122"/>
            </a:endParaRPr>
          </a:p>
          <a:p>
            <a:r>
              <a:rPr lang="zh-CN" altLang="en-US">
                <a:latin typeface="楷体" panose="02010609060101010101" charset="-122"/>
                <a:ea typeface="楷体" panose="02010609060101010101" charset="-122"/>
              </a:rPr>
              <a:t>迪拜</a:t>
            </a:r>
            <a:r>
              <a:rPr lang="zh-CN" altLang="en-US">
                <a:latin typeface="宋体" panose="02010600030101010101" pitchFamily="2" charset="-122"/>
                <a:ea typeface="宋体" panose="02010600030101010101" pitchFamily="2" charset="-122"/>
              </a:rPr>
              <a:t>－－</a:t>
            </a:r>
            <a:r>
              <a:rPr lang="zh-CN" altLang="en-US">
                <a:latin typeface="楷体" panose="02010609060101010101" charset="-122"/>
                <a:ea typeface="楷体" panose="02010609060101010101" charset="-122"/>
              </a:rPr>
              <a:t>迪拜是阿联酋人口最多的城市，同时是全球性国际金融中心之一。迪拜以世界第一家七星级酒店帆船酒店以及世界最高摩天大楼哈利法塔闻名，当然，全球最大的购物中心、世界最大的室内滑雪场、活跃的房地产赛事会谈等也是迪拜的标志。</a:t>
            </a:r>
            <a:endParaRPr lang="zh-CN" altLang="en-US">
              <a:latin typeface="楷体" panose="02010609060101010101" charset="-122"/>
              <a:ea typeface="楷体" panose="02010609060101010101" charset="-122"/>
            </a:endParaRPr>
          </a:p>
          <a:p>
            <a:endParaRPr lang="zh-CN" altLang="en-US" sz="1600">
              <a:latin typeface="楷体" panose="02010609060101010101" charset="-122"/>
              <a:ea typeface="楷体" panose="02010609060101010101" charset="-122"/>
            </a:endParaRPr>
          </a:p>
          <a:p>
            <a:endParaRPr lang="zh-CN" altLang="en-US" sz="1600">
              <a:latin typeface="楷体" panose="02010609060101010101" charset="-122"/>
              <a:ea typeface="楷体" panose="02010609060101010101" charset="-122"/>
            </a:endParaRPr>
          </a:p>
          <a:p>
            <a:r>
              <a:rPr lang="zh-CN" altLang="en-US">
                <a:latin typeface="仿宋" panose="02010609060101010101" charset="-122"/>
                <a:ea typeface="仿宋" panose="02010609060101010101" charset="-122"/>
              </a:rPr>
              <a:t>相比于马尔代夫和毛里求斯的自然风光，阿联酋则仿佛在贫瘠中点缀上奢华的明珠，以城市的繁荣作为旅游的支点。</a:t>
            </a:r>
            <a:endParaRPr lang="zh-CN" altLang="en-US">
              <a:latin typeface="仿宋" panose="02010609060101010101" charset="-122"/>
              <a:ea typeface="仿宋" panose="02010609060101010101" charset="-122"/>
            </a:endParaRPr>
          </a:p>
          <a:p>
            <a:endParaRPr lang="zh-CN" altLang="en-US">
              <a:latin typeface="仿宋" panose="02010609060101010101" charset="-122"/>
              <a:ea typeface="仿宋" panose="02010609060101010101" charset="-122"/>
            </a:endParaRPr>
          </a:p>
        </p:txBody>
      </p:sp>
      <p:sp>
        <p:nvSpPr>
          <p:cNvPr id="8" name="右箭头 7">
            <a:hlinkClick r:id="rId6" action="ppaction://hlinksldjump"/>
          </p:cNvPr>
          <p:cNvSpPr/>
          <p:nvPr/>
        </p:nvSpPr>
        <p:spPr>
          <a:xfrm>
            <a:off x="11257280" y="6477635"/>
            <a:ext cx="469265" cy="30416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3">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2" end="2"/>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4" end="4"/>
                                            </p:txEl>
                                          </p:spTgt>
                                        </p:tgtEl>
                                      </p:cBhvr>
                                    </p:animEffect>
                                  </p:childTnLst>
                                </p:cTn>
                              </p:par>
                              <p:par>
                                <p:cTn id="21" presetID="1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
                                            <p:txEl>
                                              <p:pRg st="5" end="5"/>
                                            </p:txEl>
                                          </p:spTgt>
                                        </p:tgtEl>
                                      </p:cBhvr>
                                    </p:animEffect>
                                  </p:childTnLst>
                                </p:cTn>
                              </p:par>
                              <p:par>
                                <p:cTn id="25" presetID="1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p:tgtEl>
                                          <p:spTgt spid="3">
                                            <p:txEl>
                                              <p:pRg st="6" end="6"/>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
                                            <p:txEl>
                                              <p:pRg st="6" end="6"/>
                                            </p:txEl>
                                          </p:spTgt>
                                        </p:tgtEl>
                                      </p:cBhvr>
                                    </p:animEffect>
                                  </p:childTnLst>
                                </p:cTn>
                              </p:par>
                              <p:par>
                                <p:cTn id="29" presetID="1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p:tgtEl>
                                          <p:spTgt spid="3">
                                            <p:txEl>
                                              <p:pRg st="8" end="8"/>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
                                            <p:txEl>
                                              <p:pRg st="8" end="8"/>
                                            </p:txEl>
                                          </p:spTgt>
                                        </p:tgtEl>
                                      </p:cBhvr>
                                    </p:animEffect>
                                  </p:childTnLst>
                                </p:cTn>
                              </p:par>
                              <p:par>
                                <p:cTn id="33" presetID="1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p:tgtEl>
                                          <p:spTgt spid="3">
                                            <p:txEl>
                                              <p:pRg st="11" end="11"/>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
                                            <p:txEl>
                                              <p:pRg st="11" end="1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dissolve">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13" presetClass="entr" presetSubtype="16"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plus(in)">
                                      <p:cBhvr>
                                        <p:cTn id="46" dur="20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500" fill="hold"/>
                                        <p:tgtEl>
                                          <p:spTgt spid="5"/>
                                        </p:tgtEl>
                                        <p:attrNameLst>
                                          <p:attrName>ppt_w</p:attrName>
                                        </p:attrNameLst>
                                      </p:cBhvr>
                                      <p:tavLst>
                                        <p:tav tm="0">
                                          <p:val>
                                            <p:fltVal val="0"/>
                                          </p:val>
                                        </p:tav>
                                        <p:tav tm="100000">
                                          <p:val>
                                            <p:strVal val="#ppt_w"/>
                                          </p:val>
                                        </p:tav>
                                      </p:tavLst>
                                    </p:anim>
                                    <p:anim calcmode="lin" valueType="num">
                                      <p:cBhvr>
                                        <p:cTn id="52"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7" presetClass="entr" presetSubtype="1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p:cTn id="57" dur="500" fill="hold"/>
                                        <p:tgtEl>
                                          <p:spTgt spid="7"/>
                                        </p:tgtEl>
                                        <p:attrNameLst>
                                          <p:attrName>ppt_w</p:attrName>
                                        </p:attrNameLst>
                                      </p:cBhvr>
                                      <p:tavLst>
                                        <p:tav tm="0">
                                          <p:val>
                                            <p:fltVal val="0"/>
                                          </p:val>
                                        </p:tav>
                                        <p:tav tm="100000">
                                          <p:val>
                                            <p:strVal val="#ppt_w"/>
                                          </p:val>
                                        </p:tav>
                                      </p:tavLst>
                                    </p:anim>
                                    <p:anim calcmode="lin" valueType="num">
                                      <p:cBhvr>
                                        <p:cTn id="5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p:sp>
        <p:nvSpPr>
          <p:cNvPr id="4" name="标题 3"/>
          <p:cNvSpPr>
            <a:spLocks noGrp="1"/>
          </p:cNvSpPr>
          <p:nvPr>
            <p:ph type="title" orient="vert"/>
          </p:nvPr>
        </p:nvSpPr>
        <p:spPr>
          <a:xfrm>
            <a:off x="11038205" y="-4445"/>
            <a:ext cx="951865" cy="5812155"/>
          </a:xfrm>
        </p:spPr>
        <p:txBody>
          <a:bodyPr/>
          <a:p>
            <a:r>
              <a:rPr lang="zh-CN" altLang="en-US">
                <a:latin typeface="楷体" panose="02010609060101010101" charset="-122"/>
                <a:ea typeface="楷体" panose="02010609060101010101" charset="-122"/>
              </a:rPr>
              <a:t>最典雅</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爱尔兰</a:t>
            </a:r>
            <a:endParaRPr lang="zh-CN" altLang="en-US">
              <a:latin typeface="楷体" panose="02010609060101010101" charset="-122"/>
              <a:ea typeface="楷体" panose="02010609060101010101" charset="-122"/>
            </a:endParaRPr>
          </a:p>
        </p:txBody>
      </p:sp>
      <p:sp>
        <p:nvSpPr>
          <p:cNvPr id="5" name="文本占位符 4"/>
          <p:cNvSpPr>
            <a:spLocks noGrp="1"/>
          </p:cNvSpPr>
          <p:nvPr>
            <p:ph type="body" orient="vert" idx="1"/>
          </p:nvPr>
        </p:nvSpPr>
        <p:spPr>
          <a:xfrm>
            <a:off x="2999740" y="365125"/>
            <a:ext cx="7734300" cy="5811838"/>
          </a:xfrm>
        </p:spPr>
        <p:txBody>
          <a:bodyPr/>
          <a:p>
            <a:pPr marL="0" indent="0">
              <a:buNone/>
            </a:pPr>
            <a:r>
              <a:rPr lang="zh-CN" altLang="en-US" sz="2400">
                <a:latin typeface="仿宋" panose="02010609060101010101" charset="-122"/>
                <a:ea typeface="仿宋" panose="02010609060101010101" charset="-122"/>
              </a:rPr>
              <a:t>爱尔兰－－位于欧洲西部爱尔兰岛的中部。爱尔兰中部为平原和丘陵，而沿海则多为高地。爱尔兰地处北纬</a:t>
            </a:r>
            <a:r>
              <a:rPr lang="en-US" altLang="zh-CN" sz="2400">
                <a:latin typeface="仿宋" panose="02010609060101010101" charset="-122"/>
                <a:ea typeface="仿宋" panose="02010609060101010101" charset="-122"/>
              </a:rPr>
              <a:t>52</a:t>
            </a:r>
            <a:r>
              <a:rPr lang="zh-CN" altLang="en-US" sz="2400">
                <a:latin typeface="仿宋" panose="02010609060101010101" charset="-122"/>
                <a:ea typeface="仿宋" panose="02010609060101010101" charset="-122"/>
              </a:rPr>
              <a:t>度至</a:t>
            </a:r>
            <a:r>
              <a:rPr lang="en-US" altLang="zh-CN" sz="2400">
                <a:latin typeface="仿宋" panose="02010609060101010101" charset="-122"/>
                <a:ea typeface="仿宋" panose="02010609060101010101" charset="-122"/>
              </a:rPr>
              <a:t>55</a:t>
            </a:r>
            <a:r>
              <a:rPr lang="zh-CN" altLang="en-US" sz="2400">
                <a:latin typeface="仿宋" panose="02010609060101010101" charset="-122"/>
                <a:ea typeface="仿宋" panose="02010609060101010101" charset="-122"/>
              </a:rPr>
              <a:t>度，所以是典型的温带海洋性气候，气候平稳，年温差极小。</a:t>
            </a:r>
            <a:endParaRPr lang="zh-CN" altLang="en-US" sz="2400">
              <a:latin typeface="仿宋" panose="02010609060101010101" charset="-122"/>
              <a:ea typeface="仿宋" panose="02010609060101010101" charset="-122"/>
            </a:endParaRPr>
          </a:p>
          <a:p>
            <a:endParaRPr lang="zh-CN" altLang="en-US" sz="2400">
              <a:latin typeface="仿宋" panose="02010609060101010101" charset="-122"/>
              <a:ea typeface="仿宋" panose="02010609060101010101" charset="-122"/>
            </a:endParaRPr>
          </a:p>
          <a:p>
            <a:pPr marL="0" indent="0">
              <a:buNone/>
            </a:pPr>
            <a:r>
              <a:rPr lang="zh-CN" altLang="en-US" sz="2400">
                <a:latin typeface="仿宋" panose="02010609060101010101" charset="-122"/>
                <a:ea typeface="仿宋" panose="02010609060101010101" charset="-122"/>
              </a:rPr>
              <a:t>爱尔兰是个到处充满绿色的国度，无论是其摄人心魄的自然美景还是热情好客的爱尔兰人民，都会令人不知不觉地对这个国家着迷，让人不想离开。</a:t>
            </a:r>
            <a:endParaRPr lang="zh-CN" altLang="en-US" sz="2400">
              <a:latin typeface="仿宋" panose="02010609060101010101" charset="-122"/>
              <a:ea typeface="仿宋" panose="02010609060101010101" charset="-122"/>
            </a:endParaRPr>
          </a:p>
          <a:p>
            <a:endParaRPr lang="zh-CN" altLang="en-US" sz="2400">
              <a:latin typeface="仿宋" panose="02010609060101010101" charset="-122"/>
              <a:ea typeface="仿宋" panose="02010609060101010101" charset="-122"/>
            </a:endParaRPr>
          </a:p>
          <a:p>
            <a:pPr marL="0" indent="0">
              <a:buNone/>
            </a:pPr>
            <a:r>
              <a:rPr lang="zh-CN" altLang="en-US" sz="2400">
                <a:latin typeface="仿宋" panose="02010609060101010101" charset="-122"/>
                <a:ea typeface="仿宋" panose="02010609060101010101" charset="-122"/>
              </a:rPr>
              <a:t>无论是那曼妙风景还是那古老建筑，爱尔兰的确是处处彰显着典雅之姿。</a:t>
            </a:r>
            <a:endParaRPr lang="zh-CN" altLang="en-US" sz="2400">
              <a:latin typeface="仿宋" panose="02010609060101010101" charset="-122"/>
              <a:ea typeface="仿宋" panose="02010609060101010101" charset="-122"/>
            </a:endParaRPr>
          </a:p>
        </p:txBody>
      </p:sp>
      <p:pic>
        <p:nvPicPr>
          <p:cNvPr id="6" name="图片 5" descr="1"/>
          <p:cNvPicPr>
            <a:picLocks noChangeAspect="1"/>
          </p:cNvPicPr>
          <p:nvPr/>
        </p:nvPicPr>
        <p:blipFill>
          <a:blip r:embed="rId1"/>
          <a:stretch>
            <a:fillRect/>
          </a:stretch>
        </p:blipFill>
        <p:spPr>
          <a:xfrm>
            <a:off x="11160125" y="4895850"/>
            <a:ext cx="951865" cy="911860"/>
          </a:xfrm>
          <a:prstGeom prst="rect">
            <a:avLst/>
          </a:prstGeom>
        </p:spPr>
      </p:pic>
      <p:pic>
        <p:nvPicPr>
          <p:cNvPr id="7" name="图片 6" descr="timg"/>
          <p:cNvPicPr>
            <a:picLocks noChangeAspect="1"/>
          </p:cNvPicPr>
          <p:nvPr/>
        </p:nvPicPr>
        <p:blipFill>
          <a:blip r:embed="rId2"/>
          <a:stretch>
            <a:fillRect/>
          </a:stretch>
        </p:blipFill>
        <p:spPr>
          <a:xfrm>
            <a:off x="-10160" y="-4445"/>
            <a:ext cx="4933950" cy="3338195"/>
          </a:xfrm>
          <a:prstGeom prst="rect">
            <a:avLst/>
          </a:prstGeom>
        </p:spPr>
      </p:pic>
      <p:pic>
        <p:nvPicPr>
          <p:cNvPr id="9" name="图片 8" descr="5"/>
          <p:cNvPicPr>
            <a:picLocks noChangeAspect="1"/>
          </p:cNvPicPr>
          <p:nvPr/>
        </p:nvPicPr>
        <p:blipFill>
          <a:blip r:embed="rId3"/>
          <a:stretch>
            <a:fillRect/>
          </a:stretch>
        </p:blipFill>
        <p:spPr>
          <a:xfrm>
            <a:off x="-10160" y="3333115"/>
            <a:ext cx="4933950" cy="3613150"/>
          </a:xfrm>
          <a:prstGeom prst="rect">
            <a:avLst/>
          </a:prstGeom>
        </p:spPr>
      </p:pic>
      <p:sp>
        <p:nvSpPr>
          <p:cNvPr id="2" name="右箭头 1">
            <a:hlinkClick r:id="rId4" action="ppaction://hlinksldjump"/>
          </p:cNvPr>
          <p:cNvSpPr/>
          <p:nvPr/>
        </p:nvSpPr>
        <p:spPr>
          <a:xfrm>
            <a:off x="11266805" y="6177280"/>
            <a:ext cx="494665" cy="36766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ssolv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p:sp>
        <p:nvSpPr>
          <p:cNvPr id="4" name="标题 3"/>
          <p:cNvSpPr>
            <a:spLocks noGrp="1"/>
          </p:cNvSpPr>
          <p:nvPr>
            <p:ph type="title"/>
          </p:nvPr>
        </p:nvSpPr>
        <p:spPr/>
        <p:txBody>
          <a:bodyPr/>
          <a:p>
            <a:r>
              <a:rPr lang="zh-CN" altLang="en-US" b="1">
                <a:latin typeface="仿宋" panose="02010609060101010101" charset="-122"/>
                <a:ea typeface="仿宋" panose="02010609060101010101" charset="-122"/>
              </a:rPr>
              <a:t>最生动</a:t>
            </a:r>
            <a:r>
              <a:rPr lang="en-US" altLang="zh-CN" b="1">
                <a:latin typeface="仿宋" panose="02010609060101010101" charset="-122"/>
                <a:ea typeface="仿宋" panose="02010609060101010101" charset="-122"/>
              </a:rPr>
              <a:t>-----</a:t>
            </a:r>
            <a:r>
              <a:rPr lang="zh-CN" altLang="en-US" b="1">
                <a:latin typeface="仿宋" panose="02010609060101010101" charset="-122"/>
                <a:ea typeface="仿宋" panose="02010609060101010101" charset="-122"/>
              </a:rPr>
              <a:t>南非</a:t>
            </a:r>
            <a:endParaRPr lang="zh-CN" altLang="en-US" b="1">
              <a:latin typeface="仿宋" panose="02010609060101010101" charset="-122"/>
              <a:ea typeface="仿宋" panose="02010609060101010101" charset="-122"/>
            </a:endParaRPr>
          </a:p>
        </p:txBody>
      </p:sp>
      <p:sp>
        <p:nvSpPr>
          <p:cNvPr id="2" name="文本占位符 1"/>
          <p:cNvSpPr>
            <a:spLocks noGrp="1"/>
          </p:cNvSpPr>
          <p:nvPr>
            <p:ph type="body" idx="4294967295"/>
          </p:nvPr>
        </p:nvSpPr>
        <p:spPr>
          <a:xfrm>
            <a:off x="386715" y="1452245"/>
            <a:ext cx="10600690" cy="913130"/>
          </a:xfrm>
        </p:spPr>
        <p:txBody>
          <a:bodyPr>
            <a:normAutofit lnSpcReduction="20000"/>
          </a:bodyPr>
          <a:p>
            <a:r>
              <a:rPr lang="zh-CN" altLang="en-US" sz="2000">
                <a:latin typeface="仿宋" panose="02010609060101010101" charset="-122"/>
                <a:ea typeface="仿宋" panose="02010609060101010101" charset="-122"/>
              </a:rPr>
              <a:t>南非素有</a:t>
            </a:r>
            <a:r>
              <a:rPr lang="en-US" altLang="zh-CN" sz="2000">
                <a:latin typeface="仿宋" panose="02010609060101010101" charset="-122"/>
                <a:ea typeface="仿宋" panose="02010609060101010101" charset="-122"/>
              </a:rPr>
              <a:t>“</a:t>
            </a:r>
            <a:r>
              <a:rPr lang="zh-CN" altLang="en-US" sz="2000">
                <a:latin typeface="仿宋" panose="02010609060101010101" charset="-122"/>
                <a:ea typeface="仿宋" panose="02010609060101010101" charset="-122"/>
              </a:rPr>
              <a:t>彩虹之国</a:t>
            </a:r>
            <a:r>
              <a:rPr lang="en-US" altLang="zh-CN" sz="2000">
                <a:latin typeface="仿宋" panose="02010609060101010101" charset="-122"/>
                <a:ea typeface="仿宋" panose="02010609060101010101" charset="-122"/>
              </a:rPr>
              <a:t>”</a:t>
            </a:r>
            <a:r>
              <a:rPr lang="zh-CN" altLang="en-US" sz="2000">
                <a:latin typeface="仿宋" panose="02010609060101010101" charset="-122"/>
                <a:ea typeface="仿宋" panose="02010609060101010101" charset="-122"/>
              </a:rPr>
              <a:t>的美誉。作为非洲的第二大经济体，南非相较于其他非洲国家还是有着显著的影响力的。经济水平相对较高，而又具有非洲独特的生命的张力，因而南非的旅游业得以很好的发展。</a:t>
            </a:r>
            <a:endParaRPr lang="zh-CN" altLang="en-US" sz="2000">
              <a:latin typeface="仿宋" panose="02010609060101010101" charset="-122"/>
              <a:ea typeface="仿宋" panose="02010609060101010101" charset="-122"/>
            </a:endParaRPr>
          </a:p>
        </p:txBody>
      </p:sp>
      <p:pic>
        <p:nvPicPr>
          <p:cNvPr id="20" name="图片 19" descr="3"/>
          <p:cNvPicPr>
            <a:picLocks noChangeAspect="1"/>
          </p:cNvPicPr>
          <p:nvPr/>
        </p:nvPicPr>
        <p:blipFill>
          <a:blip r:embed="rId1"/>
          <a:stretch>
            <a:fillRect/>
          </a:stretch>
        </p:blipFill>
        <p:spPr>
          <a:xfrm>
            <a:off x="5290185" y="212725"/>
            <a:ext cx="1090930" cy="1087120"/>
          </a:xfrm>
          <a:prstGeom prst="rect">
            <a:avLst/>
          </a:prstGeom>
        </p:spPr>
      </p:pic>
      <p:pic>
        <p:nvPicPr>
          <p:cNvPr id="6" name="内容占位符 5" descr="3"/>
          <p:cNvPicPr>
            <a:picLocks noChangeAspect="1"/>
          </p:cNvPicPr>
          <p:nvPr>
            <p:ph sz="half" idx="1"/>
          </p:nvPr>
        </p:nvPicPr>
        <p:blipFill>
          <a:blip r:embed="rId2"/>
          <a:stretch>
            <a:fillRect/>
          </a:stretch>
        </p:blipFill>
        <p:spPr>
          <a:xfrm>
            <a:off x="386715" y="2517775"/>
            <a:ext cx="4451350" cy="3430905"/>
          </a:xfrm>
          <a:prstGeom prst="rect">
            <a:avLst/>
          </a:prstGeom>
        </p:spPr>
      </p:pic>
      <p:pic>
        <p:nvPicPr>
          <p:cNvPr id="7" name="内容占位符 6" descr="2"/>
          <p:cNvPicPr>
            <a:picLocks noChangeAspect="1"/>
          </p:cNvPicPr>
          <p:nvPr>
            <p:ph sz="half" idx="2"/>
          </p:nvPr>
        </p:nvPicPr>
        <p:blipFill>
          <a:blip r:embed="rId3"/>
          <a:stretch>
            <a:fillRect/>
          </a:stretch>
        </p:blipFill>
        <p:spPr>
          <a:xfrm>
            <a:off x="6044565" y="2651125"/>
            <a:ext cx="5181600" cy="290957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 calcmode="lin" valueType="num">
                                      <p:cBhvr additive="base">
                                        <p:cTn id="12"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5"/>
          <p:cNvPicPr>
            <a:picLocks noChangeAspect="1"/>
          </p:cNvPicPr>
          <p:nvPr/>
        </p:nvPicPr>
        <p:blipFill>
          <a:blip r:embed="rId1"/>
          <a:stretch>
            <a:fillRect/>
          </a:stretch>
        </p:blipFill>
        <p:spPr>
          <a:xfrm>
            <a:off x="-635" y="-22225"/>
            <a:ext cx="12225020" cy="6871970"/>
          </a:xfrm>
          <a:prstGeom prst="rect">
            <a:avLst/>
          </a:prstGeom>
        </p:spPr>
      </p:pic>
      <p:pic>
        <p:nvPicPr>
          <p:cNvPr id="5" name="图片 4" descr="1"/>
          <p:cNvPicPr>
            <a:picLocks noChangeAspect="1"/>
          </p:cNvPicPr>
          <p:nvPr/>
        </p:nvPicPr>
        <p:blipFill>
          <a:blip r:embed="rId2"/>
          <a:stretch>
            <a:fillRect/>
          </a:stretch>
        </p:blipFill>
        <p:spPr>
          <a:xfrm>
            <a:off x="-635" y="977265"/>
            <a:ext cx="5614035" cy="5648960"/>
          </a:xfrm>
          <a:prstGeom prst="rect">
            <a:avLst/>
          </a:prstGeom>
        </p:spPr>
      </p:pic>
      <p:sp>
        <p:nvSpPr>
          <p:cNvPr id="6" name="文本框 5"/>
          <p:cNvSpPr txBox="1"/>
          <p:nvPr/>
        </p:nvSpPr>
        <p:spPr>
          <a:xfrm>
            <a:off x="4716780" y="106680"/>
            <a:ext cx="2432685" cy="706755"/>
          </a:xfrm>
          <a:prstGeom prst="rect">
            <a:avLst/>
          </a:prstGeom>
          <a:noFill/>
        </p:spPr>
        <p:txBody>
          <a:bodyPr wrap="square" rtlCol="0">
            <a:spAutoFit/>
          </a:bodyPr>
          <a:p>
            <a:r>
              <a:rPr lang="zh-CN" altLang="en-US" sz="4000">
                <a:latin typeface="楷体" panose="02010609060101010101" charset="-122"/>
                <a:ea typeface="楷体" panose="02010609060101010101" charset="-122"/>
              </a:rPr>
              <a:t>塞舌尔</a:t>
            </a:r>
            <a:endParaRPr lang="zh-CN" altLang="en-US" sz="4000">
              <a:latin typeface="楷体" panose="02010609060101010101" charset="-122"/>
              <a:ea typeface="楷体" panose="02010609060101010101" charset="-122"/>
            </a:endParaRPr>
          </a:p>
        </p:txBody>
      </p:sp>
      <p:pic>
        <p:nvPicPr>
          <p:cNvPr id="7" name="图片 6" descr="timg"/>
          <p:cNvPicPr>
            <a:picLocks noChangeAspect="1"/>
          </p:cNvPicPr>
          <p:nvPr/>
        </p:nvPicPr>
        <p:blipFill>
          <a:blip r:embed="rId3"/>
          <a:stretch>
            <a:fillRect/>
          </a:stretch>
        </p:blipFill>
        <p:spPr>
          <a:xfrm>
            <a:off x="5612765" y="977265"/>
            <a:ext cx="6611620" cy="5648960"/>
          </a:xfrm>
          <a:prstGeom prst="rect">
            <a:avLst/>
          </a:prstGeom>
        </p:spPr>
      </p:pic>
      <p:pic>
        <p:nvPicPr>
          <p:cNvPr id="9" name="图片 8" descr="1">
            <a:hlinkClick r:id="rId4" tooltip=""/>
          </p:cNvPr>
          <p:cNvPicPr>
            <a:picLocks noChangeAspect="1"/>
          </p:cNvPicPr>
          <p:nvPr/>
        </p:nvPicPr>
        <p:blipFill>
          <a:blip r:embed="rId5"/>
          <a:stretch>
            <a:fillRect/>
          </a:stretch>
        </p:blipFill>
        <p:spPr>
          <a:xfrm>
            <a:off x="6443980" y="-22225"/>
            <a:ext cx="1407160" cy="999490"/>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p:sp>
        <p:nvSpPr>
          <p:cNvPr id="2" name="文本框 1"/>
          <p:cNvSpPr txBox="1"/>
          <p:nvPr/>
        </p:nvSpPr>
        <p:spPr>
          <a:xfrm>
            <a:off x="5525770" y="571500"/>
            <a:ext cx="859790" cy="6080760"/>
          </a:xfrm>
          <a:prstGeom prst="rect">
            <a:avLst/>
          </a:prstGeom>
          <a:noFill/>
        </p:spPr>
        <p:txBody>
          <a:bodyPr vert="eaVert" wrap="square" rtlCol="0">
            <a:spAutoFit/>
          </a:bodyPr>
          <a:p>
            <a:r>
              <a:rPr lang="en-US" altLang="zh-CN" sz="4400">
                <a:latin typeface="楷体" panose="02010609060101010101" charset="-122"/>
                <a:ea typeface="楷体" panose="02010609060101010101" charset="-122"/>
              </a:rPr>
              <a:t>       </a:t>
            </a:r>
            <a:r>
              <a:rPr lang="zh-CN" altLang="en-US" sz="4400">
                <a:latin typeface="楷体" panose="02010609060101010101" charset="-122"/>
                <a:ea typeface="楷体" panose="02010609060101010101" charset="-122"/>
                <a:hlinkClick r:id="rId1" tooltip=""/>
              </a:rPr>
              <a:t>马 来 西 亚</a:t>
            </a:r>
            <a:endParaRPr lang="zh-CN" altLang="en-US" sz="4400">
              <a:latin typeface="楷体" panose="02010609060101010101" charset="-122"/>
              <a:ea typeface="楷体" panose="02010609060101010101" charset="-122"/>
            </a:endParaRPr>
          </a:p>
        </p:txBody>
      </p:sp>
      <p:pic>
        <p:nvPicPr>
          <p:cNvPr id="4" name="图片 3" descr="1"/>
          <p:cNvPicPr>
            <a:picLocks noChangeAspect="1"/>
          </p:cNvPicPr>
          <p:nvPr/>
        </p:nvPicPr>
        <p:blipFill>
          <a:blip r:embed="rId2"/>
          <a:stretch>
            <a:fillRect/>
          </a:stretch>
        </p:blipFill>
        <p:spPr>
          <a:xfrm>
            <a:off x="5236845" y="678180"/>
            <a:ext cx="1437005" cy="1325245"/>
          </a:xfrm>
          <a:prstGeom prst="rect">
            <a:avLst/>
          </a:prstGeom>
        </p:spPr>
      </p:pic>
      <p:pic>
        <p:nvPicPr>
          <p:cNvPr id="5" name="图片 4" descr="2"/>
          <p:cNvPicPr>
            <a:picLocks noChangeAspect="1"/>
          </p:cNvPicPr>
          <p:nvPr/>
        </p:nvPicPr>
        <p:blipFill>
          <a:blip r:embed="rId3"/>
          <a:stretch>
            <a:fillRect/>
          </a:stretch>
        </p:blipFill>
        <p:spPr>
          <a:xfrm>
            <a:off x="-15240" y="-15240"/>
            <a:ext cx="4906645" cy="3688715"/>
          </a:xfrm>
          <a:prstGeom prst="rect">
            <a:avLst/>
          </a:prstGeom>
        </p:spPr>
      </p:pic>
      <p:pic>
        <p:nvPicPr>
          <p:cNvPr id="6" name="图片 5" descr="timg"/>
          <p:cNvPicPr>
            <a:picLocks noChangeAspect="1"/>
          </p:cNvPicPr>
          <p:nvPr/>
        </p:nvPicPr>
        <p:blipFill>
          <a:blip r:embed="rId4"/>
          <a:stretch>
            <a:fillRect/>
          </a:stretch>
        </p:blipFill>
        <p:spPr>
          <a:xfrm>
            <a:off x="-15240" y="3811905"/>
            <a:ext cx="4906010" cy="3013710"/>
          </a:xfrm>
          <a:prstGeom prst="rect">
            <a:avLst/>
          </a:prstGeom>
        </p:spPr>
      </p:pic>
      <p:pic>
        <p:nvPicPr>
          <p:cNvPr id="7" name="图片 6" descr="u=1364161513,3529235935&amp;fm=200&amp;gp=0"/>
          <p:cNvPicPr>
            <a:picLocks noChangeAspect="1"/>
          </p:cNvPicPr>
          <p:nvPr/>
        </p:nvPicPr>
        <p:blipFill>
          <a:blip r:embed="rId5"/>
          <a:stretch>
            <a:fillRect/>
          </a:stretch>
        </p:blipFill>
        <p:spPr>
          <a:xfrm>
            <a:off x="7367905" y="217170"/>
            <a:ext cx="4772025" cy="5142230"/>
          </a:xfrm>
          <a:prstGeom prst="rect">
            <a:avLst/>
          </a:prstGeom>
        </p:spPr>
      </p:pic>
    </p:spTree>
  </p:cSld>
  <p:clrMapOvr>
    <a:masterClrMapping/>
  </p:clrMapOvr>
  <p:transition>
    <p:wheel spokes="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3"/>
          <p:cNvPicPr>
            <a:picLocks noChangeAspect="1"/>
          </p:cNvPicPr>
          <p:nvPr>
            <p:ph idx="1"/>
          </p:nvPr>
        </p:nvPicPr>
        <p:blipFill>
          <a:blip r:embed="rId1"/>
          <a:stretch>
            <a:fillRect/>
          </a:stretch>
        </p:blipFill>
        <p:spPr>
          <a:xfrm>
            <a:off x="-24765" y="-16510"/>
            <a:ext cx="12241530" cy="6891655"/>
          </a:xfrm>
          <a:prstGeom prst="rect">
            <a:avLst/>
          </a:prstGeom>
        </p:spPr>
      </p:pic>
      <p:sp>
        <p:nvSpPr>
          <p:cNvPr id="6" name="文本框 5"/>
          <p:cNvSpPr txBox="1"/>
          <p:nvPr/>
        </p:nvSpPr>
        <p:spPr>
          <a:xfrm>
            <a:off x="274320" y="567055"/>
            <a:ext cx="8762365" cy="922020"/>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p>
            <a:r>
              <a:rPr lang="en-US" altLang="zh-CN" sz="5400">
                <a:solidFill>
                  <a:schemeClr val="accent3"/>
                </a:solidFill>
                <a:latin typeface="仿宋" panose="02010609060101010101" charset="-122"/>
                <a:ea typeface="仿宋" panose="02010609060101010101" charset="-122"/>
              </a:rPr>
              <a:t>    </a:t>
            </a:r>
            <a:r>
              <a:rPr lang="zh-CN" altLang="en-US" sz="5400">
                <a:solidFill>
                  <a:schemeClr val="tx1"/>
                </a:solidFill>
                <a:effectLst/>
                <a:latin typeface="仿宋" panose="02010609060101010101" charset="-122"/>
                <a:ea typeface="仿宋" panose="02010609060101010101" charset="-122"/>
              </a:rPr>
              <a:t>世界很美，男生请努力！</a:t>
            </a:r>
            <a:endParaRPr lang="en-US" altLang="zh-CN" sz="5400">
              <a:solidFill>
                <a:schemeClr val="tx1"/>
              </a:solidFill>
              <a:effectLst/>
              <a:latin typeface="仿宋" panose="02010609060101010101" charset="-122"/>
              <a:ea typeface="仿宋" panose="02010609060101010101" charset="-122"/>
            </a:endParaRPr>
          </a:p>
        </p:txBody>
      </p:sp>
      <p:sp>
        <p:nvSpPr>
          <p:cNvPr id="7" name="文本框 6"/>
          <p:cNvSpPr txBox="1"/>
          <p:nvPr/>
        </p:nvSpPr>
        <p:spPr>
          <a:xfrm>
            <a:off x="6064885" y="3688080"/>
            <a:ext cx="4037965" cy="706755"/>
          </a:xfrm>
          <a:prstGeom prst="rect">
            <a:avLst/>
          </a:prstGeom>
          <a:noFill/>
        </p:spPr>
        <p:txBody>
          <a:bodyPr wrap="square" rtlCol="0">
            <a:spAutoFit/>
          </a:bodyPr>
          <a:p>
            <a:r>
              <a:rPr lang="zh-CN" altLang="en-US" sz="4000"/>
              <a:t>谢谢观看！</a:t>
            </a:r>
            <a:endParaRPr lang="zh-CN" altLang="en-US" sz="400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1446</Words>
  <Application>WPS 演示</Application>
  <PresentationFormat>宽屏</PresentationFormat>
  <Paragraphs>81</Paragraphs>
  <Slides>11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宋体</vt:lpstr>
      <vt:lpstr>Wingdings</vt:lpstr>
      <vt:lpstr>仿宋</vt:lpstr>
      <vt:lpstr>楷体</vt:lpstr>
      <vt:lpstr>Calibri Light</vt:lpstr>
      <vt:lpstr>Calibri</vt:lpstr>
      <vt:lpstr>微软雅黑</vt:lpstr>
      <vt:lpstr>Arial Unicode MS</vt:lpstr>
      <vt:lpstr>Office 主题</vt:lpstr>
      <vt:lpstr>       旅游地简介</vt:lpstr>
      <vt:lpstr>PowerPoint 演示文稿</vt:lpstr>
      <vt:lpstr>世界十大旅游胜地</vt:lpstr>
      <vt:lpstr>最经典-----马尔代夫</vt:lpstr>
      <vt:lpstr>最多元-----毛里求斯</vt:lpstr>
      <vt:lpstr>                         最奢华-----阿联酋</vt:lpstr>
      <vt:lpstr>最典雅-----爱尔兰</vt:lpstr>
      <vt:lpstr>最生动-----南非</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14</cp:revision>
  <dcterms:created xsi:type="dcterms:W3CDTF">2017-10-02T04:44:00Z</dcterms:created>
  <dcterms:modified xsi:type="dcterms:W3CDTF">2017-10-04T06:18:58Z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2052-10.1.0.6748</vt:lpwstr>
  </property>
</Properties>
</file>